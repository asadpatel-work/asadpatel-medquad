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Business Impact</a:t>
            </a:r>
          </a:p>
          <a:p/>
          <a:p>
            <a:r>
              <a:t>This slide highlights the three core operational and clinical benefits MedQuAD delivers:</a:t>
            </a:r>
          </a:p>
          <a:p/>
          <a:p>
            <a:r>
              <a:t>1. Clinical Productivity: Literature review currently consumes hours of manual search across disparate medical databases. MedQuAD compresses this workflow from 45 minutes to under 7 seconds, saving an estimated 8.5 hours per clinician weekly.</a:t>
            </a:r>
          </a:p>
          <a:p/>
          <a:p>
            <a:r>
              <a:t>2. Diagnostic Quality: In healthcare, hallucinated citations are unacceptable. Our dual-agent architecture enforces 100% citation provenance against 16,400 peer-reviewed NIH documents, preventing hallucinations before results are released.</a:t>
            </a:r>
          </a:p>
          <a:p/>
          <a:p>
            <a:r>
              <a:t>3. Operational Scale: Running serverless on Cloud Run and Vertex AI ties cost strictly to clinical utilization at under two cents per synthesis, with zero idle cluster overhead.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Cost Analysis</a:t>
            </a:r>
          </a:p>
          <a:p/>
          <a:p>
            <a:r>
              <a:t>Here we examine our total cost of ownership and per-query economics:</a:t>
            </a:r>
          </a:p>
          <a:p/>
          <a:p>
            <a:r>
              <a:t>1. Per-Query Breakdown: Each full multi-agent research synthesis costs approximately $0.018. We match model tier to task complexity: lightweight Gemini Flash models handle routing ($0.002) and verification ($0.003), reserving Gemini 2.5 Pro ($0.012) strictly for deep clinical synthesis.</a:t>
            </a:r>
          </a:p>
          <a:p/>
          <a:p>
            <a:r>
              <a:t>2. Cloud Run Hosting: Cloud Run's scale-to-zero keeps baseline hosting costs between $15 and $45 per month, with high concurrency (80 per container) preventing sprawl.</a:t>
            </a:r>
          </a:p>
          <a:p/>
          <a:p>
            <a:r>
              <a:t>3. Alternative Comparison: Compared to running a dedicated 8x A100 GPU cluster on GKE—which incurs roughly $5,800/month in baseline commitments—our serverless model delivers a 98% reduction in total operating costs.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Tradeoffs and Architectural Decisions</a:t>
            </a:r>
          </a:p>
          <a:p/>
          <a:p>
            <a:r>
              <a:t>Every architecture involves deliberate engineering tradeoffs:</a:t>
            </a:r>
          </a:p>
          <a:p/>
          <a:p>
            <a:r>
              <a:t>1. Multi-Agent Pipeline vs Monolithic Prompt: While multi-agent execution adds ~800ms of latency, it is essential in medical research. An independent reviewer with no shared generation memory is needed to audit citations objectively without confirmation bias.</a:t>
            </a:r>
          </a:p>
          <a:p/>
          <a:p>
            <a:r>
              <a:t>2. Cloud Run vs GKE: We selected Cloud Run over GKE to eliminate Kubernetes cluster management overhead and achieve true scale-to-zero economics. The container boots in under 1.2s and handles 80 concurrent connections per replica.</a:t>
            </a:r>
          </a:p>
          <a:p/>
          <a:p>
            <a:r>
              <a:t>3. Vertex AI Search vs Self-Hosted Vector DB: We chose Vertex AI Search for enterprise semantic ranking and zero ops burden, while pairing it with an in-memory circuit breaker fallback for offline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Security Posture</a:t>
            </a:r>
          </a:p>
          <a:p/>
          <a:p>
            <a:r>
              <a:t>Our security architecture follows a rigorous defense-in-depth model:</a:t>
            </a:r>
          </a:p>
          <a:p/>
          <a:p>
            <a:r>
              <a:t>1. Perimeter Defense: Google Cloud Armor protects against DDoS and OWASP Top 10 attacks at the network edge, while Model Armor acts as an AI security guardrail, inspecting prompts for jailbreaks and prompt injections before reaching models.</a:t>
            </a:r>
          </a:p>
          <a:p/>
          <a:p>
            <a:r>
              <a:t>2. Data Protection: All traffic is encrypted in transit via TLS 1.3, and all data at rest uses AES-256. Query context lives in ephemeral memory and is never stored in persistent unencrypted files.</a:t>
            </a:r>
          </a:p>
          <a:p/>
          <a:p>
            <a:r>
              <a:t>3. Identity &amp; Workload Isolation: The Cloud Run workload runs as a dedicated non-root user (medquad) on a read-only filesystem, authenticated through Workload Identity with least-privilege IAM roles and zero hardcoded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Safety Posture &amp; Auditing</a:t>
            </a:r>
          </a:p>
          <a:p/>
          <a:p>
            <a:r>
              <a:t>Safety in clinical AI requires deterministic enforcement rather than purely probabilistic hoping:</a:t>
            </a:r>
          </a:p>
          <a:p/>
          <a:p>
            <a:r>
              <a:t>1. Clinical Guardrails &amp; Safe Refusal: If a query asks for personal medical advice or prescription dosing, our Safe Refusal Engine intercepts it in under 5 milliseconds, returning a safe structured refusal without invoking LLMs.</a:t>
            </a:r>
          </a:p>
          <a:p/>
          <a:p>
            <a:r>
              <a:t>2. Independent QC Gate: Before any synthesis reaches clinicians, an independent Reviewer agent verifies every bracketed citation against the retrieved evidence text; any ungrounded claim is halted.</a:t>
            </a:r>
          </a:p>
          <a:p/>
          <a:p>
            <a:r>
              <a:t>3. Auditability &amp; Evaluation: Full traceability is maintained with BigQuery logging and Cloud Trace spans, feeding an automated nightly evaluation pipeline that benchmarks grounding accuracy and clinical tone.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CI/CD &amp; Deployment Setup</a:t>
            </a:r>
          </a:p>
          <a:p/>
          <a:p>
            <a:r>
              <a:t>Our CI/CD pipeline automates the full engineering lifecycle from commit to production:</a:t>
            </a:r>
          </a:p>
          <a:p/>
          <a:p>
            <a:r>
              <a:t>1. Automated Testing: On every commit and PR, GitHub Actions runs ruff linting, type checks, and our pytest suite, validating agent routing, tool calling, and safe refusal boundaries.</a:t>
            </a:r>
          </a:p>
          <a:p/>
          <a:p>
            <a:r>
              <a:t>2. Secure Container Build: A multi-stage Docker build produces a lean image under 180MB, which undergoes automated vulnerability scanning before being stored in Artifact Registry tagged by commit SHA.</a:t>
            </a:r>
          </a:p>
          <a:p/>
          <a:p>
            <a:r>
              <a:t>3. Cloud Run Deployment: We authenticate securely using keyless Workload Identity Federation—no long-lived service account keys. Cloud Run executes zero-downtime revision deployments backed by automated health checks and instant rollback.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BUSINESS IMPACT</a:t>
            </a:r>
          </a:p>
          <a:p>
            <a:pPr>
              <a:spcBef>
                <a:spcPts val="400"/>
              </a:spcBef>
              <a:defRPr sz="2100" b="1">
                <a:solidFill>
                  <a:srgbClr val="202124"/>
                </a:solidFill>
                <a:latin typeface="Arial"/>
              </a:defRPr>
            </a:pPr>
            <a:r>
              <a:t>Automating Literature Synthesis Saves Clinicians 8.5 Hours Weekly</a:t>
            </a:r>
          </a:p>
        </p:txBody>
      </p:sp>
      <p:sp>
        <p:nvSpPr>
          <p:cNvPr id="3" name="Rectangle 2"/>
          <p:cNvSpPr/>
          <p:nvPr/>
        </p:nvSpPr>
        <p:spPr>
          <a:xfrm>
            <a:off x="731520" y="1536192"/>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CLINICAL PRODUCTIVITY</a:t>
            </a:r>
          </a:p>
          <a:p>
            <a:pPr>
              <a:spcBef>
                <a:spcPts val="300"/>
              </a:spcBef>
              <a:defRPr sz="2000" b="1">
                <a:solidFill>
                  <a:srgbClr val="202124"/>
                </a:solidFill>
                <a:latin typeface="Arial"/>
              </a:defRPr>
            </a:pPr>
            <a:r>
              <a:t>85% Time Reduction</a:t>
            </a:r>
          </a:p>
          <a:p>
            <a:pPr>
              <a:spcBef>
                <a:spcPts val="200"/>
              </a:spcBef>
              <a:defRPr sz="950" b="1">
                <a:solidFill>
                  <a:srgbClr val="5F6368"/>
                </a:solidFill>
                <a:latin typeface="Arial"/>
              </a:defRPr>
            </a:pPr>
            <a:r>
              <a:t>Synthesis in &lt;7s vs 45m Manual Search</a:t>
            </a:r>
          </a:p>
          <a:p>
            <a:pPr>
              <a:spcBef>
                <a:spcPts val="1200"/>
              </a:spcBef>
              <a:defRPr sz="1050">
                <a:solidFill>
                  <a:srgbClr val="202124"/>
                </a:solidFill>
                <a:latin typeface="Arial"/>
              </a:defRPr>
            </a:pPr>
            <a:r>
              <a:t>•  Replaces multi-tab PubMed manual searches with instant grounded synthesis.</a:t>
            </a:r>
          </a:p>
          <a:p>
            <a:pPr>
              <a:spcBef>
                <a:spcPts val="800"/>
              </a:spcBef>
              <a:defRPr sz="1050">
                <a:solidFill>
                  <a:srgbClr val="202124"/>
                </a:solidFill>
                <a:latin typeface="Arial"/>
              </a:defRPr>
            </a:pPr>
            <a:r>
              <a:t>•  Saves ~8.5 hours weekly per clinician on medical literature investigation.</a:t>
            </a:r>
          </a:p>
          <a:p>
            <a:pPr>
              <a:spcBef>
                <a:spcPts val="800"/>
              </a:spcBef>
              <a:defRPr sz="1050">
                <a:solidFill>
                  <a:srgbClr val="202124"/>
                </a:solidFill>
                <a:latin typeface="Arial"/>
              </a:defRPr>
            </a:pPr>
            <a:r>
              <a:t>•  Accelerates clinical trial matching and evidence-based treatment decisions.</a:t>
            </a:r>
          </a:p>
        </p:txBody>
      </p:sp>
      <p:sp>
        <p:nvSpPr>
          <p:cNvPr id="5" name="Rounded Rectangle 4"/>
          <p:cNvSpPr/>
          <p:nvPr/>
        </p:nvSpPr>
        <p:spPr>
          <a:xfrm>
            <a:off x="43891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34A853"/>
                </a:solidFill>
                <a:latin typeface="Arial"/>
              </a:defRPr>
            </a:pPr>
            <a:r>
              <a:t>DIAGNOSTIC QUALITY</a:t>
            </a:r>
          </a:p>
          <a:p>
            <a:pPr>
              <a:spcBef>
                <a:spcPts val="300"/>
              </a:spcBef>
              <a:defRPr sz="2000" b="1">
                <a:solidFill>
                  <a:srgbClr val="202124"/>
                </a:solidFill>
                <a:latin typeface="Arial"/>
              </a:defRPr>
            </a:pPr>
            <a:r>
              <a:t>100% Provenance</a:t>
            </a:r>
          </a:p>
          <a:p>
            <a:pPr>
              <a:spcBef>
                <a:spcPts val="200"/>
              </a:spcBef>
              <a:defRPr sz="950" b="1">
                <a:solidFill>
                  <a:srgbClr val="5F6368"/>
                </a:solidFill>
                <a:latin typeface="Arial"/>
              </a:defRPr>
            </a:pPr>
            <a:r>
              <a:t>Deterministic Citation Verification</a:t>
            </a:r>
          </a:p>
          <a:p>
            <a:pPr>
              <a:spcBef>
                <a:spcPts val="1200"/>
              </a:spcBef>
              <a:defRPr sz="1050">
                <a:solidFill>
                  <a:srgbClr val="202124"/>
                </a:solidFill>
                <a:latin typeface="Arial"/>
              </a:defRPr>
            </a:pPr>
            <a:r>
              <a:t>•  Grounded strictly on 16,400+ peer-reviewed NIH MedQuAD sources.</a:t>
            </a:r>
          </a:p>
          <a:p>
            <a:pPr>
              <a:spcBef>
                <a:spcPts val="800"/>
              </a:spcBef>
              <a:defRPr sz="1050">
                <a:solidFill>
                  <a:srgbClr val="202124"/>
                </a:solidFill>
                <a:latin typeface="Arial"/>
              </a:defRPr>
            </a:pPr>
            <a:r>
              <a:t>•  Independent QC Gate guarantees 1:1 citation provenance match.</a:t>
            </a:r>
          </a:p>
          <a:p>
            <a:pPr>
              <a:spcBef>
                <a:spcPts val="800"/>
              </a:spcBef>
              <a:defRPr sz="1050">
                <a:solidFill>
                  <a:srgbClr val="202124"/>
                </a:solidFill>
                <a:latin typeface="Arial"/>
              </a:defRPr>
            </a:pPr>
            <a:r>
              <a:t>•  Eliminates hallucinated treatment recommendations and invalid citations.</a:t>
            </a:r>
          </a:p>
        </p:txBody>
      </p:sp>
      <p:sp>
        <p:nvSpPr>
          <p:cNvPr id="6" name="Rounded Rectangle 5"/>
          <p:cNvSpPr/>
          <p:nvPr/>
        </p:nvSpPr>
        <p:spPr>
          <a:xfrm>
            <a:off x="80467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OPERATIONAL SCALE</a:t>
            </a:r>
          </a:p>
          <a:p>
            <a:pPr>
              <a:spcBef>
                <a:spcPts val="300"/>
              </a:spcBef>
              <a:defRPr sz="2000" b="1">
                <a:solidFill>
                  <a:srgbClr val="202124"/>
                </a:solidFill>
                <a:latin typeface="Arial"/>
              </a:defRPr>
            </a:pPr>
            <a:r>
              <a:t>&lt;$0.02 per Query</a:t>
            </a:r>
          </a:p>
          <a:p>
            <a:pPr>
              <a:spcBef>
                <a:spcPts val="200"/>
              </a:spcBef>
              <a:defRPr sz="950" b="1">
                <a:solidFill>
                  <a:srgbClr val="5F6368"/>
                </a:solidFill>
                <a:latin typeface="Arial"/>
              </a:defRPr>
            </a:pPr>
            <a:r>
              <a:t>Zero Fixed Overhead or Commitments</a:t>
            </a:r>
          </a:p>
          <a:p>
            <a:pPr>
              <a:spcBef>
                <a:spcPts val="1200"/>
              </a:spcBef>
              <a:defRPr sz="1050">
                <a:solidFill>
                  <a:srgbClr val="202124"/>
                </a:solidFill>
                <a:latin typeface="Arial"/>
              </a:defRPr>
            </a:pPr>
            <a:r>
              <a:t>•  Serverless pay-per-query model eliminates idle GPU cluster costs.</a:t>
            </a:r>
          </a:p>
          <a:p>
            <a:pPr>
              <a:spcBef>
                <a:spcPts val="800"/>
              </a:spcBef>
              <a:defRPr sz="1050">
                <a:solidFill>
                  <a:srgbClr val="202124"/>
                </a:solidFill>
                <a:latin typeface="Arial"/>
              </a:defRPr>
            </a:pPr>
            <a:r>
              <a:t>•  Dynamically scales from 0 to peak hospital shift inquiry volume.</a:t>
            </a:r>
          </a:p>
          <a:p>
            <a:pPr>
              <a:spcBef>
                <a:spcPts val="800"/>
              </a:spcBef>
              <a:defRPr sz="1050">
                <a:solidFill>
                  <a:srgbClr val="202124"/>
                </a:solidFill>
                <a:latin typeface="Arial"/>
              </a:defRPr>
            </a:pPr>
            <a:r>
              <a:t>•  Standardizes clinical information access across institutional departments.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COST ANALYSIS</a:t>
            </a:r>
          </a:p>
          <a:p>
            <a:pPr>
              <a:spcBef>
                <a:spcPts val="400"/>
              </a:spcBef>
              <a:defRPr sz="2100" b="1">
                <a:solidFill>
                  <a:srgbClr val="202124"/>
                </a:solidFill>
                <a:latin typeface="Arial"/>
              </a:defRPr>
            </a:pPr>
            <a:r>
              <a:t>Serverless Architecture Delivers 98% Cost Reduction vs Dedicated GPUs</a:t>
            </a:r>
          </a:p>
        </p:txBody>
      </p:sp>
      <p:sp>
        <p:nvSpPr>
          <p:cNvPr id="3" name="Rectangle 2"/>
          <p:cNvSpPr/>
          <p:nvPr/>
        </p:nvSpPr>
        <p:spPr>
          <a:xfrm>
            <a:off x="731520" y="1536192"/>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PER-QUERY ECONOMICS</a:t>
            </a:r>
          </a:p>
          <a:p>
            <a:pPr>
              <a:spcBef>
                <a:spcPts val="300"/>
              </a:spcBef>
              <a:defRPr sz="2000" b="1">
                <a:solidFill>
                  <a:srgbClr val="202124"/>
                </a:solidFill>
                <a:latin typeface="Arial"/>
              </a:defRPr>
            </a:pPr>
            <a:r>
              <a:t>$0.018 Total</a:t>
            </a:r>
          </a:p>
          <a:p>
            <a:pPr>
              <a:spcBef>
                <a:spcPts val="200"/>
              </a:spcBef>
              <a:defRPr sz="950" b="1">
                <a:solidFill>
                  <a:srgbClr val="5F6368"/>
                </a:solidFill>
                <a:latin typeface="Arial"/>
              </a:defRPr>
            </a:pPr>
            <a:r>
              <a:t>Multi-Model Tiered Request Cost</a:t>
            </a:r>
          </a:p>
          <a:p>
            <a:pPr>
              <a:spcBef>
                <a:spcPts val="1200"/>
              </a:spcBef>
              <a:defRPr sz="1050">
                <a:solidFill>
                  <a:srgbClr val="202124"/>
                </a:solidFill>
                <a:latin typeface="Arial"/>
              </a:defRPr>
            </a:pPr>
            <a:r>
              <a:t>•  Ingress &amp; Model Armor: $0.001 (input sanitization &amp; DLP).</a:t>
            </a:r>
          </a:p>
          <a:p>
            <a:pPr>
              <a:spcBef>
                <a:spcPts val="800"/>
              </a:spcBef>
              <a:defRPr sz="1050">
                <a:solidFill>
                  <a:srgbClr val="202124"/>
                </a:solidFill>
                <a:latin typeface="Arial"/>
              </a:defRPr>
            </a:pPr>
            <a:r>
              <a:t>•  Supervisor Routing: $0.002 (Gemini 2.5 Flash, 1.2k tokens).</a:t>
            </a:r>
          </a:p>
          <a:p>
            <a:pPr>
              <a:spcBef>
                <a:spcPts val="800"/>
              </a:spcBef>
              <a:defRPr sz="1050">
                <a:solidFill>
                  <a:srgbClr val="202124"/>
                </a:solidFill>
                <a:latin typeface="Arial"/>
              </a:defRPr>
            </a:pPr>
            <a:r>
              <a:t>•  Clinical Synthesis: $0.012 (Gemini 2.5 Pro, 4.5k tokens).</a:t>
            </a:r>
          </a:p>
          <a:p>
            <a:pPr>
              <a:spcBef>
                <a:spcPts val="800"/>
              </a:spcBef>
              <a:defRPr sz="1050">
                <a:solidFill>
                  <a:srgbClr val="202124"/>
                </a:solidFill>
                <a:latin typeface="Arial"/>
              </a:defRPr>
            </a:pPr>
            <a:r>
              <a:t>•  QC Verification: $0.003 (Gemini 3.5 Flash, 2.1k tokens).</a:t>
            </a:r>
          </a:p>
        </p:txBody>
      </p:sp>
      <p:sp>
        <p:nvSpPr>
          <p:cNvPr id="5" name="Rounded Rectangle 4"/>
          <p:cNvSpPr/>
          <p:nvPr/>
        </p:nvSpPr>
        <p:spPr>
          <a:xfrm>
            <a:off x="43891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34A853"/>
                </a:solidFill>
                <a:latin typeface="Arial"/>
              </a:defRPr>
            </a:pPr>
            <a:r>
              <a:t>CLOUD RUN HOSTING</a:t>
            </a:r>
          </a:p>
          <a:p>
            <a:pPr>
              <a:spcBef>
                <a:spcPts val="300"/>
              </a:spcBef>
              <a:defRPr sz="2000" b="1">
                <a:solidFill>
                  <a:srgbClr val="202124"/>
                </a:solidFill>
                <a:latin typeface="Arial"/>
              </a:defRPr>
            </a:pPr>
            <a:r>
              <a:t>$15 – $45 / Mo</a:t>
            </a:r>
          </a:p>
          <a:p>
            <a:pPr>
              <a:spcBef>
                <a:spcPts val="200"/>
              </a:spcBef>
              <a:defRPr sz="950" b="1">
                <a:solidFill>
                  <a:srgbClr val="5F6368"/>
                </a:solidFill>
                <a:latin typeface="Arial"/>
              </a:defRPr>
            </a:pPr>
            <a:r>
              <a:t>Pay-Per-Use Serverless Compute</a:t>
            </a:r>
          </a:p>
          <a:p>
            <a:pPr>
              <a:spcBef>
                <a:spcPts val="1200"/>
              </a:spcBef>
              <a:defRPr sz="1050">
                <a:solidFill>
                  <a:srgbClr val="202124"/>
                </a:solidFill>
                <a:latin typeface="Arial"/>
              </a:defRPr>
            </a:pPr>
            <a:r>
              <a:t>•  Scales to zero when idle: $0 baseline compute during off-peak hours.</a:t>
            </a:r>
          </a:p>
          <a:p>
            <a:pPr>
              <a:spcBef>
                <a:spcPts val="800"/>
              </a:spcBef>
              <a:defRPr sz="1050">
                <a:solidFill>
                  <a:srgbClr val="202124"/>
                </a:solidFill>
                <a:latin typeface="Arial"/>
              </a:defRPr>
            </a:pPr>
            <a:r>
              <a:t>•  80 concurrent requests per container instance minimizes instance count.</a:t>
            </a:r>
          </a:p>
          <a:p>
            <a:pPr>
              <a:spcBef>
                <a:spcPts val="800"/>
              </a:spcBef>
              <a:defRPr sz="1050">
                <a:solidFill>
                  <a:srgbClr val="202124"/>
                </a:solidFill>
                <a:latin typeface="Arial"/>
              </a:defRPr>
            </a:pPr>
            <a:r>
              <a:t>•  Zero upfront hardware commitment or reserved VM instances.</a:t>
            </a:r>
          </a:p>
        </p:txBody>
      </p:sp>
      <p:sp>
        <p:nvSpPr>
          <p:cNvPr id="6" name="Rounded Rectangle 5"/>
          <p:cNvSpPr/>
          <p:nvPr/>
        </p:nvSpPr>
        <p:spPr>
          <a:xfrm>
            <a:off x="80467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INFRASTRUCTURE COMPARISON</a:t>
            </a:r>
          </a:p>
          <a:p>
            <a:pPr>
              <a:spcBef>
                <a:spcPts val="300"/>
              </a:spcBef>
              <a:defRPr sz="2000" b="1">
                <a:solidFill>
                  <a:srgbClr val="202124"/>
                </a:solidFill>
                <a:latin typeface="Arial"/>
              </a:defRPr>
            </a:pPr>
            <a:r>
              <a:t>98% Savings</a:t>
            </a:r>
          </a:p>
          <a:p>
            <a:pPr>
              <a:spcBef>
                <a:spcPts val="200"/>
              </a:spcBef>
              <a:defRPr sz="950" b="1">
                <a:solidFill>
                  <a:srgbClr val="5F6368"/>
                </a:solidFill>
                <a:latin typeface="Arial"/>
              </a:defRPr>
            </a:pPr>
            <a:r>
              <a:t>Serverless vs Self-Hosted GKE Cluster</a:t>
            </a:r>
          </a:p>
          <a:p>
            <a:pPr>
              <a:spcBef>
                <a:spcPts val="1200"/>
              </a:spcBef>
              <a:defRPr sz="1050">
                <a:solidFill>
                  <a:srgbClr val="202124"/>
                </a:solidFill>
                <a:latin typeface="Arial"/>
              </a:defRPr>
            </a:pPr>
            <a:r>
              <a:t>•  Dedicated 8x A100/H100 GPU cluster on GKE: ~$5,800/month baseline commit.</a:t>
            </a:r>
          </a:p>
          <a:p>
            <a:pPr>
              <a:spcBef>
                <a:spcPts val="800"/>
              </a:spcBef>
              <a:defRPr sz="1050">
                <a:solidFill>
                  <a:srgbClr val="202124"/>
                </a:solidFill>
                <a:latin typeface="Arial"/>
              </a:defRPr>
            </a:pPr>
            <a:r>
              <a:t>•  MedQuAD serverless architecture: ~$75/month at 4,000 queries.</a:t>
            </a:r>
          </a:p>
          <a:p>
            <a:pPr>
              <a:spcBef>
                <a:spcPts val="800"/>
              </a:spcBef>
              <a:defRPr sz="1050">
                <a:solidFill>
                  <a:srgbClr val="202124"/>
                </a:solidFill>
                <a:latin typeface="Arial"/>
              </a:defRPr>
            </a:pPr>
            <a:r>
              <a:t>•  Eliminates GPU driver updates, cluster patching, and idle capacity waste.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ARCHITECTURAL DECISIONS</a:t>
            </a:r>
          </a:p>
          <a:p>
            <a:pPr>
              <a:spcBef>
                <a:spcPts val="400"/>
              </a:spcBef>
              <a:defRPr sz="2100" b="1">
                <a:solidFill>
                  <a:srgbClr val="202124"/>
                </a:solidFill>
                <a:latin typeface="Arial"/>
              </a:defRPr>
            </a:pPr>
            <a:r>
              <a:t>Tradeoffs Prioritize Deterministic Verification, Zero-Idle Cost, and Scalability</a:t>
            </a:r>
          </a:p>
        </p:txBody>
      </p:sp>
      <p:sp>
        <p:nvSpPr>
          <p:cNvPr id="3" name="Rectangle 2"/>
          <p:cNvSpPr/>
          <p:nvPr/>
        </p:nvSpPr>
        <p:spPr>
          <a:xfrm>
            <a:off x="731520" y="1536192"/>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TOPOLOGY DECISION</a:t>
            </a:r>
          </a:p>
          <a:p>
            <a:pPr>
              <a:spcBef>
                <a:spcPts val="300"/>
              </a:spcBef>
              <a:defRPr sz="2000" b="1">
                <a:solidFill>
                  <a:srgbClr val="202124"/>
                </a:solidFill>
                <a:latin typeface="Arial"/>
              </a:defRPr>
            </a:pPr>
            <a:r>
              <a:t>Multi-Agent Pipeline</a:t>
            </a:r>
          </a:p>
          <a:p>
            <a:pPr>
              <a:spcBef>
                <a:spcPts val="200"/>
              </a:spcBef>
              <a:defRPr sz="950" b="1">
                <a:solidFill>
                  <a:srgbClr val="5F6368"/>
                </a:solidFill>
                <a:latin typeface="Arial"/>
              </a:defRPr>
            </a:pPr>
            <a:r>
              <a:t>vs Single Monolithic LLM Call</a:t>
            </a:r>
          </a:p>
          <a:p>
            <a:pPr>
              <a:spcBef>
                <a:spcPts val="1200"/>
              </a:spcBef>
              <a:defRPr sz="1050">
                <a:solidFill>
                  <a:srgbClr val="202124"/>
                </a:solidFill>
                <a:latin typeface="Arial"/>
              </a:defRPr>
            </a:pPr>
            <a:r>
              <a:t>•  Tradeoff: Adds ~800ms pipeline latency and multi-call token overhead.</a:t>
            </a:r>
          </a:p>
          <a:p>
            <a:pPr>
              <a:spcBef>
                <a:spcPts val="800"/>
              </a:spcBef>
              <a:defRPr sz="1050">
                <a:solidFill>
                  <a:srgbClr val="202124"/>
                </a:solidFill>
                <a:latin typeface="Arial"/>
              </a:defRPr>
            </a:pPr>
            <a:r>
              <a:t>•  Rationale: Single prompts exhibit confirmation bias and self-justification.</a:t>
            </a:r>
          </a:p>
          <a:p>
            <a:pPr>
              <a:spcBef>
                <a:spcPts val="800"/>
              </a:spcBef>
              <a:defRPr sz="1050">
                <a:solidFill>
                  <a:srgbClr val="202124"/>
                </a:solidFill>
                <a:latin typeface="Arial"/>
              </a:defRPr>
            </a:pPr>
            <a:r>
              <a:t>•  Independent Reviewer with zero shared hidden state guarantees objective citation verification before release.</a:t>
            </a:r>
          </a:p>
        </p:txBody>
      </p:sp>
      <p:sp>
        <p:nvSpPr>
          <p:cNvPr id="5" name="Rounded Rectangle 4"/>
          <p:cNvSpPr/>
          <p:nvPr/>
        </p:nvSpPr>
        <p:spPr>
          <a:xfrm>
            <a:off x="43891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WORKLOAD HOSTING</a:t>
            </a:r>
          </a:p>
          <a:p>
            <a:pPr>
              <a:spcBef>
                <a:spcPts val="300"/>
              </a:spcBef>
              <a:defRPr sz="2000" b="1">
                <a:solidFill>
                  <a:srgbClr val="202124"/>
                </a:solidFill>
                <a:latin typeface="Arial"/>
              </a:defRPr>
            </a:pPr>
            <a:r>
              <a:t>Cloud Run Serverless</a:t>
            </a:r>
          </a:p>
          <a:p>
            <a:pPr>
              <a:spcBef>
                <a:spcPts val="200"/>
              </a:spcBef>
              <a:defRPr sz="950" b="1">
                <a:solidFill>
                  <a:srgbClr val="5F6368"/>
                </a:solidFill>
                <a:latin typeface="Arial"/>
              </a:defRPr>
            </a:pPr>
            <a:r>
              <a:t>vs GKE Kubernetes Cluster</a:t>
            </a:r>
          </a:p>
          <a:p>
            <a:pPr>
              <a:spcBef>
                <a:spcPts val="1200"/>
              </a:spcBef>
              <a:defRPr sz="1050">
                <a:solidFill>
                  <a:srgbClr val="202124"/>
                </a:solidFill>
                <a:latin typeface="Arial"/>
              </a:defRPr>
            </a:pPr>
            <a:r>
              <a:t>•  Tradeoff: Ephemeral container disk and cold start consideration on initial spin-up.</a:t>
            </a:r>
          </a:p>
          <a:p>
            <a:pPr>
              <a:spcBef>
                <a:spcPts val="800"/>
              </a:spcBef>
              <a:defRPr sz="1050">
                <a:solidFill>
                  <a:srgbClr val="202124"/>
                </a:solidFill>
                <a:latin typeface="Arial"/>
              </a:defRPr>
            </a:pPr>
            <a:r>
              <a:t>•  Rationale: Eliminates cluster management overhead and idle VM node costs.</a:t>
            </a:r>
          </a:p>
          <a:p>
            <a:pPr>
              <a:spcBef>
                <a:spcPts val="800"/>
              </a:spcBef>
              <a:defRPr sz="1050">
                <a:solidFill>
                  <a:srgbClr val="202124"/>
                </a:solidFill>
                <a:latin typeface="Arial"/>
              </a:defRPr>
            </a:pPr>
            <a:r>
              <a:t>•  FastAPI container cold boots in &lt;1.2s; handles 80 concurrent connections per replica with 0 -&gt; N scaling.</a:t>
            </a:r>
          </a:p>
        </p:txBody>
      </p:sp>
      <p:sp>
        <p:nvSpPr>
          <p:cNvPr id="6" name="Rounded Rectangle 5"/>
          <p:cNvSpPr/>
          <p:nvPr/>
        </p:nvSpPr>
        <p:spPr>
          <a:xfrm>
            <a:off x="80467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RETRIEVAL STRATEGY</a:t>
            </a:r>
          </a:p>
          <a:p>
            <a:pPr>
              <a:spcBef>
                <a:spcPts val="300"/>
              </a:spcBef>
              <a:defRPr sz="2000" b="1">
                <a:solidFill>
                  <a:srgbClr val="202124"/>
                </a:solidFill>
                <a:latin typeface="Arial"/>
              </a:defRPr>
            </a:pPr>
            <a:r>
              <a:t>Vertex AI Search</a:t>
            </a:r>
          </a:p>
          <a:p>
            <a:pPr>
              <a:spcBef>
                <a:spcPts val="200"/>
              </a:spcBef>
              <a:defRPr sz="950" b="1">
                <a:solidFill>
                  <a:srgbClr val="5F6368"/>
                </a:solidFill>
                <a:latin typeface="Arial"/>
              </a:defRPr>
            </a:pPr>
            <a:r>
              <a:t>vs Self-Hosted Vector Database</a:t>
            </a:r>
          </a:p>
          <a:p>
            <a:pPr>
              <a:spcBef>
                <a:spcPts val="1200"/>
              </a:spcBef>
              <a:defRPr sz="1050">
                <a:solidFill>
                  <a:srgbClr val="202124"/>
                </a:solidFill>
                <a:latin typeface="Arial"/>
              </a:defRPr>
            </a:pPr>
            <a:r>
              <a:t>•  Tradeoff: Less low-level control over index hyper-parameters and embeddings.</a:t>
            </a:r>
          </a:p>
          <a:p>
            <a:pPr>
              <a:spcBef>
                <a:spcPts val="800"/>
              </a:spcBef>
              <a:defRPr sz="1050">
                <a:solidFill>
                  <a:srgbClr val="202124"/>
                </a:solidFill>
                <a:latin typeface="Arial"/>
              </a:defRPr>
            </a:pPr>
            <a:r>
              <a:t>•  Rationale: Fully managed semantic search, automatic chunking, and zero maintenance.</a:t>
            </a:r>
          </a:p>
          <a:p>
            <a:pPr>
              <a:spcBef>
                <a:spcPts val="800"/>
              </a:spcBef>
              <a:defRPr sz="1050">
                <a:solidFill>
                  <a:srgbClr val="202124"/>
                </a:solidFill>
                <a:latin typeface="Arial"/>
              </a:defRPr>
            </a:pPr>
            <a:r>
              <a:t>•  Includes local in-memory circuit breaker fallback for offline resilience.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SECURITY POSTURE</a:t>
            </a:r>
          </a:p>
          <a:p>
            <a:pPr>
              <a:spcBef>
                <a:spcPts val="400"/>
              </a:spcBef>
              <a:defRPr sz="2100" b="1">
                <a:solidFill>
                  <a:srgbClr val="202124"/>
                </a:solidFill>
                <a:latin typeface="Arial"/>
              </a:defRPr>
            </a:pPr>
            <a:r>
              <a:t>Defense-in-Depth Protects Ingress, Data in Transit, and VPC Boundaries</a:t>
            </a:r>
          </a:p>
        </p:txBody>
      </p:sp>
      <p:sp>
        <p:nvSpPr>
          <p:cNvPr id="3" name="Rectangle 2"/>
          <p:cNvSpPr/>
          <p:nvPr/>
        </p:nvSpPr>
        <p:spPr>
          <a:xfrm>
            <a:off x="731520" y="1536192"/>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PERIMETER DEFENSE</a:t>
            </a:r>
          </a:p>
          <a:p>
            <a:pPr>
              <a:spcBef>
                <a:spcPts val="300"/>
              </a:spcBef>
              <a:defRPr sz="2000" b="1">
                <a:solidFill>
                  <a:srgbClr val="202124"/>
                </a:solidFill>
                <a:latin typeface="Arial"/>
              </a:defRPr>
            </a:pPr>
            <a:r>
              <a:t>Edge &amp; Input Security</a:t>
            </a:r>
          </a:p>
          <a:p>
            <a:pPr>
              <a:spcBef>
                <a:spcPts val="200"/>
              </a:spcBef>
              <a:defRPr sz="950" b="1">
                <a:solidFill>
                  <a:srgbClr val="5F6368"/>
                </a:solidFill>
                <a:latin typeface="Arial"/>
              </a:defRPr>
            </a:pPr>
            <a:r>
              <a:t>Cloud Armor &amp; Model Armor</a:t>
            </a:r>
          </a:p>
          <a:p>
            <a:pPr>
              <a:spcBef>
                <a:spcPts val="1200"/>
              </a:spcBef>
              <a:defRPr sz="1050">
                <a:solidFill>
                  <a:srgbClr val="202124"/>
                </a:solidFill>
                <a:latin typeface="Arial"/>
              </a:defRPr>
            </a:pPr>
            <a:r>
              <a:t>•  Cloud Armor blocks OWASP Top 10 vulnerabilities, DDoS, and bad actors at Google edge.</a:t>
            </a:r>
          </a:p>
          <a:p>
            <a:pPr>
              <a:spcBef>
                <a:spcPts val="800"/>
              </a:spcBef>
              <a:defRPr sz="1050">
                <a:solidFill>
                  <a:srgbClr val="202124"/>
                </a:solidFill>
                <a:latin typeface="Arial"/>
              </a:defRPr>
            </a:pPr>
            <a:r>
              <a:t>•  Model Armor intercepts adversarial prompt injections and jailbreaks before model invocation.</a:t>
            </a:r>
          </a:p>
          <a:p>
            <a:pPr>
              <a:spcBef>
                <a:spcPts val="800"/>
              </a:spcBef>
              <a:defRPr sz="1050">
                <a:solidFill>
                  <a:srgbClr val="202124"/>
                </a:solidFill>
                <a:latin typeface="Arial"/>
              </a:defRPr>
            </a:pPr>
            <a:r>
              <a:t>•  Input rate limiting and request length ceilings prevent denial-of-wallet attacks.</a:t>
            </a:r>
          </a:p>
        </p:txBody>
      </p:sp>
      <p:sp>
        <p:nvSpPr>
          <p:cNvPr id="5" name="Rounded Rectangle 4"/>
          <p:cNvSpPr/>
          <p:nvPr/>
        </p:nvSpPr>
        <p:spPr>
          <a:xfrm>
            <a:off x="43891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34A853"/>
                </a:solidFill>
                <a:latin typeface="Arial"/>
              </a:defRPr>
            </a:pPr>
            <a:r>
              <a:t>DATA PROTECTION</a:t>
            </a:r>
          </a:p>
          <a:p>
            <a:pPr>
              <a:spcBef>
                <a:spcPts val="300"/>
              </a:spcBef>
              <a:defRPr sz="2000" b="1">
                <a:solidFill>
                  <a:srgbClr val="202124"/>
                </a:solidFill>
                <a:latin typeface="Arial"/>
              </a:defRPr>
            </a:pPr>
            <a:r>
              <a:t>End-to-End Cryptography</a:t>
            </a:r>
          </a:p>
          <a:p>
            <a:pPr>
              <a:spcBef>
                <a:spcPts val="200"/>
              </a:spcBef>
              <a:defRPr sz="950" b="1">
                <a:solidFill>
                  <a:srgbClr val="5F6368"/>
                </a:solidFill>
                <a:latin typeface="Arial"/>
              </a:defRPr>
            </a:pPr>
            <a:r>
              <a:t>Encryption in Transit &amp; at Rest</a:t>
            </a:r>
          </a:p>
          <a:p>
            <a:pPr>
              <a:spcBef>
                <a:spcPts val="1200"/>
              </a:spcBef>
              <a:defRPr sz="1050">
                <a:solidFill>
                  <a:srgbClr val="202124"/>
                </a:solidFill>
                <a:latin typeface="Arial"/>
              </a:defRPr>
            </a:pPr>
            <a:r>
              <a:t>•  Strict TLS 1.3 encryption enforced across all ingress and internal service communication.</a:t>
            </a:r>
          </a:p>
          <a:p>
            <a:pPr>
              <a:spcBef>
                <a:spcPts val="800"/>
              </a:spcBef>
              <a:defRPr sz="1050">
                <a:solidFill>
                  <a:srgbClr val="202124"/>
                </a:solidFill>
                <a:latin typeface="Arial"/>
              </a:defRPr>
            </a:pPr>
            <a:r>
              <a:t>•  Data at rest encrypted using Google-managed AES-256 cryptographic keys.</a:t>
            </a:r>
          </a:p>
          <a:p>
            <a:pPr>
              <a:spcBef>
                <a:spcPts val="800"/>
              </a:spcBef>
              <a:defRPr sz="1050">
                <a:solidFill>
                  <a:srgbClr val="202124"/>
                </a:solidFill>
                <a:latin typeface="Arial"/>
              </a:defRPr>
            </a:pPr>
            <a:r>
              <a:t>•  Ephemeral in-memory session state; zero unencrypted queries written to persistent disks.</a:t>
            </a:r>
          </a:p>
        </p:txBody>
      </p:sp>
      <p:sp>
        <p:nvSpPr>
          <p:cNvPr id="6" name="Rounded Rectangle 5"/>
          <p:cNvSpPr/>
          <p:nvPr/>
        </p:nvSpPr>
        <p:spPr>
          <a:xfrm>
            <a:off x="80467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IDENTITY &amp; ISOLATION</a:t>
            </a:r>
          </a:p>
          <a:p>
            <a:pPr>
              <a:spcBef>
                <a:spcPts val="300"/>
              </a:spcBef>
              <a:defRPr sz="2000" b="1">
                <a:solidFill>
                  <a:srgbClr val="202124"/>
                </a:solidFill>
                <a:latin typeface="Arial"/>
              </a:defRPr>
            </a:pPr>
            <a:r>
              <a:t>Least Privilege</a:t>
            </a:r>
          </a:p>
          <a:p>
            <a:pPr>
              <a:spcBef>
                <a:spcPts val="200"/>
              </a:spcBef>
              <a:defRPr sz="950" b="1">
                <a:solidFill>
                  <a:srgbClr val="5F6368"/>
                </a:solidFill>
                <a:latin typeface="Arial"/>
              </a:defRPr>
            </a:pPr>
            <a:r>
              <a:t>Workload Identity &amp; Container Hardening</a:t>
            </a:r>
          </a:p>
          <a:p>
            <a:pPr>
              <a:spcBef>
                <a:spcPts val="1200"/>
              </a:spcBef>
              <a:defRPr sz="1050">
                <a:solidFill>
                  <a:srgbClr val="202124"/>
                </a:solidFill>
                <a:latin typeface="Arial"/>
              </a:defRPr>
            </a:pPr>
            <a:r>
              <a:t>•  Dedicated IAM service accounts restricted strictly to necessary Vertex AI and logging roles.</a:t>
            </a:r>
          </a:p>
          <a:p>
            <a:pPr>
              <a:spcBef>
                <a:spcPts val="800"/>
              </a:spcBef>
              <a:defRPr sz="1050">
                <a:solidFill>
                  <a:srgbClr val="202124"/>
                </a:solidFill>
                <a:latin typeface="Arial"/>
              </a:defRPr>
            </a:pPr>
            <a:r>
              <a:t>•  Distroless non-root container image (medquad UID 10001) with read-only root filesystem.</a:t>
            </a:r>
          </a:p>
          <a:p>
            <a:pPr>
              <a:spcBef>
                <a:spcPts val="800"/>
              </a:spcBef>
              <a:defRPr sz="1050">
                <a:solidFill>
                  <a:srgbClr val="202124"/>
                </a:solidFill>
                <a:latin typeface="Arial"/>
              </a:defRPr>
            </a:pPr>
            <a:r>
              <a:t>•  Workload Identity Federation replaces static service account keys with short-lived OAuth tokens.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SAFETY POSTURE &amp; AUDITING</a:t>
            </a:r>
          </a:p>
          <a:p>
            <a:pPr>
              <a:spcBef>
                <a:spcPts val="400"/>
              </a:spcBef>
              <a:defRPr sz="2100" b="1">
                <a:solidFill>
                  <a:srgbClr val="202124"/>
                </a:solidFill>
                <a:latin typeface="Arial"/>
              </a:defRPr>
            </a:pPr>
            <a:r>
              <a:t>Deterministic Guardrails, Independent QC, and BigQuery Logging Ensure Safety</a:t>
            </a:r>
          </a:p>
        </p:txBody>
      </p:sp>
      <p:sp>
        <p:nvSpPr>
          <p:cNvPr id="3" name="Rectangle 2"/>
          <p:cNvSpPr/>
          <p:nvPr/>
        </p:nvSpPr>
        <p:spPr>
          <a:xfrm>
            <a:off x="731520" y="1536192"/>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CLINICAL GUARDRAILS</a:t>
            </a:r>
          </a:p>
          <a:p>
            <a:pPr>
              <a:spcBef>
                <a:spcPts val="300"/>
              </a:spcBef>
              <a:defRPr sz="2000" b="1">
                <a:solidFill>
                  <a:srgbClr val="202124"/>
                </a:solidFill>
                <a:latin typeface="Arial"/>
              </a:defRPr>
            </a:pPr>
            <a:r>
              <a:t>Safe Refusal Engine</a:t>
            </a:r>
          </a:p>
          <a:p>
            <a:pPr>
              <a:spcBef>
                <a:spcPts val="200"/>
              </a:spcBef>
              <a:defRPr sz="950" b="1">
                <a:solidFill>
                  <a:srgbClr val="5F6368"/>
                </a:solidFill>
                <a:latin typeface="Arial"/>
              </a:defRPr>
            </a:pPr>
            <a:r>
              <a:t>Deterministic Boundary Enforcement</a:t>
            </a:r>
          </a:p>
          <a:p>
            <a:pPr>
              <a:spcBef>
                <a:spcPts val="1200"/>
              </a:spcBef>
              <a:defRPr sz="1050">
                <a:solidFill>
                  <a:srgbClr val="202124"/>
                </a:solidFill>
                <a:latin typeface="Arial"/>
              </a:defRPr>
            </a:pPr>
            <a:r>
              <a:t>•  Detects requests for personal medical advice or drug dosing in &lt;5ms.</a:t>
            </a:r>
          </a:p>
          <a:p>
            <a:pPr>
              <a:spcBef>
                <a:spcPts val="800"/>
              </a:spcBef>
              <a:defRPr sz="1050">
                <a:solidFill>
                  <a:srgbClr val="202124"/>
                </a:solidFill>
                <a:latin typeface="Arial"/>
              </a:defRPr>
            </a:pPr>
            <a:r>
              <a:t>•  Immediately returns structured refusal with medical hotline referrals without model token cost.</a:t>
            </a:r>
          </a:p>
          <a:p>
            <a:pPr>
              <a:spcBef>
                <a:spcPts val="800"/>
              </a:spcBef>
              <a:defRPr sz="1050">
                <a:solidFill>
                  <a:srgbClr val="202124"/>
                </a:solidFill>
                <a:latin typeface="Arial"/>
              </a:defRPr>
            </a:pPr>
            <a:r>
              <a:t>•  Strict max_iterations=2 loop limit prevents autonomous runaway agent execution.</a:t>
            </a:r>
          </a:p>
        </p:txBody>
      </p:sp>
      <p:sp>
        <p:nvSpPr>
          <p:cNvPr id="5" name="Rounded Rectangle 4"/>
          <p:cNvSpPr/>
          <p:nvPr/>
        </p:nvSpPr>
        <p:spPr>
          <a:xfrm>
            <a:off x="43891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34A853"/>
                </a:solidFill>
                <a:latin typeface="Arial"/>
              </a:defRPr>
            </a:pPr>
            <a:r>
              <a:t>QUALITY CONTROL GATE</a:t>
            </a:r>
          </a:p>
          <a:p>
            <a:pPr>
              <a:spcBef>
                <a:spcPts val="300"/>
              </a:spcBef>
              <a:defRPr sz="2000" b="1">
                <a:solidFill>
                  <a:srgbClr val="202124"/>
                </a:solidFill>
                <a:latin typeface="Arial"/>
              </a:defRPr>
            </a:pPr>
            <a:r>
              <a:t>Independent Auditor</a:t>
            </a:r>
          </a:p>
          <a:p>
            <a:pPr>
              <a:spcBef>
                <a:spcPts val="200"/>
              </a:spcBef>
              <a:defRPr sz="950" b="1">
                <a:solidFill>
                  <a:srgbClr val="5F6368"/>
                </a:solidFill>
                <a:latin typeface="Arial"/>
              </a:defRPr>
            </a:pPr>
            <a:r>
              <a:t>Citation Verification Before Release</a:t>
            </a:r>
          </a:p>
          <a:p>
            <a:pPr>
              <a:spcBef>
                <a:spcPts val="1200"/>
              </a:spcBef>
              <a:defRPr sz="1050">
                <a:solidFill>
                  <a:srgbClr val="202124"/>
                </a:solidFill>
                <a:latin typeface="Arial"/>
              </a:defRPr>
            </a:pPr>
            <a:r>
              <a:t>•  Reviewer agent runs in an isolated context with zero shared generation memory.</a:t>
            </a:r>
          </a:p>
          <a:p>
            <a:pPr>
              <a:spcBef>
                <a:spcPts val="800"/>
              </a:spcBef>
              <a:defRPr sz="1050">
                <a:solidFill>
                  <a:srgbClr val="202124"/>
                </a:solidFill>
                <a:latin typeface="Arial"/>
              </a:defRPr>
            </a:pPr>
            <a:r>
              <a:t>•  CitationVerifier deterministically matches 100% of bracketed claims against source chunks.</a:t>
            </a:r>
          </a:p>
          <a:p>
            <a:pPr>
              <a:spcBef>
                <a:spcPts val="800"/>
              </a:spcBef>
              <a:defRPr sz="1050">
                <a:solidFill>
                  <a:srgbClr val="202124"/>
                </a:solidFill>
                <a:latin typeface="Arial"/>
              </a:defRPr>
            </a:pPr>
            <a:r>
              <a:t>•  Unsubstantiated statements or hallucinated citations are rejected before response delivery.</a:t>
            </a:r>
          </a:p>
        </p:txBody>
      </p:sp>
      <p:sp>
        <p:nvSpPr>
          <p:cNvPr id="6" name="Rounded Rectangle 5"/>
          <p:cNvSpPr/>
          <p:nvPr/>
        </p:nvSpPr>
        <p:spPr>
          <a:xfrm>
            <a:off x="80467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AUDITABILITY &amp; EVAL</a:t>
            </a:r>
          </a:p>
          <a:p>
            <a:pPr>
              <a:spcBef>
                <a:spcPts val="300"/>
              </a:spcBef>
              <a:defRPr sz="2000" b="1">
                <a:solidFill>
                  <a:srgbClr val="202124"/>
                </a:solidFill>
                <a:latin typeface="Arial"/>
              </a:defRPr>
            </a:pPr>
            <a:r>
              <a:t>Immutable Audit Trails</a:t>
            </a:r>
          </a:p>
          <a:p>
            <a:pPr>
              <a:spcBef>
                <a:spcPts val="200"/>
              </a:spcBef>
              <a:defRPr sz="950" b="1">
                <a:solidFill>
                  <a:srgbClr val="5F6368"/>
                </a:solidFill>
                <a:latin typeface="Arial"/>
              </a:defRPr>
            </a:pPr>
            <a:r>
              <a:t>Telemetry &amp; Automated Testing</a:t>
            </a:r>
          </a:p>
          <a:p>
            <a:pPr>
              <a:spcBef>
                <a:spcPts val="1200"/>
              </a:spcBef>
              <a:defRPr sz="1050">
                <a:solidFill>
                  <a:srgbClr val="202124"/>
                </a:solidFill>
                <a:latin typeface="Arial"/>
              </a:defRPr>
            </a:pPr>
            <a:r>
              <a:t>•  Every query, prompt, retrieved chunk, and model output logged to BigQuery with unique IDs.</a:t>
            </a:r>
          </a:p>
          <a:p>
            <a:pPr>
              <a:spcBef>
                <a:spcPts val="800"/>
              </a:spcBef>
              <a:defRPr sz="1050">
                <a:solidFill>
                  <a:srgbClr val="202124"/>
                </a:solidFill>
                <a:latin typeface="Arial"/>
              </a:defRPr>
            </a:pPr>
            <a:r>
              <a:t>•  Distributed tracing via Google Cloud Trace for end-to-end latency monitoring.</a:t>
            </a:r>
          </a:p>
          <a:p>
            <a:pPr>
              <a:spcBef>
                <a:spcPts val="800"/>
              </a:spcBef>
              <a:defRPr sz="1050">
                <a:solidFill>
                  <a:srgbClr val="202124"/>
                </a:solidFill>
                <a:latin typeface="Arial"/>
              </a:defRPr>
            </a:pPr>
            <a:r>
              <a:t>•  Nightly evaluation pipeline benchmarks synthetic test sets for ROUGE-L, BLEU-4, and grounding.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502920"/>
            <a:ext cx="10728655" cy="1005840"/>
          </a:xfrm>
          <a:prstGeom prst="rect">
            <a:avLst/>
          </a:prstGeom>
          <a:noFill/>
        </p:spPr>
        <p:txBody>
          <a:bodyPr wrap="square" lIns="0" tIns="0" rIns="0" bIns="0">
            <a:spAutoFit/>
          </a:bodyPr>
          <a:lstStyle/>
          <a:p>
            <a:pPr>
              <a:defRPr sz="1100" b="1">
                <a:solidFill>
                  <a:srgbClr val="1A73E8"/>
                </a:solidFill>
                <a:latin typeface="Arial"/>
              </a:defRPr>
            </a:pPr>
            <a:r>
              <a:t>CI/CD &amp; DEPLOYMENT SETUP</a:t>
            </a:r>
          </a:p>
          <a:p>
            <a:pPr>
              <a:spcBef>
                <a:spcPts val="400"/>
              </a:spcBef>
              <a:defRPr sz="2100" b="1">
                <a:solidFill>
                  <a:srgbClr val="202124"/>
                </a:solidFill>
                <a:latin typeface="Arial"/>
              </a:defRPr>
            </a:pPr>
            <a:r>
              <a:t>Automated GitHub Actions Pipeline Validates, Scans, and Deploys to Cloud Run</a:t>
            </a:r>
          </a:p>
        </p:txBody>
      </p:sp>
      <p:sp>
        <p:nvSpPr>
          <p:cNvPr id="3" name="Rectangle 2"/>
          <p:cNvSpPr/>
          <p:nvPr/>
        </p:nvSpPr>
        <p:spPr>
          <a:xfrm>
            <a:off x="731520" y="1536192"/>
            <a:ext cx="10728655" cy="13716"/>
          </a:xfrm>
          <a:prstGeom prst="rect">
            <a:avLst/>
          </a:prstGeom>
          <a:solidFill>
            <a:srgbClr val="DADCE0"/>
          </a:solidFill>
          <a:ln>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CONTINUOUS INTEGRATION</a:t>
            </a:r>
          </a:p>
          <a:p>
            <a:pPr>
              <a:spcBef>
                <a:spcPts val="300"/>
              </a:spcBef>
              <a:defRPr sz="2000" b="1">
                <a:solidFill>
                  <a:srgbClr val="202124"/>
                </a:solidFill>
                <a:latin typeface="Arial"/>
              </a:defRPr>
            </a:pPr>
            <a:r>
              <a:t>Automated Testing</a:t>
            </a:r>
          </a:p>
          <a:p>
            <a:pPr>
              <a:spcBef>
                <a:spcPts val="200"/>
              </a:spcBef>
              <a:defRPr sz="950" b="1">
                <a:solidFill>
                  <a:srgbClr val="5F6368"/>
                </a:solidFill>
                <a:latin typeface="Arial"/>
              </a:defRPr>
            </a:pPr>
            <a:r>
              <a:t>Quality Gates on Every Pull Request</a:t>
            </a:r>
          </a:p>
          <a:p>
            <a:pPr>
              <a:spcBef>
                <a:spcPts val="1200"/>
              </a:spcBef>
              <a:defRPr sz="1050">
                <a:solidFill>
                  <a:srgbClr val="202124"/>
                </a:solidFill>
                <a:latin typeface="Arial"/>
              </a:defRPr>
            </a:pPr>
            <a:r>
              <a:t>•  Pre-commit linting and type validation enforced via ruff and mypy.</a:t>
            </a:r>
          </a:p>
          <a:p>
            <a:pPr>
              <a:spcBef>
                <a:spcPts val="800"/>
              </a:spcBef>
              <a:defRPr sz="1050">
                <a:solidFill>
                  <a:srgbClr val="202124"/>
                </a:solidFill>
                <a:latin typeface="Arial"/>
              </a:defRPr>
            </a:pPr>
            <a:r>
              <a:t>•  Pytest test suite validates agent routing, tool execution, and fallback circuits.</a:t>
            </a:r>
          </a:p>
          <a:p>
            <a:pPr>
              <a:spcBef>
                <a:spcPts val="800"/>
              </a:spcBef>
              <a:defRPr sz="1050">
                <a:solidFill>
                  <a:srgbClr val="202124"/>
                </a:solidFill>
                <a:latin typeface="Arial"/>
              </a:defRPr>
            </a:pPr>
            <a:r>
              <a:t>•  Guardrail tests verify 100% detection of adversarial injections and safe refusals.</a:t>
            </a:r>
          </a:p>
        </p:txBody>
      </p:sp>
      <p:sp>
        <p:nvSpPr>
          <p:cNvPr id="5" name="Rounded Rectangle 4"/>
          <p:cNvSpPr/>
          <p:nvPr/>
        </p:nvSpPr>
        <p:spPr>
          <a:xfrm>
            <a:off x="43891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1A73E8"/>
                </a:solidFill>
                <a:latin typeface="Arial"/>
              </a:defRPr>
            </a:pPr>
            <a:r>
              <a:t>ARTIFACT PACKAGING</a:t>
            </a:r>
          </a:p>
          <a:p>
            <a:pPr>
              <a:spcBef>
                <a:spcPts val="300"/>
              </a:spcBef>
              <a:defRPr sz="2000" b="1">
                <a:solidFill>
                  <a:srgbClr val="202124"/>
                </a:solidFill>
                <a:latin typeface="Arial"/>
              </a:defRPr>
            </a:pPr>
            <a:r>
              <a:t>Secure Container Build</a:t>
            </a:r>
          </a:p>
          <a:p>
            <a:pPr>
              <a:spcBef>
                <a:spcPts val="200"/>
              </a:spcBef>
              <a:defRPr sz="950" b="1">
                <a:solidFill>
                  <a:srgbClr val="5F6368"/>
                </a:solidFill>
                <a:latin typeface="Arial"/>
              </a:defRPr>
            </a:pPr>
            <a:r>
              <a:t>Artifact Registry &amp; CVE Scanning</a:t>
            </a:r>
          </a:p>
          <a:p>
            <a:pPr>
              <a:spcBef>
                <a:spcPts val="1200"/>
              </a:spcBef>
              <a:defRPr sz="1050">
                <a:solidFill>
                  <a:srgbClr val="202124"/>
                </a:solidFill>
                <a:latin typeface="Arial"/>
              </a:defRPr>
            </a:pPr>
            <a:r>
              <a:t>•  Multi-stage Docker build produces a lean, hardened production image (&lt;180MB).</a:t>
            </a:r>
          </a:p>
          <a:p>
            <a:pPr>
              <a:spcBef>
                <a:spcPts val="800"/>
              </a:spcBef>
              <a:defRPr sz="1050">
                <a:solidFill>
                  <a:srgbClr val="202124"/>
                </a:solidFill>
                <a:latin typeface="Arial"/>
              </a:defRPr>
            </a:pPr>
            <a:r>
              <a:t>•  Automated vulnerability and CVE scanning executed on container image push.</a:t>
            </a:r>
          </a:p>
          <a:p>
            <a:pPr>
              <a:spcBef>
                <a:spcPts val="800"/>
              </a:spcBef>
              <a:defRPr sz="1050">
                <a:solidFill>
                  <a:srgbClr val="202124"/>
                </a:solidFill>
                <a:latin typeface="Arial"/>
              </a:defRPr>
            </a:pPr>
            <a:r>
              <a:t>•  Images tagged immutably with Git commit SHAs for release traceability.</a:t>
            </a:r>
          </a:p>
        </p:txBody>
      </p:sp>
      <p:sp>
        <p:nvSpPr>
          <p:cNvPr id="6" name="Rounded Rectangle 5"/>
          <p:cNvSpPr/>
          <p:nvPr/>
        </p:nvSpPr>
        <p:spPr>
          <a:xfrm>
            <a:off x="8046720" y="1755648"/>
            <a:ext cx="3401568" cy="4480560"/>
          </a:xfrm>
          <a:prstGeom prst="roundRect">
            <a:avLst/>
          </a:prstGeom>
          <a:solidFill>
            <a:srgbClr val="FFFFFF"/>
          </a:solidFill>
          <a:ln w="15240">
            <a:solidFill>
              <a:srgbClr val="DADCE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56032" bIns="228600"/>
          <a:lstStyle/>
          <a:p>
            <a:pPr algn="ctr">
              <a:defRPr sz="1000" b="1">
                <a:solidFill>
                  <a:srgbClr val="34A853"/>
                </a:solidFill>
                <a:latin typeface="Arial"/>
              </a:defRPr>
            </a:pPr>
            <a:r>
              <a:t>CONTINUOUS DEPLOYMENT</a:t>
            </a:r>
          </a:p>
          <a:p>
            <a:pPr>
              <a:spcBef>
                <a:spcPts val="300"/>
              </a:spcBef>
              <a:defRPr sz="2000" b="1">
                <a:solidFill>
                  <a:srgbClr val="202124"/>
                </a:solidFill>
                <a:latin typeface="Arial"/>
              </a:defRPr>
            </a:pPr>
            <a:r>
              <a:t>Cloud Run Rollouts</a:t>
            </a:r>
          </a:p>
          <a:p>
            <a:pPr>
              <a:spcBef>
                <a:spcPts val="200"/>
              </a:spcBef>
              <a:defRPr sz="950" b="1">
                <a:solidFill>
                  <a:srgbClr val="5F6368"/>
                </a:solidFill>
                <a:latin typeface="Arial"/>
              </a:defRPr>
            </a:pPr>
            <a:r>
              <a:t>Keyless OIDC &amp; Zero-Downtime Deploy</a:t>
            </a:r>
          </a:p>
          <a:p>
            <a:pPr>
              <a:spcBef>
                <a:spcPts val="1200"/>
              </a:spcBef>
              <a:defRPr sz="1050">
                <a:solidFill>
                  <a:srgbClr val="202124"/>
                </a:solidFill>
                <a:latin typeface="Arial"/>
              </a:defRPr>
            </a:pPr>
            <a:r>
              <a:t>•  Google Workload Identity Federation enables keyless GitHub Actions authentication.</a:t>
            </a:r>
          </a:p>
          <a:p>
            <a:pPr>
              <a:spcBef>
                <a:spcPts val="800"/>
              </a:spcBef>
              <a:defRPr sz="1050">
                <a:solidFill>
                  <a:srgbClr val="202124"/>
                </a:solidFill>
                <a:latin typeface="Arial"/>
              </a:defRPr>
            </a:pPr>
            <a:r>
              <a:t>•  Zero-downtime revision rollouts with automated /api/v1/health container readiness probes.</a:t>
            </a:r>
          </a:p>
          <a:p>
            <a:pPr>
              <a:spcBef>
                <a:spcPts val="800"/>
              </a:spcBef>
              <a:defRPr sz="1050">
                <a:solidFill>
                  <a:srgbClr val="202124"/>
                </a:solidFill>
                <a:latin typeface="Arial"/>
              </a:defRPr>
            </a:pPr>
            <a:r>
              <a:t>•  Instant rollback capability if error rates or latency thresholds exceed service targets.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