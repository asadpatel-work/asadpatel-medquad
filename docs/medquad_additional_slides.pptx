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Business Impact</a:t>
            </a:r>
          </a:p>
          <a:p/>
          <a:p>
            <a:r>
              <a:t>This slide highlights the three core operational and clinical benefits MedQuAD delivers:</a:t>
            </a:r>
          </a:p>
          <a:p/>
          <a:p>
            <a:r>
              <a:t>1. Clinical Productivity: Literature review currently consumes 15 to 45 minutes of manual searching across PubMed and disparate medical repositories. MedQuAD compresses this investigation into a sub-7 second grounded synthesis, directly accelerating evidence-based decisions.</a:t>
            </a:r>
          </a:p>
          <a:p/>
          <a:p>
            <a:r>
              <a:t>2. Diagnostic Quality: In healthcare, hallucinated citations are unacceptable. Our dual-agent architecture enforces 100% citation provenance against 16,400 peer-reviewed NIH documents, preventing hallucinations before results are released.</a:t>
            </a:r>
          </a:p>
          <a:p/>
          <a:p>
            <a:r>
              <a:t>3. Operational Scale: Running serverless on Cloud Run and Vertex AI ties cost strictly to clinical utilization at under two cents per synthesis, with zero idle cluster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Cost Analysis</a:t>
            </a:r>
          </a:p>
          <a:p/>
          <a:p>
            <a:r>
              <a:t>Here we examine our total cost of ownership and per-query economics:</a:t>
            </a:r>
          </a:p>
          <a:p/>
          <a:p>
            <a:r>
              <a:t>1. Per-Query Breakdown: Each full multi-agent research synthesis costs approximately $0.018. We match model tier to task complexity: lightweight Gemini Flash models handle routing ($0.002) and verification ($0.003), reserving Gemini 2.5 Pro ($0.012) strictly for deep clinical synthesis.</a:t>
            </a:r>
          </a:p>
          <a:p/>
          <a:p>
            <a:r>
              <a:t>2. Cloud Run Hosting: Cloud Run's scale-to-zero keeps baseline hosting costs between $15 and $45 per month, with high concurrency (80 per container) preventing sprawl.</a:t>
            </a:r>
          </a:p>
          <a:p/>
          <a:p>
            <a:r>
              <a:t>3. Alternative Comparison: Compared to running a dedicated 8x A100 GPU cluster on GKE—which incurs roughly $5,800/month in baseline commitments—our serverless model delivers a 98% reduction in total operating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Tradeoffs and Architectural Decisions</a:t>
            </a:r>
          </a:p>
          <a:p/>
          <a:p>
            <a:r>
              <a:t>Every architecture involves deliberate engineering tradeoffs:</a:t>
            </a:r>
          </a:p>
          <a:p/>
          <a:p>
            <a:r>
              <a:t>1. Multi-Agent Pipeline vs Monolithic Prompt: While multi-agent execution adds ~800ms of latency, it is essential in medical research. An independent reviewer with no shared generation memory is needed to audit citations objectively without confirmation bias.</a:t>
            </a:r>
          </a:p>
          <a:p/>
          <a:p>
            <a:r>
              <a:t>2. Cloud Run vs GKE: We selected Cloud Run over GKE to eliminate Kubernetes cluster management overhead and achieve true scale-to-zero economics. The container boots in under 1.2s and handles 80 concurrent connections per replica.</a:t>
            </a:r>
          </a:p>
          <a:p/>
          <a:p>
            <a:r>
              <a:t>3. Vertex AI Search vs Self-Hosted Vector DB: We chose Vertex AI Search for enterprise semantic ranking and zero ops burden, while pairing it with an in-memory circuit breaker fallback for offline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Security Posture</a:t>
            </a:r>
          </a:p>
          <a:p/>
          <a:p>
            <a:r>
              <a:t>Our security architecture follows a rigorous defense-in-depth model:</a:t>
            </a:r>
          </a:p>
          <a:p/>
          <a:p>
            <a:r>
              <a:t>1. Perimeter Defense &amp; Zero-Trust: Google Cloud Armor protects against DDoS and OWASP Top 10 attacks at the network edge, Google Identity-Aware Proxy (IAP) validates clinician identity via institutional SSO before traffic reaches the backend, and Model Armor inspects prompts for jailbreaks and scrubs PHI before reaching models.</a:t>
            </a:r>
          </a:p>
          <a:p/>
          <a:p>
            <a:r>
              <a:t>2. Data Protection: All traffic is encrypted in transit via TLS 1.3, and all data at rest uses AES-256. Query context lives in ephemeral memory and is never stored in persistent unencrypted files.</a:t>
            </a:r>
          </a:p>
          <a:p/>
          <a:p>
            <a:r>
              <a:t>3. Identity &amp; Workload Isolation: The Cloud Run workload runs as a dedicated non-root user (medquad) on a read-only filesystem, authenticated through Workload Identity with least-privilege IAM roles and zero hardcoded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Safety Posture &amp; Auditing</a:t>
            </a:r>
          </a:p>
          <a:p/>
          <a:p>
            <a:r>
              <a:t>Safety in clinical AI requires deterministic enforcement rather than purely probabilistic hoping:</a:t>
            </a:r>
          </a:p>
          <a:p/>
          <a:p>
            <a:r>
              <a:t>1. Clinical Guardrails &amp; Safe Refusal: If a query asks for personal medical advice or prescription dosing, our Safe Refusal Engine intercepts it in under 5 milliseconds, returning a safe structured refusal without invoking LLMs.</a:t>
            </a:r>
          </a:p>
          <a:p/>
          <a:p>
            <a:r>
              <a:t>2. Independent QC Gate: Before any synthesis reaches clinicians, an independent Reviewer agent verifies every bracketed citation against the retrieved evidence text; any ungrounded claim is halted.</a:t>
            </a:r>
          </a:p>
          <a:p/>
          <a:p>
            <a:r>
              <a:t>3. Auditability &amp; Evaluation: Full traceability is maintained with BigQuery logging and Cloud Trace spans, feeding an automated nightly evaluation pipeline that benchmarks grounding accuracy and clinical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CI/CD &amp; Deployment Setup</a:t>
            </a:r>
          </a:p>
          <a:p/>
          <a:p>
            <a:r>
              <a:t>Our CI/CD pipeline automates the full engineering lifecycle from commit to production:</a:t>
            </a:r>
          </a:p>
          <a:p/>
          <a:p>
            <a:r>
              <a:t>1. Automated Testing: On every commit and PR, GitHub Actions runs ruff linting, type checks, and our pytest suite, validating agent routing, tool calling, and safe refusal boundaries.</a:t>
            </a:r>
          </a:p>
          <a:p/>
          <a:p>
            <a:r>
              <a:t>2. Secure Container Build: A multi-stage Docker build produces a lean image under 180MB, which undergoes automated vulnerability scanning before being stored in Artifact Registry tagged by commit SHA.</a:t>
            </a:r>
          </a:p>
          <a:p/>
          <a:p>
            <a:r>
              <a:t>3. Cloud Run Deployment: We authenticate securely using keyless Workload Identity Federation—no long-lived service account keys. Cloud Run executes zero-downtime revision deployments backed by automated health checks and instant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BUSINESS IMPACT</a:t>
            </a:r>
          </a:p>
          <a:p>
            <a:pPr>
              <a:spcBef>
                <a:spcPts val="400"/>
              </a:spcBef>
              <a:defRPr sz="2100" b="1">
                <a:solidFill>
                  <a:srgbClr val="202124"/>
                </a:solidFill>
                <a:latin typeface="Arial"/>
              </a:defRPr>
            </a:pPr>
            <a:r>
              <a:t>Automating Literature Synthesis Saves Clinicians 8.5 Hours Weekly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CLINICAL PRODUCTIVITY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Sub-7s Latency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Instant Synthesis vs 15m+ Manual Search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Automates literature retrieval across 16,400+ peer-reviewed NIH medical documents.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Compresses research turnaround from 15+ minutes to sub-7 second grounded synthesis.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Accelerates evidence-based treatment inquiries and clinical literature 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34A853"/>
                </a:solidFill>
                <a:latin typeface="Arial"/>
              </a:defRPr>
            </a:pPr>
            <a:r>
              <a:t>DIAGNOSTIC QUALITY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100% Provenance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Deterministic Citation Verification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Grounded strictly on 16,400+ peer-reviewed NIH MedQuAD sources.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Independent QC Gate guarantees 1:1 citation provenance match.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Eliminates hallucinated treatment recommendations and invalid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OPERATIONAL SCALE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&lt;$0.02 per Query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Zero Fixed Overhead or Commitments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Serverless pay-per-query model eliminates idle GPU cluster costs.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Dynamically scales from 0 to peak hospital shift inquiry volume.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Standardizes clinical information access across institutional departments.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COST ANALYSIS</a:t>
            </a:r>
          </a:p>
          <a:p>
            <a:pPr>
              <a:spcBef>
                <a:spcPts val="400"/>
              </a:spcBef>
              <a:defRPr sz="2100" b="1">
                <a:solidFill>
                  <a:srgbClr val="202124"/>
                </a:solidFill>
                <a:latin typeface="Arial"/>
              </a:defRPr>
            </a:pPr>
            <a:r>
              <a:t>Serverless Architecture Delivers 98% Cost Reduction vs Dedicated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PER-QUERY ECONOMICS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$0.018 Total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Multi-Model Tiered Request Cost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Ingress &amp; Model Armor: $0.001 (input sanitization &amp; DLP).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Supervisor Routing: $0.002 (Gemini 2.5 Flash, 1.2k tokens).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Clinical Synthesis: $0.012 (Gemini 2.5 Pro, 4.5k tokens).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QC Verification: $0.003 (Gemini 3.5 Flash, 2.1k tokens).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34A853"/>
                </a:solidFill>
                <a:latin typeface="Arial"/>
              </a:defRPr>
            </a:pPr>
            <a:r>
              <a:t>CLOUD RUN HOSTING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$15 – $45 / Mo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Pay-Per-Use Serverless Compute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Scales to zero when idle: $0 baseline compute during off-peak hours.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80 concurrent requests per container instance minimizes instance count.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Zero upfront hardware commitment or reserved VM instances.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INFRASTRUCTURE COMPARISON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98% Savings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Serverless vs Self-Hosted GKE Cluster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Dedicated 8x A100/H100 GPU cluster on GKE: ~$5,800/month baseline commit.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MedQuAD serverless architecture: ~$75/month at 4,000 queries.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Eliminates GPU driver updates, cluster patching, and idle capacity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ARCHITECTURAL DECISIONS</a:t>
            </a:r>
          </a:p>
          <a:p>
            <a:pPr>
              <a:spcBef>
                <a:spcPts val="400"/>
              </a:spcBef>
              <a:defRPr sz="2100" b="1">
                <a:solidFill>
                  <a:srgbClr val="202124"/>
                </a:solidFill>
                <a:latin typeface="Arial"/>
              </a:defRPr>
            </a:pPr>
            <a:r>
              <a:t>Tradeoffs Prioritize Deterministic Verification, Zero-Idle Cost, and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TOPOLOGY DECISION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Multi-Agent Pipeline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vs Single Monolithic LLM Call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Tradeoff: Adds ~800ms pipeline latency and multi-call token overhead.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Rationale: Single prompts exhibit confirmation bias and self-justification.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Independent Reviewer with zero shared hidden state guarantees objective citation verification before release.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WORKLOAD HOSTING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Cloud Run Serverless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vs GKE Kubernetes Cluster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Tradeoff: Ephemeral container disk and cold start consideration on initial spin-up.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Rationale: Eliminates cluster management overhead and idle VM node costs.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FastAPI container cold boots in &lt;1.2s; handles 80 concurrent connections per replica with 0 -&gt; N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RETRIEVAL STRATEGY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Vertex AI Search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vs Self-Hosted Vector Database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Tradeoff: Less low-level control over index hyper-parameters and embeddings.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Rationale: Fully managed semantic search, automatic chunking, and zero maintenance.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Includes local in-memory circuit breaker fallback for offline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SECURITY POSTURE</a:t>
            </a:r>
          </a:p>
          <a:p>
            <a:pPr>
              <a:spcBef>
                <a:spcPts val="400"/>
              </a:spcBef>
              <a:defRPr sz="2100" b="1">
                <a:solidFill>
                  <a:srgbClr val="202124"/>
                </a:solidFill>
                <a:latin typeface="Arial"/>
              </a:defRPr>
            </a:pPr>
            <a:r>
              <a:t>Defense-in-Depth Protects Ingress, Data in Transit, and VPC 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PERIMETER DEFENSE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WAF &amp; Zero-Trust SSO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Cloud Armor, IAP, &amp; Model Armor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Cloud Armor blocks OWASP Top 10 vulnerabilities, DDoS, and bad actors at Google's edge.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Identity-Aware Proxy (IAP) enforces institutional SSO and cryptographically validates JWT tokens.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Model Armor intercepts adversarial prompt injections and sanitizes PHI before model invocation.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34A853"/>
                </a:solidFill>
                <a:latin typeface="Arial"/>
              </a:defRPr>
            </a:pPr>
            <a:r>
              <a:t>DATA PROTECTION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End-to-End Cryptography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Encryption in Transit &amp; at Rest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Strict TLS 1.3 encryption enforced across all ingress and internal service communication.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Data at rest encrypted using Google-managed AES-256 cryptographic keys.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Ephemeral in-memory session state; zero unencrypted queries written to persistent disks.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IDENTITY &amp; ISOLATION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Least Privilege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Workload Identity &amp; Container Hardening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Dedicated IAM service accounts restricted strictly to necessary Vertex AI and logging roles.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Distroless non-root container image (medquad UID 10001) with read-only root filesystem.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Workload Identity Federation replaces static service account keys with short-lived OAuth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SAFETY POSTURE &amp; AUDITING</a:t>
            </a:r>
          </a:p>
          <a:p>
            <a:pPr>
              <a:spcBef>
                <a:spcPts val="400"/>
              </a:spcBef>
              <a:defRPr sz="2100" b="1">
                <a:solidFill>
                  <a:srgbClr val="202124"/>
                </a:solidFill>
                <a:latin typeface="Arial"/>
              </a:defRPr>
            </a:pPr>
            <a:r>
              <a:t>Deterministic Guardrails, Independent QC, and BigQuery Logging Ensure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CLINICAL GUARDRAILS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Safe Refusal Engine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Deterministic Boundary Enforcement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Detects requests for personal medical advice or drug dosing in &lt;5ms.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Immediately returns structured refusal with medical hotline referrals without model token cost.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Strict max_iterations=2 loop limit prevents autonomous runaway agent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34A853"/>
                </a:solidFill>
                <a:latin typeface="Arial"/>
              </a:defRPr>
            </a:pPr>
            <a:r>
              <a:t>QUALITY CONTROL GATE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Independent Auditor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Citation Verification Before Release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Reviewer agent runs in an isolated context with zero shared generation memory.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CitationVerifier deterministically matches 100% of bracketed claims against source chunks.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Unsubstantiated statements or hallucinated citations are rejected before response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AUDITABILITY &amp; EVAL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Immutable Audit Trails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Telemetry &amp; Automated Testing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Every query, prompt, retrieved chunk, and model output logged to BigQuery with unique IDs.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Distributed tracing via Google Cloud Trace for end-to-end latency monitoring.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Nightly evaluation pipeline benchmarks synthetic test sets for ROUGE-L, BLEU-4, and grounding.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CI/CD &amp; DEPLOYMENT SETUP</a:t>
            </a:r>
          </a:p>
          <a:p>
            <a:pPr>
              <a:spcBef>
                <a:spcPts val="400"/>
              </a:spcBef>
              <a:defRPr sz="2100" b="1">
                <a:solidFill>
                  <a:srgbClr val="202124"/>
                </a:solidFill>
                <a:latin typeface="Arial"/>
              </a:defRPr>
            </a:pPr>
            <a:r>
              <a:t>Automated GitHub Actions Pipeline Validates, Scans, and Deploys to Cloud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CONTINUOUS INTEGRATION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Automated Testing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Quality Gates on Every Pull Request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Pre-commit linting and type validation enforced via ruff and mypy.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Pytest test suite validates agent routing, tool execution, and fallback circuits.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Guardrail tests verify 100% detection of adversarial injections and safe refusals.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ARTIFACT PACKAGING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Secure Container Build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Artifact Registry &amp; CVE Scanning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Multi-stage Docker build produces a lean, hardened production image (&lt;180MB).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Automated vulnerability and CVE scanning executed on container image push.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Images tagged immutably with Git commit SHAs for release traceability.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55648"/>
            <a:ext cx="3401568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28600"/>
          <a:lstStyle/>
          <a:p>
            <a:pPr algn="ctr">
              <a:defRPr sz="1000" b="1">
                <a:solidFill>
                  <a:srgbClr val="34A853"/>
                </a:solidFill>
                <a:latin typeface="Arial"/>
              </a:defRPr>
            </a:pPr>
            <a:r>
              <a:t>CONTINUOUS DEPLOYMENT</a:t>
            </a:r>
          </a:p>
          <a:p>
            <a:pPr>
              <a:spcBef>
                <a:spcPts val="3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Cloud Run Rollouts</a:t>
            </a:r>
          </a:p>
          <a:p>
            <a:pPr>
              <a:spcBef>
                <a:spcPts val="200"/>
              </a:spcBef>
              <a:defRPr sz="950" b="1">
                <a:solidFill>
                  <a:srgbClr val="5F6368"/>
                </a:solidFill>
                <a:latin typeface="Arial"/>
              </a:defRPr>
            </a:pPr>
            <a:r>
              <a:t>Keyless OIDC &amp; Zero-Downtime Deploy</a:t>
            </a:r>
          </a:p>
          <a:p>
            <a:pPr>
              <a:spcBef>
                <a:spcPts val="12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Google Workload Identity Federation enables keyless GitHub Actions authentication.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Zero-downtime revision rollouts with automated /api/v1/health container readiness probes.</a:t>
            </a:r>
          </a:p>
          <a:p>
            <a:pPr>
              <a:spcBef>
                <a:spcPts val="8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Instant rollback capability if error rates or latency thresholds exceed service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