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Concrete end-to-end architecture diagram showing the visual flow across components:</a:t>
            </a:r>
          </a:p>
          <a:p/>
          <a:p>
            <a:r>
              <a:t>1. Ingress &amp; Perimeter Defense: Clinician queries enter via Cloud Armor and FastAPI on Cloud Run. Model Armor scrubs 18 HIPAA PHI identifiers before any tokenization occurs.</a:t>
            </a:r>
          </a:p>
          <a:p/>
          <a:p>
            <a:r>
              <a:t>2. Safe Refusal Fast-Path: If personal medical advice or dosing is detected, the boundary engine halts execution in &lt;5ms, returning an emergency disclaimer with zero token consumption.</a:t>
            </a:r>
          </a:p>
          <a:p/>
          <a:p>
            <a:r>
              <a:t>3. Multi-Agent Orchestration: Root Orchestrator (Gemini 2.5 Flash) triages intent and routes to Clinical Researcher (Gemini 2.5 Pro) under a strict max_iterations=2 loop ceiling.</a:t>
            </a:r>
          </a:p>
          <a:p/>
          <a:p>
            <a:r>
              <a:t>4. Grounding: Researcher retrieves 500-token semantic chunks from Vertex AI Search and reference lab ranges from ClinicalDBTool.</a:t>
            </a:r>
          </a:p>
          <a:p/>
          <a:p>
            <a:r>
              <a:t>5. Independent Verification: Reviewer &amp; QC gate (Gemini 3.5 Flash) operates with zero shared hidden state, deterministically validating 100% citation ID matching before streaming release.</a:t>
            </a:r>
          </a:p>
          <a:p/>
          <a:p>
            <a:r>
              <a:t>6. High Availability: Circuit breaker gracefully falls back to local in-memory vector store on Vertex latency spikes or 504 timeouts.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Breaks down the Google ADK Supervisor-Worker topology and explains our critical architectural decisions:</a:t>
            </a:r>
          </a:p>
          <a:p/>
          <a:p>
            <a:r>
              <a:t>1. In-Process Multi-Agent Topology: All agents run in the same Python process on Cloud Run. This eliminates network hops, reduces latency by 150-300ms per turn, and simplifies state management.</a:t>
            </a:r>
          </a:p>
          <a:p/>
          <a:p>
            <a:r>
              <a:t>2. Model Tiering for FinOps: By routing with Gemini 2.5 Flash ($0.075/1M), synthesizing with Gemini 2.5 Pro ($1.25/1M), and auditing with Gemini 3.5 Flash ($0.15/1M), we achieve an average query cost of just $0.0035 compared to $0.018 for a monolithic Pro pipeline.</a:t>
            </a:r>
          </a:p>
          <a:p/>
          <a:p>
            <a:r>
              <a:t>3. Zero Self-Evaluation Bias: The Reviewer agent operates with zero shared hidden state from the Researcher, preventing confirmation bias and ensuring strict 1:1 citation proof.</a:t>
            </a:r>
          </a:p>
          <a:p/>
          <a:p>
            <a:r>
              <a:t>4. Loop Bound: An immutable max_iterations=2 safety ceiling prevents runaway agent recursion and guarantees bounded execution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Arial"/>
              </a:defRPr>
            </a:pPr>
            <a:r>
              <a:t>SYSTEM ARCHITECTURE</a:t>
            </a:r>
          </a:p>
          <a:p>
            <a:pPr>
              <a:spcBef>
                <a:spcPts val="200"/>
              </a:spcBef>
              <a:defRPr sz="1800" b="1">
                <a:solidFill>
                  <a:srgbClr val="202124"/>
                </a:solidFill>
                <a:latin typeface="Arial"/>
              </a:defRPr>
            </a:pPr>
            <a:r>
              <a:t>MedQuAD Multi-Agent Clinical Research Platform</a:t>
            </a:r>
          </a:p>
          <a:p>
            <a:pPr>
              <a:spcBef>
                <a:spcPts val="200"/>
              </a:spcBef>
              <a:defRPr sz="950">
                <a:solidFill>
                  <a:srgbClr val="5F6368"/>
                </a:solidFill>
                <a:latin typeface="Arial"/>
              </a:defRPr>
            </a:pPr>
            <a:r>
              <a:t>Google Cloud Run Serverless Workload • Google ADK Multi-Agent Topology • Vertex AI Foundation Models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728655" cy="1078992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0"/>
          <a:lstStyle/>
          <a:p>
            <a:pPr algn="ctr">
              <a:defRPr sz="850" b="1">
                <a:solidFill>
                  <a:srgbClr val="5F6368"/>
                </a:solidFill>
                <a:latin typeface="Arial"/>
              </a:defRPr>
            </a:pPr>
            <a:r>
              <a:t>TIER 1: INGRESS &amp; PERIMETER DEFENSE (ZERO-TRUST SECURITY PERIMETER)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89888"/>
            <a:ext cx="246888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Clinician Portal (UI)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React 18 SPA • Cloud Run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HTTPS / SSE streaming response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Zero-state client memory hydration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83280" y="1737360"/>
            <a:ext cx="731520" cy="73152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59252" y="1536192"/>
            <a:ext cx="117957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00" b="1">
                <a:solidFill>
                  <a:srgbClr val="1A73E8"/>
                </a:solidFill>
                <a:latin typeface="Arial"/>
              </a:defRPr>
            </a:pPr>
            <a:r>
              <a:t>1. TLS 1.3 / 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89888"/>
            <a:ext cx="274320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202124"/>
                </a:solidFill>
                <a:latin typeface="Arial"/>
              </a:defRPr>
            </a:pPr>
            <a:r>
              <a:t>Cloud Armor + IAP Proxy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L7 WAF &amp; Zero-Trust SSO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OWASP Top 10 • DDoS throttling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Cryptographic JWT token validation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58000" y="1737360"/>
            <a:ext cx="731520" cy="73152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52844" y="1536192"/>
            <a:ext cx="941832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00" b="1">
                <a:solidFill>
                  <a:srgbClr val="1A73E8"/>
                </a:solidFill>
                <a:latin typeface="Arial"/>
              </a:defRPr>
            </a:pPr>
            <a:r>
              <a:t>2. WAF Clean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389888"/>
            <a:ext cx="3657600" cy="7680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Google Cloud Model Armor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Pre-Flight Guardrail &amp; HIPAA DLP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Masks 18 Safe Harbor PHI identifiers before tokenization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Deterministic Safe Refusal engine: blocks personal diagnosis in &lt;5ms ($0 token spend)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04288"/>
            <a:ext cx="3383280" cy="219456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50" b="1">
                <a:solidFill>
                  <a:srgbClr val="188038"/>
                </a:solidFill>
                <a:latin typeface="Arial"/>
              </a:defRPr>
            </a:pPr>
            <a:r>
              <a:t>✓ Sanitized Query (18 PHI Types Scrubbed • Pre-Flight Checked)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10728655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0"/>
          <a:lstStyle/>
          <a:p>
            <a:pPr algn="ctr">
              <a:defRPr sz="850" b="1">
                <a:solidFill>
                  <a:srgbClr val="5F6368"/>
                </a:solidFill>
                <a:latin typeface="Arial"/>
              </a:defRPr>
            </a:pPr>
            <a:r>
              <a:t>TIER 2: GOOGLE CLOUD RUN (SERVERLESS WORKLOAD • IN-PROCESS GOOGLE ADK MULTI-AGENT RUNTIME)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2633472"/>
            <a:ext cx="1554480" cy="201168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rial"/>
              </a:defRPr>
            </a:pPr>
            <a:r>
              <a:t>Autoscaling (0 → 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44368"/>
            <a:ext cx="2011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202124"/>
                </a:solidFill>
                <a:latin typeface="Arial"/>
              </a:defRPr>
            </a:pPr>
            <a:r>
              <a:t>FastAPI Gateway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ASGI Server &amp; Memory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Uvicorn async request loop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SessionMemory LRU cache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Multi-turn history sync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Max concurrency = 80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Zero-idle serverless host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26080" y="3730752"/>
            <a:ext cx="365760" cy="73152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6916" y="3529584"/>
            <a:ext cx="704088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00" b="1">
                <a:solidFill>
                  <a:srgbClr val="1A73E8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944368"/>
            <a:ext cx="23774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Root Orchestrator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Supervisor • Google ADK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Clinical intent classification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Emergency &amp; scope lock triage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max_iterations=2 loop ceiling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Subagent delegation routing</a:t>
            </a:r>
          </a:p>
          <a:p>
            <a:pPr>
              <a:spcBef>
                <a:spcPts val="400"/>
              </a:spcBef>
              <a:defRPr sz="800" b="1">
                <a:solidFill>
                  <a:srgbClr val="1A73E8"/>
                </a:solidFill>
                <a:latin typeface="Arial"/>
              </a:defRPr>
            </a:pPr>
            <a:r>
              <a:t>[Gemini 2.5 Flash • &lt;200ms]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669280" y="3730752"/>
            <a:ext cx="365760" cy="73152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00116" y="3529584"/>
            <a:ext cx="704088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00" b="1">
                <a:solidFill>
                  <a:srgbClr val="1A73E8"/>
                </a:solidFill>
                <a:latin typeface="Arial"/>
              </a:defRPr>
            </a:pPr>
            <a:r>
              <a:t>Delegate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944368"/>
            <a:ext cx="26517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Clinical Researcher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Worker Agent Pool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Autonomous ReAct reasoning loop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Medical entity query rewriting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Multi-tool retrieval planning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Inline [1], [2] citation drafting</a:t>
            </a:r>
          </a:p>
          <a:p>
            <a:pPr>
              <a:spcBef>
                <a:spcPts val="400"/>
              </a:spcBef>
              <a:defRPr sz="800" b="1">
                <a:solidFill>
                  <a:srgbClr val="1A73E8"/>
                </a:solidFill>
                <a:latin typeface="Arial"/>
              </a:defRPr>
            </a:pPr>
            <a:r>
              <a:t>[Gemini 2.5 Pro • Deep Synthesis]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86800" y="3730752"/>
            <a:ext cx="365760" cy="73152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06790" y="3529584"/>
            <a:ext cx="525780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00" b="1">
                <a:solidFill>
                  <a:srgbClr val="1A73E8"/>
                </a:solidFill>
                <a:latin typeface="Arial"/>
              </a:defRPr>
            </a:pPr>
            <a:r>
              <a:t>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944368"/>
            <a:ext cx="21945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88038"/>
                </a:solidFill>
                <a:latin typeface="Arial"/>
              </a:defRPr>
            </a:pPr>
            <a:r>
              <a:t>Reviewer &amp; QC Gate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Independent Auditor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Zero shared hidden state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100% 1-to-1 chunk verification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Eliminates ungrounded claims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Prescriptive tone de-escalation</a:t>
            </a:r>
          </a:p>
          <a:p>
            <a:pPr>
              <a:spcBef>
                <a:spcPts val="400"/>
              </a:spcBef>
              <a:defRPr sz="800" b="1">
                <a:solidFill>
                  <a:srgbClr val="188038"/>
                </a:solidFill>
                <a:latin typeface="Arial"/>
              </a:defRPr>
            </a:pPr>
            <a:r>
              <a:t>[Gemini 3.5 Flash • QC Pass]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858000" y="4736592"/>
            <a:ext cx="109728" cy="219456"/>
          </a:xfrm>
          <a:prstGeom prst="down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0" y="4754880"/>
            <a:ext cx="1645920" cy="182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A73E8"/>
                </a:solidFill>
                <a:latin typeface="Arial"/>
              </a:defRPr>
            </a:pPr>
            <a:r>
              <a:t>Dense Semantic Query</a:t>
            </a:r>
          </a:p>
        </p:txBody>
      </p:sp>
      <p:sp>
        <p:nvSpPr>
          <p:cNvPr id="26" name="Up Arrow 25"/>
          <p:cNvSpPr/>
          <p:nvPr/>
        </p:nvSpPr>
        <p:spPr>
          <a:xfrm>
            <a:off x="7955279" y="4736592"/>
            <a:ext cx="109728" cy="219456"/>
          </a:xfrm>
          <a:prstGeom prst="up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0" y="4754880"/>
            <a:ext cx="1645920" cy="182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80" b="1">
                <a:solidFill>
                  <a:srgbClr val="1A73E8"/>
                </a:solidFill>
                <a:latin typeface="Arial"/>
              </a:defRPr>
            </a:pPr>
            <a:r>
              <a:t>Top-K Grounded NIH Chunks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983480"/>
            <a:ext cx="10728655" cy="13716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0"/>
          <a:lstStyle/>
          <a:p>
            <a:pPr algn="ctr">
              <a:defRPr sz="850" b="1">
                <a:solidFill>
                  <a:srgbClr val="5F6368"/>
                </a:solidFill>
                <a:latin typeface="Arial"/>
              </a:defRPr>
            </a:pPr>
            <a:r>
              <a:t>TIER 3: GROUNDING DATA STORES &amp; OBSERVABILITY SINK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212080"/>
            <a:ext cx="24688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Vertex AI Search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Authoritative NIH MedQuAD Index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16,400+ verified clinical Q&amp;A records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500-token semantic chunks + 10% overlap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Managed hybrid dense + lexical retrieval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5212080"/>
            <a:ext cx="24688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Clinical Reference DB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Diagnostic Biomarkers &amp; Labs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Standard laboratory reference ranges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Diagnostic cutoffs &amp; normal intervals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Mock EHR clinical protocol tables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212080"/>
            <a:ext cx="2468880" cy="10241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B06000"/>
                </a:solidFill>
                <a:latin typeface="Arial"/>
              </a:defRPr>
            </a:pPr>
            <a:r>
              <a:t>Vector DB Fallback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Sub-50ms Circuit Breaker Store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Local in-memory FAISS vector index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Sub-50ms fallback on Vertex 504 timeouts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Guarantees 99.9% clinical availability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5212080"/>
            <a:ext cx="237744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202124"/>
                </a:solidFill>
                <a:latin typeface="Arial"/>
              </a:defRPr>
            </a:pPr>
            <a:r>
              <a:t>Cloud Trace &amp; BigQuery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Observability &amp; FinOps Sink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End-to-end OpenTelemetry distributed spans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Token consumption &amp; cost telemetry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Nightly automated clinical audit logs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5F6368"/>
                </a:solidFill>
                <a:latin typeface="Arial"/>
              </a:defRPr>
            </a:pPr>
            <a:r>
              <a:t>MedQuAD Architecture • 100% Native Editable Shapes • Google Cloud Field Delivery Engineering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A73E8"/>
                </a:solidFill>
                <a:latin typeface="Arial"/>
              </a:defRPr>
            </a:pPr>
            <a:r>
              <a:t>MULTI-AGENT TOPOLOGY DEEP DIVE</a:t>
            </a:r>
          </a:p>
          <a:p>
            <a:pPr>
              <a:spcBef>
                <a:spcPts val="200"/>
              </a:spcBef>
              <a:defRPr sz="1800" b="1">
                <a:solidFill>
                  <a:srgbClr val="202124"/>
                </a:solidFill>
                <a:latin typeface="Arial"/>
              </a:defRPr>
            </a:pPr>
            <a:r>
              <a:t>Google ADK Supervisor-Worker Agent Execution Flow</a:t>
            </a:r>
          </a:p>
          <a:p>
            <a:pPr>
              <a:spcBef>
                <a:spcPts val="200"/>
              </a:spcBef>
              <a:defRPr sz="950">
                <a:solidFill>
                  <a:srgbClr val="5F6368"/>
                </a:solidFill>
                <a:latin typeface="Arial"/>
              </a:defRPr>
            </a:pPr>
            <a:r>
              <a:t>In-Process Modular Agent Architecture with Zero Inter-Service Latency and Isolated Reviewer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1. Root Orchestrator (Supervisor)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Gemini 2.5 Flash • Triage &amp; Scope Lock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Role: Top-level supervisor controlling workflow lifecycle.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Intent Classification: Categorizes clinical queries vs. administrative vs. emergency prompts in &lt;200ms.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Safe Refusal Gate: Instantly halts personal diagnosis and dosage inquiries with standard non-prescriptive disclaimers.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Loop Guard: Enforces immutable max_iterations=2 boundary to prevent infinite agent delegation.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Session State: Hydrates conversation turn history and coordinates subagent handoffs.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Telemetry: Emits root trace span and records end-to-end turn latency.</a:t>
            </a:r>
          </a:p>
          <a:p>
            <a:pPr>
              <a:spcBef>
                <a:spcPts val="400"/>
              </a:spcBef>
              <a:defRPr sz="800" b="1">
                <a:solidFill>
                  <a:srgbClr val="1A73E8"/>
                </a:solidFill>
                <a:latin typeface="Arial"/>
              </a:defRPr>
            </a:pPr>
            <a:r>
              <a:t>[Cost: $0.075 / 1M Input Tokens | Latency: ~180ms]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023360" y="3072384"/>
            <a:ext cx="457200" cy="73152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51326" y="2871216"/>
            <a:ext cx="1001268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00" b="1">
                <a:solidFill>
                  <a:srgbClr val="1A73E8"/>
                </a:solidFill>
                <a:latin typeface="Arial"/>
              </a:defRPr>
            </a:pPr>
            <a:r>
              <a:t>Delegate 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47472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A73E8"/>
                </a:solidFill>
                <a:latin typeface="Arial"/>
              </a:defRPr>
            </a:pPr>
            <a:r>
              <a:t>2. Clinical Researcher (Worker)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Gemini 2.5 Pro • Deep Biomedical Reasoning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Role: Autonomous research worker executing grounding loops.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Query Expansion: Extracts medical entities and synonyms to formulate high-recall search syntax.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Tool Execution: Invokes Vertex AI Search Tool (NIH Corpus) and Clinical DB Tool via Python interfaces.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Evidence Chunk Ranking: Analyzes retrieved 500-token passages for clinical relevance and contraindications.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Grounded Drafting: Synthesizes complex clinical findings with mandatory bracketed [1], [2] citation anchors.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Cost Isolation: Expensive frontier reasoning is strictly confined to multi-document synthesis.</a:t>
            </a:r>
          </a:p>
          <a:p>
            <a:pPr>
              <a:spcBef>
                <a:spcPts val="400"/>
              </a:spcBef>
              <a:defRPr sz="800" b="1">
                <a:solidFill>
                  <a:srgbClr val="1A73E8"/>
                </a:solidFill>
                <a:latin typeface="Arial"/>
              </a:defRPr>
            </a:pPr>
            <a:r>
              <a:t>[Cost: $1.25 / 1M Input Tokens | Latency: ~1,100ms]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79" y="3072384"/>
            <a:ext cx="457201" cy="73152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42681" y="2871216"/>
            <a:ext cx="882396" cy="201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700" b="1">
                <a:solidFill>
                  <a:srgbClr val="1A73E8"/>
                </a:solidFill>
                <a:latin typeface="Arial"/>
              </a:defRPr>
            </a:pPr>
            <a:r>
              <a:t>Audit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371600"/>
            <a:ext cx="3017520" cy="3931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8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109728" rIns="128016" bIns="91440"/>
          <a:lstStyle/>
          <a:p>
            <a:pPr algn="ctr">
              <a:defRPr sz="1050" b="1">
                <a:solidFill>
                  <a:srgbClr val="188038"/>
                </a:solidFill>
                <a:latin typeface="Arial"/>
              </a:defRPr>
            </a:pPr>
            <a:r>
              <a:t>3. Reviewer &amp; QC Gate (Auditor)</a:t>
            </a:r>
          </a:p>
          <a:p>
            <a:pPr>
              <a:spcBef>
                <a:spcPts val="100"/>
              </a:spcBef>
              <a:defRPr sz="850" b="1">
                <a:solidFill>
                  <a:srgbClr val="202124"/>
                </a:solidFill>
                <a:latin typeface="Arial"/>
              </a:defRPr>
            </a:pPr>
            <a:r>
              <a:t>Gemini 3.5 Flash • Zero Shared Hidden State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Role: Independent clinical evidence auditor and quality gate.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State Isolation: Operates with ZERO shared reasoning state or prior turns from the Researcher.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CitationVerifier: Deterministically matches every [1], [2] citation tag to a valid retrieved chunk ID.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Hallucination Pruning: Any claim lacking explicit 1:1 passage backing is immediately stripped.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Tone Enforcement: Rewrites any accidentally prescriptive phrasing into objective scientific prose.</a:t>
            </a:r>
          </a:p>
          <a:p>
            <a:pPr>
              <a:spcBef>
                <a:spcPts val="200"/>
              </a:spcBef>
              <a:defRPr sz="750">
                <a:solidFill>
                  <a:srgbClr val="5F6368"/>
                </a:solidFill>
                <a:latin typeface="Arial"/>
              </a:defRPr>
            </a:pPr>
            <a:r>
              <a:t>•  Release Gate: Grants cryptographic release for client SSE streaming.</a:t>
            </a:r>
          </a:p>
          <a:p>
            <a:pPr>
              <a:spcBef>
                <a:spcPts val="400"/>
              </a:spcBef>
              <a:defRPr sz="800" b="1">
                <a:solidFill>
                  <a:srgbClr val="188038"/>
                </a:solidFill>
                <a:latin typeface="Arial"/>
              </a:defRPr>
            </a:pPr>
            <a:r>
              <a:t>[Cost: $0.15 / 1M Input Tokens | Latency: ~320ms]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 algn="ctr">
              <a:defRPr sz="950" b="1">
                <a:solidFill>
                  <a:srgbClr val="1A73E8"/>
                </a:solidFill>
                <a:latin typeface="Arial"/>
              </a:defRPr>
            </a:pPr>
            <a:r>
              <a:t>KEY ARCHITECTURAL ADVANTAGES OF THE SUPERVISOR-WORKER TOPOLOGY</a:t>
            </a:r>
          </a:p>
          <a:p>
            <a:pPr>
              <a:spcBef>
                <a:spcPts val="300"/>
              </a:spcBef>
              <a:defRPr sz="850">
                <a:solidFill>
                  <a:srgbClr val="202124"/>
                </a:solidFill>
                <a:latin typeface="Arial"/>
              </a:defRPr>
            </a:pPr>
            <a:r>
              <a:t>1. Zero Self-Evaluation Bias: Reviewer has no memory of the Researcher's draft generation, eliminating confirmation bias.  •  2. FinOps Optimization: Blended query cost of $0.0035 (vs $0.018 for monolithic Pro).  •  3. Deterministic Safety: Sub-5ms short-circuit for off-policy queries with zero model token spend.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