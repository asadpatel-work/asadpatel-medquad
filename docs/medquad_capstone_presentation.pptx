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Today I am presenting the MedQuAD Clinical Research Assistant for my Field Delivery Engineer capstone evaluation.</a:t>
            </a:r>
          </a:p>
          <a:p/>
          <a:p>
            <a:r>
              <a:t>This system addresses the challenge of clinical literature discovery by combining Google Cloud's Agent Development Kit with Vertex AI Search and deterministic guardrails.</a:t>
            </a:r>
          </a:p>
          <a:p/>
          <a:p>
            <a:r>
              <a:t>This presentation covers: the clinical problem, our product capabilities, the end-to-end multi-agent architecture, and our future engineering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establishes the core problem.</a:t>
            </a:r>
          </a:p>
          <a:p/>
          <a:p>
            <a:r>
              <a:t>Clinical researchers face two competing challenges:</a:t>
            </a:r>
          </a:p>
          <a:p>
            <a:r>
              <a:t>First, manual research takes too long. Combing through NIH databases, clinical trials, and FDA inserts consumes over 35% of a researcher's time, averaging 15 minutes per query.</a:t>
            </a:r>
          </a:p>
          <a:p/>
          <a:p>
            <a:r>
              <a:t>Second, relying on standard LLMs is dangerous in clinical contexts. Studies show foundation models hallucinate citations roughly 18% of the time, and unguarded models attempt to offer personal medical advice, creating unacceptable legal risk.</a:t>
            </a:r>
          </a:p>
          <a:p/>
          <a:p>
            <a:r>
              <a:t>The MedQuAD Assistant bridges this divide by delivering automated literature synthesis with strict 1:1 citation proof and deterministic safety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outlines what the product actually does and how it operates.</a:t>
            </a:r>
          </a:p>
          <a:p/>
          <a:p>
            <a:r>
              <a:t>1. Authoritative Grounding: We indexed 16,400+ verified NIH pairs into Vertex AI Search with 500-token semantic chunks.</a:t>
            </a:r>
          </a:p>
          <a:p/>
          <a:p>
            <a:r>
              <a:t>2. Deterministic Verification: Rather than hoping the model doesn't hallucinate, an independent Reviewer agent verifies every bracketed citation against the retrieved chunks, achieving 100% citation precision.</a:t>
            </a:r>
          </a:p>
          <a:p/>
          <a:p>
            <a:r>
              <a:t>3. Safe Refusal Engine: If a user enters diagnostic or dosing questions, our boundary engine catches it in under 5ms, returning a clinical disclaimer with zero token waste.</a:t>
            </a:r>
          </a:p>
          <a:p/>
          <a:p>
            <a:r>
              <a:t>4. Cost Efficiency: By tiering Gemini models, we keep inference costs to just $0.0035 per query, running serverless on Cloud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displays the concrete architecture diagram showing the visual flow across components:</a:t>
            </a:r>
          </a:p>
          <a:p/>
          <a:p>
            <a:r>
              <a:t>1. Ingress &amp; Perimeter: Clinician queries enter via Cloud Armor and FastAPI on Cloud Run. Model Armor scrubs 18 HIPAA PHI identifiers.</a:t>
            </a:r>
          </a:p>
          <a:p/>
          <a:p>
            <a:r>
              <a:t>2. Safe Refusal Branch: If personal medical advice or dosing is detected, it exits in &lt;5ms without model token consumption.</a:t>
            </a:r>
          </a:p>
          <a:p/>
          <a:p>
            <a:r>
              <a:t>3. Multi-Agent Orchestration: Root Orchestrator (Gemini 2.5 Flash) routes to Clinical Researcher (Gemini 2.5 Pro).</a:t>
            </a:r>
          </a:p>
          <a:p/>
          <a:p>
            <a:r>
              <a:t>4. Grounding: Researcher retrieves 500-token chunks from Vertex AI Search and queries ClinicalDBTool.</a:t>
            </a:r>
          </a:p>
          <a:p/>
          <a:p>
            <a:r>
              <a:t>5. Independent Verification: Reviewer &amp; QC gate (Gemini 3.5 Flash) audits 100% citation ID matching before streaming release.</a:t>
            </a:r>
          </a:p>
          <a:p/>
          <a:p>
            <a:r>
              <a:t>6. Observability: Spans are sent to Cloud Trace, and telemetry is logged to BigQuery.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outlines our concrete next engineering milestones:</a:t>
            </a:r>
          </a:p>
          <a:p/>
          <a:p>
            <a:r>
              <a:t>1. EHR Integration: Using the Google Cloud Healthcare API to ingest de-identified FHIR R4 records, allowing researchers to contextualize literature findings against patient cohort criteria.</a:t>
            </a:r>
          </a:p>
          <a:p/>
          <a:p>
            <a:r>
              <a:t>2. State Persistence: Migrating from local in-memory session cache to distributed Firestore, ensuring research threads survive container restarts across regions.</a:t>
            </a:r>
          </a:p>
          <a:p/>
          <a:p>
            <a:r>
              <a:t>3. Multimodal RAG: Leveraging Gemini's multimodal capabilities to analyze DICOM radiology scans alongside literature guidelines.</a:t>
            </a:r>
          </a:p>
          <a:p/>
          <a:p>
            <a:r>
              <a:t>4. Enterprise Security: Adding Identity-Aware Proxy for hospital SSO and Private Service Connect to satisfy enterprise zero-trust networking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920240"/>
            <a:ext cx="99669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Arial"/>
              </a:defRPr>
            </a:pPr>
            <a:r>
              <a:t>FIELD DELIVERY ENGINEER (FDE) CAPSTONE PRESENTATION</a:t>
            </a:r>
          </a:p>
          <a:p>
            <a:pPr>
              <a:spcBef>
                <a:spcPts val="800"/>
              </a:spcBef>
              <a:defRPr sz="3800" b="1">
                <a:solidFill>
                  <a:srgbClr val="202124"/>
                </a:solidFill>
                <a:latin typeface="Arial"/>
              </a:defRPr>
            </a:pPr>
            <a:r>
              <a:t>MedQuAD Clinical Research Assistant</a:t>
            </a:r>
          </a:p>
          <a:p>
            <a:pPr>
              <a:spcBef>
                <a:spcPts val="800"/>
              </a:spcBef>
              <a:defRPr sz="1800">
                <a:solidFill>
                  <a:srgbClr val="5F6368"/>
                </a:solidFill>
                <a:latin typeface="Arial"/>
              </a:defRPr>
            </a:pPr>
            <a:r>
              <a:t>Multi-Agent Grounded Literature Synthesis &amp; Clinical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4114800"/>
            <a:ext cx="2926080" cy="27432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343400"/>
            <a:ext cx="9966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  <a:r>
              <a:t>Candidate: Asad Patel  |  Target Role: Field Delivery Engineer (FDE)</a:t>
            </a:r>
            <a:br/>
            <a:r>
              <a:t>Platform: Google Cloud (Vertex AI Search, Cloud Run, ADK, Gemini 2.5/3.5)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Arial"/>
              </a:defRPr>
            </a:pPr>
            <a:r>
              <a:t>PROBLEM DEFINITION</a:t>
            </a:r>
          </a:p>
          <a:p>
            <a:pPr>
              <a:spcBef>
                <a:spcPts val="400"/>
              </a:spcBef>
              <a:defRPr sz="2200" b="1">
                <a:solidFill>
                  <a:srgbClr val="202124"/>
                </a:solidFill>
                <a:latin typeface="Arial"/>
              </a:defRPr>
            </a:pPr>
            <a:r>
              <a:t>Clinical Search Suffers from High Manual Overhead and Unsafe Model Hallucinations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3716"/>
          </a:xfrm>
          <a:prstGeom prst="rect">
            <a:avLst/>
          </a:prstGeom>
          <a:solidFill>
            <a:srgbClr val="DADCE0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1. Manual Literature Synthesis Friction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Clinicians and researchers spend over 35% of working hours manually combing through fragmented medical databases (NIH, NCI, CDC, PubMed).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Synthesizing an authoritative answer for staging criteria, treatment protocols, or adverse reactions takes ~15 minutes of specialized labor.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High research friction directly delays clinical trial design, literature review updates, and research grant submissions.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Knowledge remains locked in static, disconnected XML repositories without centralized semantic search capability.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2. Foundation Model Hallucinations &amp; Liability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Standard off-the-shelf LLMs exhibit an ~18% citation error and hallucination rate on medical literature queries.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Generic models fabricate plausible clinical claims, non-existent PMIDs, and outdated pharmaceutical dosing guidelines.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Unguarded models attempt to answer personal diagnosis and prescription questions, creating severe malpractice liability.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Commercial consumer chatbots lack deterministic 1:1 chunk verification to prove evidence provenance.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Arial"/>
              </a:defRPr>
            </a:pPr>
            <a:r>
              <a:t>PRODUCT OVERVIEW</a:t>
            </a:r>
          </a:p>
          <a:p>
            <a:pPr>
              <a:spcBef>
                <a:spcPts val="400"/>
              </a:spcBef>
              <a:defRPr sz="2200" b="1">
                <a:solidFill>
                  <a:srgbClr val="202124"/>
                </a:solidFill>
                <a:latin typeface="Arial"/>
              </a:defRPr>
            </a:pPr>
            <a:r>
              <a:t>MedQuAD Delivers Grounded Literature Synthesis with Deterministic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3716"/>
          </a:xfrm>
          <a:prstGeom prst="rect">
            <a:avLst/>
          </a:prstGeom>
          <a:solidFill>
            <a:srgbClr val="DADCE0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Authoritative NIH Corpus Grounding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Indexes 16,400+ verified medical Q&amp;A pairs from NIH, NCI, CDC, and MedlinePlus across 12 clinical domains.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Structured with 500-token semantic chunks and 10% overlap to preserve clinical context.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Powered by Google Vertex AI Search with automated circuit-breaker fallback to an in-memory vector store.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Deterministic Citation Verification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Independent Reviewer subagent cross-examines draft responses against retrieved source passages.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CitationVerifier ensures 100% of bracketed claims map to valid retrieved chunk IDs.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Ungrounded statements are automatically flagged and removed before streaming to the user.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Layer 8 Safety &amp; Safe Refusal Engine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Pre-flight de-identification of 18 HIPAA Safe Harbor identifiers (MRN, SSN, patient names).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Immediate rejection (&lt;5ms) of personal diagnosis and drug dosing prompts without invoking model tokens.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Structured response redirects users to certified healthcare providers and emergency services.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Cost-Effective Model Tiering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Tiered Gemini deployment: Flash 2.5 for intent/routing, Pro 2.5 for synthesis, Flash 3.5 for audit.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Blended query cost of ~$0.0035 ($351/month for 100,000 queries) vs. $15.00 manual labor.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Deployed on Cloud Run with p95 response latency under 3 seconds and zero idle server costs.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Arial"/>
              </a:defRPr>
            </a:pPr>
            <a:r>
              <a:t>SYSTEM ARCHITECTURE</a:t>
            </a:r>
          </a:p>
          <a:p>
            <a:pPr>
              <a:spcBef>
                <a:spcPts val="400"/>
              </a:spcBef>
              <a:defRPr sz="2200" b="1">
                <a:solidFill>
                  <a:srgbClr val="202124"/>
                </a:solidFill>
                <a:latin typeface="Arial"/>
              </a:defRPr>
            </a:pPr>
            <a:r>
              <a:t>Multi-Agent ADK Architecture Decouples Retrieval, Synthesis, and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3716"/>
          </a:xfrm>
          <a:prstGeom prst="rect">
            <a:avLst/>
          </a:prstGeom>
          <a:solidFill>
            <a:srgbClr val="DADCE0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441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54864"/>
          <a:lstStyle/>
          <a:p>
            <a:pPr algn="ctr">
              <a:defRPr sz="850" b="1">
                <a:solidFill>
                  <a:srgbClr val="5F6368"/>
                </a:solidFill>
                <a:latin typeface="Arial"/>
              </a:defRPr>
            </a:pPr>
            <a:r>
              <a:t>1. INGRESS &amp; PERIMETER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47088"/>
            <a:ext cx="1280160" cy="73152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Clinician UI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Web &amp; REST API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HTTPS / SSE streaming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12848"/>
            <a:ext cx="548640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80160" y="204825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1. HTTPS Inquiry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847088"/>
            <a:ext cx="12801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Cloud Armor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L7 WAF &amp; DDoS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Rate &amp; bot filtering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2212848"/>
            <a:ext cx="548640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08960" y="204825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2. Clean Traffic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47088"/>
            <a:ext cx="13716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Cloud Run Gateway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FastAPI Microservice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Auth &amp; session state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720" y="2212848"/>
            <a:ext cx="548640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0" y="204825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3. Auth Payload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47088"/>
            <a:ext cx="146304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Model Armor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Layer 8 Guardrail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HIPAA PHI &amp; Jailbreak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0" y="2212848"/>
            <a:ext cx="548640" cy="0"/>
          </a:xfrm>
          <a:prstGeom prst="line">
            <a:avLst/>
          </a:prstGeom>
          <a:ln w="19050">
            <a:solidFill>
              <a:srgbClr val="EA4335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04825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EA4335"/>
                </a:solidFill>
                <a:latin typeface="Arial"/>
              </a:defRPr>
            </a:pPr>
            <a:r>
              <a:t>4a. Safe Refusal (&lt;5ms)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847088"/>
            <a:ext cx="3108960" cy="7315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EA4335"/>
                </a:solidFill>
                <a:latin typeface="Arial"/>
              </a:defRPr>
            </a:pPr>
            <a:r>
              <a:t>Safe Refusal Engine Exit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Personal Advice &amp; Dosing Block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Returns ER disclaimer | Zero tokens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40880" y="2578608"/>
            <a:ext cx="0" cy="256032.0"/>
          </a:xfrm>
          <a:prstGeom prst="line">
            <a:avLst/>
          </a:prstGeom>
          <a:ln w="1905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148840" y="2834640.0"/>
            <a:ext cx="4892040" cy="0.0"/>
          </a:xfrm>
          <a:prstGeom prst="line">
            <a:avLst/>
          </a:prstGeom>
          <a:ln w="1905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148840" y="2834640.0"/>
            <a:ext cx="0" cy="256032.0"/>
          </a:xfrm>
          <a:prstGeom prst="line">
            <a:avLst/>
          </a:prstGeom>
          <a:ln w="19050">
            <a:solidFill>
              <a:srgbClr val="34A853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31820" y="2633472"/>
            <a:ext cx="3291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34A853"/>
                </a:solidFill>
                <a:latin typeface="Arial"/>
              </a:defRPr>
            </a:pPr>
            <a:r>
              <a:t>4b. Sanitized Query (18 HIPAA PHI Identifiers Scrubbed)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852928"/>
            <a:ext cx="11094415" cy="2084831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54864"/>
          <a:lstStyle/>
          <a:p>
            <a:pPr algn="ctr">
              <a:defRPr sz="850" b="1">
                <a:solidFill>
                  <a:srgbClr val="1A73E8"/>
                </a:solidFill>
                <a:latin typeface="Arial"/>
              </a:defRPr>
            </a:pPr>
            <a:r>
              <a:t>2. GOOGLE ADK MULTI-AGENT CORE (DECOUPLED SUPERVISOR-WORKER PATTERN)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090672"/>
            <a:ext cx="27432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Root Orchestrator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Supervisor  |  Gemini 2.5 Flash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• Intent classification &amp; policy routing</a:t>
            </a:r>
            <a:br/>
            <a:r>
              <a:t>• max_iterations=2 safety loop ceiling</a:t>
            </a:r>
            <a:br/>
            <a:r>
              <a:t>• Top-level conversation session state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0" y="3931920"/>
            <a:ext cx="914400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926080" y="3767328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5. Research Intent + Loop Guard (max_iter=2)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090672"/>
            <a:ext cx="301752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Clinical Researcher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Worker  |  Gemini 2.5 Pro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• Deep biomedical literature reasoning</a:t>
            </a:r>
            <a:br/>
            <a:r>
              <a:t>• Multi-source synthesis across NIH</a:t>
            </a:r>
            <a:br/>
            <a:r>
              <a:t>• Drafts response with [1], [2] citations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6640" y="3931920"/>
            <a:ext cx="822960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12280" y="3767328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8. Draft Response with [1],[2] Anchors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090672"/>
            <a:ext cx="3200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34A853"/>
                </a:solidFill>
                <a:latin typeface="Arial"/>
              </a:defRPr>
            </a:pPr>
            <a:r>
              <a:t>Reviewer &amp; QC Gate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Auditor  |  Gemini 3.5 Flash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• Zero shared state (eliminates bias)</a:t>
            </a:r>
            <a:br/>
            <a:r>
              <a:t>• CitationVerifier: 100% chunk match</a:t>
            </a:r>
            <a:br/>
            <a:r>
              <a:t>• Approves verified streaming release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74920"/>
            <a:ext cx="11094415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54864"/>
          <a:lstStyle/>
          <a:p>
            <a:pPr algn="ctr">
              <a:defRPr sz="850" b="1">
                <a:solidFill>
                  <a:srgbClr val="5F6368"/>
                </a:solidFill>
                <a:latin typeface="Arial"/>
              </a:defRPr>
            </a:pPr>
            <a:r>
              <a:t>3. GROUNDING DATA STORES &amp; OBSERVABILITY SINK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321808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Vertex AI Search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NIH Literature Datastore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16,400+ verified medical Q&amp;A pairs</a:t>
            </a:r>
            <a:br/>
            <a:r>
              <a:t>500-token chunks with 10% overlap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5321808"/>
            <a:ext cx="24688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ClinicalDBTool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Biomarker Reference DB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Diagnostic reference ranges &amp;</a:t>
            </a:r>
            <a:br/>
            <a:r>
              <a:t>clinical lab test thresholds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5321808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Vector DB Fallback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Circuit Breaker Store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Local FAISS in-memory index</a:t>
            </a:r>
            <a:br/>
            <a:r>
              <a:t>Sub-50ms fallback on 504 timeouts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0" y="5321808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Cloud Trace &amp; BigQuery</a:t>
            </a:r>
          </a:p>
          <a:p>
            <a:pPr>
              <a:spcBef>
                <a:spcPts val="200"/>
              </a:spcBef>
              <a:defRPr sz="850" b="1">
                <a:solidFill>
                  <a:srgbClr val="5F6368"/>
                </a:solidFill>
                <a:latin typeface="Arial"/>
              </a:defRPr>
            </a:pPr>
            <a:r>
              <a:t>Observability &amp; Audit Sink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OpenTelemetry distributed spans &amp;</a:t>
            </a:r>
            <a:br/>
            <a:r>
              <a:t>nightly continuous evaluation logs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03520" y="4782312"/>
            <a:ext cx="0" cy="539496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029200" y="4978908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6. Hybrid Dense+Lexical Query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6126480" y="4782312"/>
            <a:ext cx="0" cy="539496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852160" y="5125212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7. Top-K NIH Evidence Chunks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875520" y="4782312"/>
            <a:ext cx="0" cy="539496"/>
          </a:xfrm>
          <a:prstGeom prst="line">
            <a:avLst/>
          </a:prstGeom>
          <a:ln w="19050">
            <a:solidFill>
              <a:srgbClr val="5F6368"/>
            </a:solidFill>
            <a:head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646920" y="505206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5F6368"/>
                </a:solidFill>
                <a:latin typeface="Arial"/>
              </a:defRPr>
            </a:pPr>
            <a:r>
              <a:t>Async OTel Traces &amp; Cost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Arial"/>
              </a:defRPr>
            </a:pPr>
            <a:r>
              <a:t>FUTURE ROADMAP</a:t>
            </a:r>
          </a:p>
          <a:p>
            <a:pPr>
              <a:spcBef>
                <a:spcPts val="400"/>
              </a:spcBef>
              <a:defRPr sz="2200" b="1">
                <a:solidFill>
                  <a:srgbClr val="202124"/>
                </a:solidFill>
                <a:latin typeface="Arial"/>
              </a:defRPr>
            </a:pPr>
            <a:r>
              <a:t>Roadmap Focuses on Clinical Standards, State Persistence, and Multimodal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3716"/>
          </a:xfrm>
          <a:prstGeom prst="rect">
            <a:avLst/>
          </a:prstGeom>
          <a:solidFill>
            <a:srgbClr val="DADCE0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1. EHR Standards (Google Cloud Healthcare API)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Integrate Google Cloud Healthcare API to query de-identified clinical records.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Parse and ingest FHIR R4 resources (Patient, Condition, Observation, MedicationStatement).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Enable researchers to cross-reference literature evidence against clinical cohort criteria.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2. Distributed Session Persistence &amp; State Store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Migrate from ephemeral in-memory conversation state to distributed Cloud Firestore.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Support multi-turn research threads across container instances with TTL retention.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Implement multi-region active-active replication for enterprise high availability.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3. Multimodal Clinical RAG (Gemini Vision)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Expand ingestion pipeline from text-only XML records to diagnostic imaging.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Ingest DICOM radiology files and pathology slide scans stored in GCS buckets.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Use Gemini multimodal reasoning to correlate medical imaging with clinical guidelines.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4. Enterprise Access Control &amp; Zero-Trust Perimeter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Integrate Google Identity-Aware Proxy (IAP) for institutional Single Sign-On (SSO).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Enforce role-based access control (RBAC) separating researchers, oncologists, and auditors.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Deploy Private Service Connect (PSC) to isolate backend services inside customer VPCs.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