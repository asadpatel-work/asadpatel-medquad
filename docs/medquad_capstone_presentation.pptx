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Today I am presenting the MedQuAD Clinical Research Assistant for my Field Delivery Engineer capstone evaluation.</a:t>
            </a:r>
          </a:p>
          <a:p/>
          <a:p>
            <a:r>
              <a:t>This system addresses the challenge of clinical literature discovery by combining Google Cloud's Agent Development Kit with Vertex AI Search and deterministic guardrails.</a:t>
            </a:r>
          </a:p>
          <a:p/>
          <a:p>
            <a:r>
              <a:t>This presentation covers: the clinical problem, our product capabilities, the end-to-end multi-agent architecture, and our future engineering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establishes the core problem.</a:t>
            </a:r>
          </a:p>
          <a:p/>
          <a:p>
            <a:r>
              <a:t>Clinical researchers face two competing challenges:</a:t>
            </a:r>
          </a:p>
          <a:p>
            <a:r>
              <a:t>First, manual research takes too long. Combing through NIH databases, clinical trials, and FDA inserts consumes over 35% of a researcher's time, averaging 15 minutes per query.</a:t>
            </a:r>
          </a:p>
          <a:p/>
          <a:p>
            <a:r>
              <a:t>Second, relying on standard LLMs is dangerous in clinical contexts. Studies show foundation models hallucinate citations roughly 18% of the time, and unguarded models attempt to offer personal medical advice, creating unacceptable legal risk.</a:t>
            </a:r>
          </a:p>
          <a:p/>
          <a:p>
            <a:r>
              <a:t>The MedQuAD Assistant bridges this divide by delivering automated literature synthesis with strict 1:1 citation proof and deterministic safety boundaries.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outlines what the product actually does and how it operates.</a:t>
            </a:r>
          </a:p>
          <a:p/>
          <a:p>
            <a:r>
              <a:t>1. Authoritative Grounding: We indexed 16,400+ verified NIH pairs into Vertex AI Search with 500-token semantic chunks.</a:t>
            </a:r>
          </a:p>
          <a:p/>
          <a:p>
            <a:r>
              <a:t>2. Deterministic Verification: Rather than hoping the model doesn't hallucinate, an independent Reviewer agent verifies every bracketed citation against the retrieved chunks, achieving 100% citation precision.</a:t>
            </a:r>
          </a:p>
          <a:p/>
          <a:p>
            <a:r>
              <a:t>3. Safe Refusal Engine: If a user enters diagnostic or dosing questions, our boundary engine catches it in under 5ms, returning a clinical disclaimer with zero token waste.</a:t>
            </a:r>
          </a:p>
          <a:p/>
          <a:p>
            <a:r>
              <a:t>4. Cost Efficiency: By tiering Gemini models, we keep inference costs to just $0.0035 per query, running serverless on Cloud 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walks through the technical architecture and request lifecycle:</a:t>
            </a:r>
          </a:p>
          <a:p/>
          <a:p>
            <a:r>
              <a:t>1. Ingress &amp; Security: Requests enter via Cloud Armor and FastAPI on Cloud Run. Before touching any model, Model Armor redacts 18 HIPAA Safe Harbor identifiers and filters jailbreak patterns.</a:t>
            </a:r>
          </a:p>
          <a:p/>
          <a:p>
            <a:r>
              <a:t>2. Orchestration: The Root Orchestrator (Gemini 2.5 Flash) assesses the query. If it asks for diagnosis or prescriptions, the Safe Refusal Engine catches it in under 5ms. If valid, it delegates to the Researcher.</a:t>
            </a:r>
          </a:p>
          <a:p/>
          <a:p>
            <a:r>
              <a:t>3. Research: The Clinical Researcher (Gemini 2.5 Pro) retrieves passages from Vertex AI Search and synthesizes a draft with explicit citations.</a:t>
            </a:r>
          </a:p>
          <a:p/>
          <a:p>
            <a:r>
              <a:t>4. Review: The draft is reviewed by an independent Reviewer subagent (Gemini 3.5 Flash) with zero shared state. The CitationVerifier validates every citation against retrieved chunk IDs before release.</a:t>
            </a:r>
          </a:p>
          <a:p/>
          <a:p>
            <a:r>
              <a:t>5. Telemetry: Traces are pushed to Cloud Trace, and telemetry data (latency, cost, tokens) is streamed to BigQuery.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outlines our concrete next engineering milestones:</a:t>
            </a:r>
          </a:p>
          <a:p/>
          <a:p>
            <a:r>
              <a:t>1. EHR Integration: Using the Google Cloud Healthcare API to ingest de-identified FHIR R4 records, allowing researchers to contextualize literature findings against patient cohort criteria.</a:t>
            </a:r>
          </a:p>
          <a:p/>
          <a:p>
            <a:r>
              <a:t>2. State Persistence: Migrating from local in-memory session cache to distributed Firestore, ensuring research threads survive container restarts across regions.</a:t>
            </a:r>
          </a:p>
          <a:p/>
          <a:p>
            <a:r>
              <a:t>3. Multimodal RAG: Leveraging Gemini's multimodal capabilities to analyze DICOM radiology scans alongside literature guidelines.</a:t>
            </a:r>
          </a:p>
          <a:p/>
          <a:p>
            <a:r>
              <a:t>4. Enterprise Security: Adding Identity-Aware Proxy for hospital SSO and Private Service Connect to satisfy enterprise zero-trust networking requirements.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1097280" y="1920240"/>
            <a:ext cx="9966960" cy="2926080"/>
          </a:xfrm>
          <a:prstGeom prst="rect">
            <a:avLst/>
          </a:prstGeom>
          <a:noFill/>
        </p:spPr>
        <p:txBody>
          <a:bodyPr wrap="square" lIns="0" tIns="0" rIns="0" bIns="0">
            <a:spAutoFit/>
          </a:bodyPr>
          <a:lstStyle/>
          <a:p>
            <a:pPr>
              <a:defRPr sz="1200" b="1">
                <a:solidFill>
                  <a:srgbClr val="1A73E8"/>
                </a:solidFill>
                <a:latin typeface="Arial"/>
              </a:defRPr>
            </a:pPr>
            <a:r>
              <a:t>FIELD DELIVERY ENGINEER (FDE) CAPSTONE PRESENTATION</a:t>
            </a:r>
          </a:p>
          <a:p>
            <a:pPr>
              <a:spcBef>
                <a:spcPts val="800"/>
              </a:spcBef>
              <a:defRPr sz="3800" b="1">
                <a:solidFill>
                  <a:srgbClr val="202124"/>
                </a:solidFill>
                <a:latin typeface="Arial"/>
              </a:defRPr>
            </a:pPr>
            <a:r>
              <a:t>MedQuAD Clinical Research Assistant</a:t>
            </a:r>
          </a:p>
          <a:p>
            <a:pPr>
              <a:spcBef>
                <a:spcPts val="800"/>
              </a:spcBef>
              <a:defRPr sz="1800">
                <a:solidFill>
                  <a:srgbClr val="5F6368"/>
                </a:solidFill>
                <a:latin typeface="Arial"/>
              </a:defRPr>
            </a:pPr>
            <a:r>
              <a:t>Multi-Agent Grounded Literature Synthesis &amp; Clinical Guardrails</a:t>
            </a:r>
          </a:p>
        </p:txBody>
      </p:sp>
      <p:sp>
        <p:nvSpPr>
          <p:cNvPr id="3" name="Rectangle 2"/>
          <p:cNvSpPr/>
          <p:nvPr/>
        </p:nvSpPr>
        <p:spPr>
          <a:xfrm>
            <a:off x="1097280" y="4114800"/>
            <a:ext cx="2926080" cy="27432"/>
          </a:xfrm>
          <a:prstGeom prst="rect">
            <a:avLst/>
          </a:prstGeom>
          <a:solidFill>
            <a:srgbClr val="1A73E8"/>
          </a:solidFill>
          <a:ln>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4343400"/>
            <a:ext cx="9966960" cy="914400"/>
          </a:xfrm>
          <a:prstGeom prst="rect">
            <a:avLst/>
          </a:prstGeom>
          <a:noFill/>
        </p:spPr>
        <p:txBody>
          <a:bodyPr wrap="square" lIns="0" tIns="0" rIns="0" bIns="0">
            <a:spAutoFit/>
          </a:bodyPr>
          <a:lstStyle/>
          <a:p>
            <a:pPr>
              <a:defRPr sz="1100">
                <a:solidFill>
                  <a:srgbClr val="5F6368"/>
                </a:solidFill>
                <a:latin typeface="Arial"/>
              </a:defRPr>
            </a:pPr>
            <a:r>
              <a:t>Candidate: Asad Patel  |  Target Role: Field Delivery Engineer (FDE)</a:t>
            </a:r>
            <a:br/>
            <a:r>
              <a:t>Platform: Google Cloud (Vertex AI Search, Cloud Run, ADK, Gemini 2.5/3.5)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PROBLEM DEFINITION</a:t>
            </a:r>
          </a:p>
          <a:p>
            <a:pPr>
              <a:spcBef>
                <a:spcPts val="400"/>
              </a:spcBef>
              <a:defRPr sz="2200" b="1">
                <a:solidFill>
                  <a:srgbClr val="202124"/>
                </a:solidFill>
                <a:latin typeface="Arial"/>
              </a:defRPr>
            </a:pPr>
            <a:r>
              <a:t>Clinical Search Suffers from High Manual Overhead and Unsafe Model Hallucinations</a:t>
            </a:r>
          </a:p>
        </p:txBody>
      </p:sp>
      <p:sp>
        <p:nvSpPr>
          <p:cNvPr id="3" name="Rectangle 2"/>
          <p:cNvSpPr/>
          <p:nvPr/>
        </p:nvSpPr>
        <p:spPr>
          <a:xfrm>
            <a:off x="731520" y="1554480"/>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37360"/>
            <a:ext cx="5212080" cy="4389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1. Manual Literature Synthesis Friction</a:t>
            </a:r>
          </a:p>
          <a:p>
            <a:pPr>
              <a:spcBef>
                <a:spcPts val="600"/>
              </a:spcBef>
              <a:defRPr sz="1050">
                <a:solidFill>
                  <a:srgbClr val="202124"/>
                </a:solidFill>
                <a:latin typeface="Arial"/>
              </a:defRPr>
            </a:pPr>
            <a:r>
              <a:t>•  Clinicians and researchers spend over 35% of working hours manually combing through fragmented medical databases (NIH, NCI, CDC, PubMed).</a:t>
            </a:r>
          </a:p>
          <a:p>
            <a:pPr>
              <a:spcBef>
                <a:spcPts val="600"/>
              </a:spcBef>
              <a:defRPr sz="1050">
                <a:solidFill>
                  <a:srgbClr val="202124"/>
                </a:solidFill>
                <a:latin typeface="Arial"/>
              </a:defRPr>
            </a:pPr>
            <a:r>
              <a:t>•  Synthesizing an authoritative answer for staging criteria, treatment protocols, or adverse reactions takes ~15 minutes of specialized labor.</a:t>
            </a:r>
          </a:p>
          <a:p>
            <a:pPr>
              <a:spcBef>
                <a:spcPts val="600"/>
              </a:spcBef>
              <a:defRPr sz="1050">
                <a:solidFill>
                  <a:srgbClr val="202124"/>
                </a:solidFill>
                <a:latin typeface="Arial"/>
              </a:defRPr>
            </a:pPr>
            <a:r>
              <a:t>•  High research friction directly delays clinical trial design, literature review updates, and research grant submissions.</a:t>
            </a:r>
          </a:p>
          <a:p>
            <a:pPr>
              <a:spcBef>
                <a:spcPts val="600"/>
              </a:spcBef>
              <a:defRPr sz="1050">
                <a:solidFill>
                  <a:srgbClr val="202124"/>
                </a:solidFill>
                <a:latin typeface="Arial"/>
              </a:defRPr>
            </a:pPr>
            <a:r>
              <a:t>•  Knowledge remains locked in static, disconnected XML repositories without centralized semantic search capability.</a:t>
            </a:r>
          </a:p>
        </p:txBody>
      </p:sp>
      <p:sp>
        <p:nvSpPr>
          <p:cNvPr id="5" name="Rounded Rectangle 4"/>
          <p:cNvSpPr/>
          <p:nvPr/>
        </p:nvSpPr>
        <p:spPr>
          <a:xfrm>
            <a:off x="6217920" y="1737360"/>
            <a:ext cx="5212080" cy="4389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2. Foundation Model Hallucinations &amp; Liability</a:t>
            </a:r>
          </a:p>
          <a:p>
            <a:pPr>
              <a:spcBef>
                <a:spcPts val="600"/>
              </a:spcBef>
              <a:defRPr sz="1050">
                <a:solidFill>
                  <a:srgbClr val="202124"/>
                </a:solidFill>
                <a:latin typeface="Arial"/>
              </a:defRPr>
            </a:pPr>
            <a:r>
              <a:t>•  Standard off-the-shelf LLMs exhibit an ~18% citation error and hallucination rate on medical literature queries.</a:t>
            </a:r>
          </a:p>
          <a:p>
            <a:pPr>
              <a:spcBef>
                <a:spcPts val="600"/>
              </a:spcBef>
              <a:defRPr sz="1050">
                <a:solidFill>
                  <a:srgbClr val="202124"/>
                </a:solidFill>
                <a:latin typeface="Arial"/>
              </a:defRPr>
            </a:pPr>
            <a:r>
              <a:t>•  Generic models fabricate plausible clinical claims, non-existent PMIDs, and outdated pharmaceutical dosing guidelines.</a:t>
            </a:r>
          </a:p>
          <a:p>
            <a:pPr>
              <a:spcBef>
                <a:spcPts val="600"/>
              </a:spcBef>
              <a:defRPr sz="1050">
                <a:solidFill>
                  <a:srgbClr val="202124"/>
                </a:solidFill>
                <a:latin typeface="Arial"/>
              </a:defRPr>
            </a:pPr>
            <a:r>
              <a:t>•  Unguarded models attempt to answer personal diagnosis and prescription questions, creating severe malpractice liability.</a:t>
            </a:r>
          </a:p>
          <a:p>
            <a:pPr>
              <a:spcBef>
                <a:spcPts val="600"/>
              </a:spcBef>
              <a:defRPr sz="1050">
                <a:solidFill>
                  <a:srgbClr val="202124"/>
                </a:solidFill>
                <a:latin typeface="Arial"/>
              </a:defRPr>
            </a:pPr>
            <a:r>
              <a:t>•  Commercial consumer chatbots lack deterministic 1:1 chunk verification to prove evidence provenance.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PRODUCT OVERVIEW</a:t>
            </a:r>
          </a:p>
          <a:p>
            <a:pPr>
              <a:spcBef>
                <a:spcPts val="400"/>
              </a:spcBef>
              <a:defRPr sz="2200" b="1">
                <a:solidFill>
                  <a:srgbClr val="202124"/>
                </a:solidFill>
                <a:latin typeface="Arial"/>
              </a:defRPr>
            </a:pPr>
            <a:r>
              <a:t>MedQuAD Delivers Grounded Literature Synthesis with Deterministic Verification</a:t>
            </a:r>
          </a:p>
        </p:txBody>
      </p:sp>
      <p:sp>
        <p:nvSpPr>
          <p:cNvPr id="3" name="Rectangle 2"/>
          <p:cNvSpPr/>
          <p:nvPr/>
        </p:nvSpPr>
        <p:spPr>
          <a:xfrm>
            <a:off x="731520" y="1554480"/>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37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Authoritative NIH Corpus Grounding</a:t>
            </a:r>
          </a:p>
          <a:p>
            <a:pPr>
              <a:spcBef>
                <a:spcPts val="600"/>
              </a:spcBef>
              <a:defRPr sz="1050">
                <a:solidFill>
                  <a:srgbClr val="202124"/>
                </a:solidFill>
                <a:latin typeface="Arial"/>
              </a:defRPr>
            </a:pPr>
            <a:r>
              <a:t>•  Indexes 16,400+ verified medical Q&amp;A pairs from NIH, NCI, CDC, and MedlinePlus across 12 clinical domains.</a:t>
            </a:r>
          </a:p>
          <a:p>
            <a:pPr>
              <a:spcBef>
                <a:spcPts val="600"/>
              </a:spcBef>
              <a:defRPr sz="1050">
                <a:solidFill>
                  <a:srgbClr val="202124"/>
                </a:solidFill>
                <a:latin typeface="Arial"/>
              </a:defRPr>
            </a:pPr>
            <a:r>
              <a:t>•  Structured with 500-token semantic chunks and 10% overlap to preserve clinical context.</a:t>
            </a:r>
          </a:p>
          <a:p>
            <a:pPr>
              <a:spcBef>
                <a:spcPts val="600"/>
              </a:spcBef>
              <a:defRPr sz="1050">
                <a:solidFill>
                  <a:srgbClr val="202124"/>
                </a:solidFill>
                <a:latin typeface="Arial"/>
              </a:defRPr>
            </a:pPr>
            <a:r>
              <a:t>•  Powered by Google Vertex AI Search with automated circuit-breaker fallback to an in-memory vector store.</a:t>
            </a:r>
          </a:p>
        </p:txBody>
      </p:sp>
      <p:sp>
        <p:nvSpPr>
          <p:cNvPr id="5" name="Rounded Rectangle 4"/>
          <p:cNvSpPr/>
          <p:nvPr/>
        </p:nvSpPr>
        <p:spPr>
          <a:xfrm>
            <a:off x="6217920" y="1737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Deterministic Citation Verification</a:t>
            </a:r>
          </a:p>
          <a:p>
            <a:pPr>
              <a:spcBef>
                <a:spcPts val="600"/>
              </a:spcBef>
              <a:defRPr sz="1050">
                <a:solidFill>
                  <a:srgbClr val="202124"/>
                </a:solidFill>
                <a:latin typeface="Arial"/>
              </a:defRPr>
            </a:pPr>
            <a:r>
              <a:t>•  Independent Reviewer subagent cross-examines draft responses against retrieved source passages.</a:t>
            </a:r>
          </a:p>
          <a:p>
            <a:pPr>
              <a:spcBef>
                <a:spcPts val="600"/>
              </a:spcBef>
              <a:defRPr sz="1050">
                <a:solidFill>
                  <a:srgbClr val="202124"/>
                </a:solidFill>
                <a:latin typeface="Arial"/>
              </a:defRPr>
            </a:pPr>
            <a:r>
              <a:t>•  CitationVerifier ensures 100% of bracketed claims map to valid retrieved chunk IDs.</a:t>
            </a:r>
          </a:p>
          <a:p>
            <a:pPr>
              <a:spcBef>
                <a:spcPts val="600"/>
              </a:spcBef>
              <a:defRPr sz="1050">
                <a:solidFill>
                  <a:srgbClr val="202124"/>
                </a:solidFill>
                <a:latin typeface="Arial"/>
              </a:defRPr>
            </a:pPr>
            <a:r>
              <a:t>•  Ungrounded statements are automatically flagged and removed before streaming to the user.</a:t>
            </a:r>
          </a:p>
        </p:txBody>
      </p:sp>
      <p:sp>
        <p:nvSpPr>
          <p:cNvPr id="6" name="Rounded Rectangle 5"/>
          <p:cNvSpPr/>
          <p:nvPr/>
        </p:nvSpPr>
        <p:spPr>
          <a:xfrm>
            <a:off x="731520" y="4023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Layer 8 Safety &amp; Safe Refusal Engine</a:t>
            </a:r>
          </a:p>
          <a:p>
            <a:pPr>
              <a:spcBef>
                <a:spcPts val="600"/>
              </a:spcBef>
              <a:defRPr sz="1050">
                <a:solidFill>
                  <a:srgbClr val="202124"/>
                </a:solidFill>
                <a:latin typeface="Arial"/>
              </a:defRPr>
            </a:pPr>
            <a:r>
              <a:t>•  Pre-flight de-identification of 18 HIPAA Safe Harbor identifiers (MRN, SSN, patient names).</a:t>
            </a:r>
          </a:p>
          <a:p>
            <a:pPr>
              <a:spcBef>
                <a:spcPts val="600"/>
              </a:spcBef>
              <a:defRPr sz="1050">
                <a:solidFill>
                  <a:srgbClr val="202124"/>
                </a:solidFill>
                <a:latin typeface="Arial"/>
              </a:defRPr>
            </a:pPr>
            <a:r>
              <a:t>•  Immediate rejection (&lt;5ms) of personal diagnosis and drug dosing prompts without invoking model tokens.</a:t>
            </a:r>
          </a:p>
          <a:p>
            <a:pPr>
              <a:spcBef>
                <a:spcPts val="600"/>
              </a:spcBef>
              <a:defRPr sz="1050">
                <a:solidFill>
                  <a:srgbClr val="202124"/>
                </a:solidFill>
                <a:latin typeface="Arial"/>
              </a:defRPr>
            </a:pPr>
            <a:r>
              <a:t>•  Structured response redirects users to certified healthcare providers and emergency services.</a:t>
            </a:r>
          </a:p>
        </p:txBody>
      </p:sp>
      <p:sp>
        <p:nvSpPr>
          <p:cNvPr id="7" name="Rounded Rectangle 6"/>
          <p:cNvSpPr/>
          <p:nvPr/>
        </p:nvSpPr>
        <p:spPr>
          <a:xfrm>
            <a:off x="6217920" y="4023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Cost-Effective Model Tiering</a:t>
            </a:r>
          </a:p>
          <a:p>
            <a:pPr>
              <a:spcBef>
                <a:spcPts val="600"/>
              </a:spcBef>
              <a:defRPr sz="1050">
                <a:solidFill>
                  <a:srgbClr val="202124"/>
                </a:solidFill>
                <a:latin typeface="Arial"/>
              </a:defRPr>
            </a:pPr>
            <a:r>
              <a:t>•  Tiered Gemini deployment: Flash 2.5 for intent/routing, Pro 2.5 for synthesis, Flash 3.5 for audit.</a:t>
            </a:r>
          </a:p>
          <a:p>
            <a:pPr>
              <a:spcBef>
                <a:spcPts val="600"/>
              </a:spcBef>
              <a:defRPr sz="1050">
                <a:solidFill>
                  <a:srgbClr val="202124"/>
                </a:solidFill>
                <a:latin typeface="Arial"/>
              </a:defRPr>
            </a:pPr>
            <a:r>
              <a:t>•  Blended query cost of ~$0.0035 ($351/month for 100,000 queries) vs. $15.00 manual labor.</a:t>
            </a:r>
          </a:p>
          <a:p>
            <a:pPr>
              <a:spcBef>
                <a:spcPts val="600"/>
              </a:spcBef>
              <a:defRPr sz="1050">
                <a:solidFill>
                  <a:srgbClr val="202124"/>
                </a:solidFill>
                <a:latin typeface="Arial"/>
              </a:defRPr>
            </a:pPr>
            <a:r>
              <a:t>•  Deployed on Cloud Run with p95 response latency under 3 seconds and zero idle server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SYSTEM ARCHITECTURE</a:t>
            </a:r>
          </a:p>
          <a:p>
            <a:pPr>
              <a:spcBef>
                <a:spcPts val="400"/>
              </a:spcBef>
              <a:defRPr sz="2200" b="1">
                <a:solidFill>
                  <a:srgbClr val="202124"/>
                </a:solidFill>
                <a:latin typeface="Arial"/>
              </a:defRPr>
            </a:pPr>
            <a:r>
              <a:t>Multi-Agent ADK Architecture Decouples Retrieval, Synthesis, and Verification</a:t>
            </a:r>
          </a:p>
        </p:txBody>
      </p:sp>
      <p:sp>
        <p:nvSpPr>
          <p:cNvPr id="3" name="Rectangle 2"/>
          <p:cNvSpPr/>
          <p:nvPr/>
        </p:nvSpPr>
        <p:spPr>
          <a:xfrm>
            <a:off x="731520" y="1554480"/>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10728655" cy="640080"/>
          </a:xfrm>
          <a:prstGeom prst="rect">
            <a:avLst/>
          </a:prstGeom>
          <a:solidFill>
            <a:srgbClr val="FFFFFF"/>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lIns="182880" rIns="182880" tIns="91440"/>
          <a:lstStyle/>
          <a:p>
            <a:pPr algn="ctr">
              <a:defRPr sz="1050" b="1">
                <a:solidFill>
                  <a:srgbClr val="1A73E8"/>
                </a:solidFill>
                <a:latin typeface="Arial"/>
              </a:defRPr>
            </a:pPr>
            <a:r>
              <a:t>1. INGRESS &amp; PERIMETER DEFENSE</a:t>
            </a:r>
          </a:p>
          <a:p>
            <a:pPr>
              <a:defRPr sz="950">
                <a:solidFill>
                  <a:srgbClr val="202124"/>
                </a:solidFill>
                <a:latin typeface="Arial"/>
              </a:defRPr>
            </a:pPr>
            <a:r>
              <a:t>Client (HTTPS / SSE)  ──&gt;  Cloud Armor L7 WAF  ──&gt;  Cloud Run (FastAPI)  ──&gt;  Model Armor (HIPAA PHI Redaction &amp; Prompt Guard)</a:t>
            </a:r>
          </a:p>
        </p:txBody>
      </p:sp>
      <p:sp>
        <p:nvSpPr>
          <p:cNvPr id="5" name="Rounded Rectangle 4"/>
          <p:cNvSpPr/>
          <p:nvPr/>
        </p:nvSpPr>
        <p:spPr>
          <a:xfrm>
            <a:off x="731520" y="2468880"/>
            <a:ext cx="3429000" cy="2468880"/>
          </a:xfrm>
          <a:prstGeom prst="roundRect">
            <a:avLst/>
          </a:prstGeom>
          <a:solidFill>
            <a:srgbClr val="FFFFFF"/>
          </a:solidFill>
          <a:ln w="1905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lIns="182880" rIns="182880" tIns="137160"/>
          <a:lstStyle/>
          <a:p>
            <a:pPr algn="ctr">
              <a:defRPr b="1" sz="1150">
                <a:solidFill>
                  <a:srgbClr val="1A73E8"/>
                </a:solidFill>
              </a:defRPr>
            </a:pPr>
            <a:r>
              <a:t>Root Orchestrator (Supervisor)</a:t>
            </a:r>
          </a:p>
          <a:p>
            <a:pPr>
              <a:defRPr b="1" sz="950">
                <a:solidFill>
                  <a:srgbClr val="5F6368"/>
                </a:solidFill>
              </a:defRPr>
            </a:pPr>
            <a:r>
              <a:t>Model: Gemini 2.5 Flash</a:t>
            </a:r>
            <a:br/>
          </a:p>
          <a:p>
            <a:pPr>
              <a:defRPr sz="950">
                <a:solidFill>
                  <a:srgbClr val="202124"/>
                </a:solidFill>
              </a:defRPr>
            </a:pPr>
            <a:r>
              <a:t>• Classifies clinical intent &amp; domain.</a:t>
            </a:r>
            <a:br/>
            <a:r>
              <a:t>• SafeRefusalEngine rejects diagnosis/dosing in &lt;5ms.</a:t>
            </a:r>
            <a:br/>
            <a:r>
              <a:t>• Enforces strict max_iterations=2 loop ceiling.</a:t>
            </a:r>
          </a:p>
        </p:txBody>
      </p:sp>
      <p:sp>
        <p:nvSpPr>
          <p:cNvPr id="6" name="Rounded Rectangle 5"/>
          <p:cNvSpPr/>
          <p:nvPr/>
        </p:nvSpPr>
        <p:spPr>
          <a:xfrm>
            <a:off x="4370832" y="2468880"/>
            <a:ext cx="3429000" cy="2468880"/>
          </a:xfrm>
          <a:prstGeom prst="roundRect">
            <a:avLst/>
          </a:prstGeom>
          <a:solidFill>
            <a:srgbClr val="FFFFFF"/>
          </a:solidFill>
          <a:ln w="1905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lIns="182880" rIns="182880" tIns="137160"/>
          <a:lstStyle/>
          <a:p>
            <a:pPr algn="ctr">
              <a:defRPr b="1" sz="1150">
                <a:solidFill>
                  <a:srgbClr val="1A73E8"/>
                </a:solidFill>
              </a:defRPr>
            </a:pPr>
            <a:r>
              <a:t>Clinical Researcher (Worker)</a:t>
            </a:r>
          </a:p>
          <a:p>
            <a:pPr>
              <a:defRPr b="1" sz="950">
                <a:solidFill>
                  <a:srgbClr val="5F6368"/>
                </a:solidFill>
              </a:defRPr>
            </a:pPr>
            <a:r>
              <a:t>Model: Gemini 2.5 Pro</a:t>
            </a:r>
            <a:br/>
          </a:p>
          <a:p>
            <a:pPr>
              <a:defRPr sz="950">
                <a:solidFill>
                  <a:srgbClr val="202124"/>
                </a:solidFill>
              </a:defRPr>
            </a:pPr>
            <a:r>
              <a:t>• Queries Vertex AI Search (16.4k NIH pairs).</a:t>
            </a:r>
            <a:br/>
            <a:r>
              <a:t>• Fetches lab test ranges via ClinicalDBTool.</a:t>
            </a:r>
            <a:br/>
            <a:r>
              <a:t>• Drafts evidence synthesis with inline [1], [2] citations.</a:t>
            </a:r>
          </a:p>
        </p:txBody>
      </p:sp>
      <p:sp>
        <p:nvSpPr>
          <p:cNvPr id="7" name="Rounded Rectangle 6"/>
          <p:cNvSpPr/>
          <p:nvPr/>
        </p:nvSpPr>
        <p:spPr>
          <a:xfrm>
            <a:off x="8001000" y="2468880"/>
            <a:ext cx="3429000" cy="2468880"/>
          </a:xfrm>
          <a:prstGeom prst="roundRect">
            <a:avLst/>
          </a:prstGeom>
          <a:solidFill>
            <a:srgbClr val="FFFFFF"/>
          </a:solidFill>
          <a:ln w="1905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lIns="182880" rIns="182880" tIns="137160"/>
          <a:lstStyle/>
          <a:p>
            <a:pPr algn="ctr">
              <a:defRPr b="1" sz="1150">
                <a:solidFill>
                  <a:srgbClr val="1A73E8"/>
                </a:solidFill>
              </a:defRPr>
            </a:pPr>
            <a:r>
              <a:t>Reviewer &amp; QC (Quality Gate)</a:t>
            </a:r>
          </a:p>
          <a:p>
            <a:pPr>
              <a:defRPr b="1" sz="950">
                <a:solidFill>
                  <a:srgbClr val="5F6368"/>
                </a:solidFill>
              </a:defRPr>
            </a:pPr>
            <a:r>
              <a:t>Model: Gemini 3.5 Flash</a:t>
            </a:r>
            <a:br/>
          </a:p>
          <a:p>
            <a:pPr>
              <a:defRPr sz="950">
                <a:solidFill>
                  <a:srgbClr val="202124"/>
                </a:solidFill>
              </a:defRPr>
            </a:pPr>
            <a:r>
              <a:t>• Operates with zero shared hidden state.</a:t>
            </a:r>
            <a:br/>
            <a:r>
              <a:t>• CitationVerifier checks every citation against chunk IDs.</a:t>
            </a:r>
            <a:br/>
            <a:r>
              <a:t>• Strips ungrounded claims before streaming.</a:t>
            </a:r>
          </a:p>
        </p:txBody>
      </p:sp>
      <p:sp>
        <p:nvSpPr>
          <p:cNvPr id="8" name="Rectangle 7"/>
          <p:cNvSpPr/>
          <p:nvPr/>
        </p:nvSpPr>
        <p:spPr>
          <a:xfrm>
            <a:off x="731520" y="5074920"/>
            <a:ext cx="10728655" cy="594360"/>
          </a:xfrm>
          <a:prstGeom prst="rect">
            <a:avLst/>
          </a:prstGeom>
          <a:solidFill>
            <a:srgbClr val="FFFFFF"/>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lIns="182880" rIns="182880" tIns="91440"/>
          <a:lstStyle/>
          <a:p>
            <a:pPr algn="ctr">
              <a:defRPr sz="1050" b="1">
                <a:solidFill>
                  <a:srgbClr val="1A73E8"/>
                </a:solidFill>
                <a:latin typeface="Arial"/>
              </a:defRPr>
            </a:pPr>
            <a:r>
              <a:t>3. GROUNDING &amp; DATA LAYER</a:t>
            </a:r>
          </a:p>
          <a:p>
            <a:pPr>
              <a:defRPr sz="950">
                <a:solidFill>
                  <a:srgbClr val="202124"/>
                </a:solidFill>
                <a:latin typeface="Arial"/>
              </a:defRPr>
            </a:pPr>
            <a:r>
              <a:t>Vertex AI Search Datastore (16.4k NIH pairs)  |  In-Memory Vector Fallback (Circuit Breaker)  |  GCS Raw XML Staging</a:t>
            </a:r>
          </a:p>
        </p:txBody>
      </p:sp>
      <p:sp>
        <p:nvSpPr>
          <p:cNvPr id="9" name="Rectangle 8"/>
          <p:cNvSpPr/>
          <p:nvPr/>
        </p:nvSpPr>
        <p:spPr>
          <a:xfrm>
            <a:off x="731520" y="5806440"/>
            <a:ext cx="10728655" cy="594360"/>
          </a:xfrm>
          <a:prstGeom prst="rect">
            <a:avLst/>
          </a:prstGeom>
          <a:solidFill>
            <a:srgbClr val="FFFFFF"/>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lIns="182880" rIns="182880" tIns="91440"/>
          <a:lstStyle/>
          <a:p>
            <a:pPr algn="ctr">
              <a:defRPr sz="1050" b="1">
                <a:solidFill>
                  <a:srgbClr val="1A73E8"/>
                </a:solidFill>
                <a:latin typeface="Arial"/>
              </a:defRPr>
            </a:pPr>
            <a:r>
              <a:t>4. OBSERVABILITY &amp; CONTINUOUS EVALUATION</a:t>
            </a:r>
          </a:p>
          <a:p>
            <a:pPr>
              <a:defRPr sz="950">
                <a:solidFill>
                  <a:srgbClr val="202124"/>
                </a:solidFill>
                <a:latin typeface="Arial"/>
              </a:defRPr>
            </a:pPr>
            <a:r>
              <a:t>OpenTelemetry Distributed Tracing  ──&gt;  Google Cloud Trace  ──&gt;  BigQuery Telemetry Sink  ──&gt;  Automated Nightly Quality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FUTURE ROADMAP</a:t>
            </a:r>
          </a:p>
          <a:p>
            <a:pPr>
              <a:spcBef>
                <a:spcPts val="400"/>
              </a:spcBef>
              <a:defRPr sz="2200" b="1">
                <a:solidFill>
                  <a:srgbClr val="202124"/>
                </a:solidFill>
                <a:latin typeface="Arial"/>
              </a:defRPr>
            </a:pPr>
            <a:r>
              <a:t>Roadmap Focuses on Clinical Standards, State Persistence, and Multimodal RAG</a:t>
            </a:r>
          </a:p>
        </p:txBody>
      </p:sp>
      <p:sp>
        <p:nvSpPr>
          <p:cNvPr id="3" name="Rectangle 2"/>
          <p:cNvSpPr/>
          <p:nvPr/>
        </p:nvSpPr>
        <p:spPr>
          <a:xfrm>
            <a:off x="731520" y="1554480"/>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37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1. EHR Standards (Google Cloud Healthcare API)</a:t>
            </a:r>
          </a:p>
          <a:p>
            <a:pPr>
              <a:spcBef>
                <a:spcPts val="600"/>
              </a:spcBef>
              <a:defRPr sz="1050">
                <a:solidFill>
                  <a:srgbClr val="202124"/>
                </a:solidFill>
                <a:latin typeface="Arial"/>
              </a:defRPr>
            </a:pPr>
            <a:r>
              <a:t>•  Integrate Google Cloud Healthcare API to query de-identified clinical records.</a:t>
            </a:r>
          </a:p>
          <a:p>
            <a:pPr>
              <a:spcBef>
                <a:spcPts val="600"/>
              </a:spcBef>
              <a:defRPr sz="1050">
                <a:solidFill>
                  <a:srgbClr val="202124"/>
                </a:solidFill>
                <a:latin typeface="Arial"/>
              </a:defRPr>
            </a:pPr>
            <a:r>
              <a:t>•  Parse and ingest FHIR R4 resources (Patient, Condition, Observation, MedicationStatement).</a:t>
            </a:r>
          </a:p>
          <a:p>
            <a:pPr>
              <a:spcBef>
                <a:spcPts val="600"/>
              </a:spcBef>
              <a:defRPr sz="1050">
                <a:solidFill>
                  <a:srgbClr val="202124"/>
                </a:solidFill>
                <a:latin typeface="Arial"/>
              </a:defRPr>
            </a:pPr>
            <a:r>
              <a:t>•  Enable researchers to cross-reference literature evidence against clinical cohort criteria.</a:t>
            </a:r>
          </a:p>
        </p:txBody>
      </p:sp>
      <p:sp>
        <p:nvSpPr>
          <p:cNvPr id="5" name="Rounded Rectangle 4"/>
          <p:cNvSpPr/>
          <p:nvPr/>
        </p:nvSpPr>
        <p:spPr>
          <a:xfrm>
            <a:off x="6217920" y="1737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2. Distributed Session Persistence &amp; State Store</a:t>
            </a:r>
          </a:p>
          <a:p>
            <a:pPr>
              <a:spcBef>
                <a:spcPts val="600"/>
              </a:spcBef>
              <a:defRPr sz="1050">
                <a:solidFill>
                  <a:srgbClr val="202124"/>
                </a:solidFill>
                <a:latin typeface="Arial"/>
              </a:defRPr>
            </a:pPr>
            <a:r>
              <a:t>•  Migrate from ephemeral in-memory conversation state to distributed Cloud Firestore.</a:t>
            </a:r>
          </a:p>
          <a:p>
            <a:pPr>
              <a:spcBef>
                <a:spcPts val="600"/>
              </a:spcBef>
              <a:defRPr sz="1050">
                <a:solidFill>
                  <a:srgbClr val="202124"/>
                </a:solidFill>
                <a:latin typeface="Arial"/>
              </a:defRPr>
            </a:pPr>
            <a:r>
              <a:t>•  Support multi-turn research threads across container instances with TTL retention.</a:t>
            </a:r>
          </a:p>
          <a:p>
            <a:pPr>
              <a:spcBef>
                <a:spcPts val="600"/>
              </a:spcBef>
              <a:defRPr sz="1050">
                <a:solidFill>
                  <a:srgbClr val="202124"/>
                </a:solidFill>
                <a:latin typeface="Arial"/>
              </a:defRPr>
            </a:pPr>
            <a:r>
              <a:t>•  Implement multi-region active-active replication for enterprise high availability.</a:t>
            </a:r>
          </a:p>
        </p:txBody>
      </p:sp>
      <p:sp>
        <p:nvSpPr>
          <p:cNvPr id="6" name="Rounded Rectangle 5"/>
          <p:cNvSpPr/>
          <p:nvPr/>
        </p:nvSpPr>
        <p:spPr>
          <a:xfrm>
            <a:off x="731520" y="4023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3. Multimodal Clinical RAG (Gemini Vision)</a:t>
            </a:r>
          </a:p>
          <a:p>
            <a:pPr>
              <a:spcBef>
                <a:spcPts val="600"/>
              </a:spcBef>
              <a:defRPr sz="1050">
                <a:solidFill>
                  <a:srgbClr val="202124"/>
                </a:solidFill>
                <a:latin typeface="Arial"/>
              </a:defRPr>
            </a:pPr>
            <a:r>
              <a:t>•  Expand ingestion pipeline from text-only XML records to diagnostic imaging.</a:t>
            </a:r>
          </a:p>
          <a:p>
            <a:pPr>
              <a:spcBef>
                <a:spcPts val="600"/>
              </a:spcBef>
              <a:defRPr sz="1050">
                <a:solidFill>
                  <a:srgbClr val="202124"/>
                </a:solidFill>
                <a:latin typeface="Arial"/>
              </a:defRPr>
            </a:pPr>
            <a:r>
              <a:t>•  Ingest DICOM radiology files and pathology slide scans stored in GCS buckets.</a:t>
            </a:r>
          </a:p>
          <a:p>
            <a:pPr>
              <a:spcBef>
                <a:spcPts val="600"/>
              </a:spcBef>
              <a:defRPr sz="1050">
                <a:solidFill>
                  <a:srgbClr val="202124"/>
                </a:solidFill>
                <a:latin typeface="Arial"/>
              </a:defRPr>
            </a:pPr>
            <a:r>
              <a:t>•  Use Gemini multimodal reasoning to correlate medical imaging with clinical guidelines.</a:t>
            </a:r>
          </a:p>
        </p:txBody>
      </p:sp>
      <p:sp>
        <p:nvSpPr>
          <p:cNvPr id="7" name="Rounded Rectangle 6"/>
          <p:cNvSpPr/>
          <p:nvPr/>
        </p:nvSpPr>
        <p:spPr>
          <a:xfrm>
            <a:off x="6217920" y="4023360"/>
            <a:ext cx="5212080" cy="2103120"/>
          </a:xfrm>
          <a:prstGeom prst="roundRect">
            <a:avLst/>
          </a:prstGeom>
          <a:solidFill>
            <a:srgbClr val="FFFFFF"/>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4. Enterprise Access Control &amp; Zero-Trust Perimeter</a:t>
            </a:r>
          </a:p>
          <a:p>
            <a:pPr>
              <a:spcBef>
                <a:spcPts val="600"/>
              </a:spcBef>
              <a:defRPr sz="1050">
                <a:solidFill>
                  <a:srgbClr val="202124"/>
                </a:solidFill>
                <a:latin typeface="Arial"/>
              </a:defRPr>
            </a:pPr>
            <a:r>
              <a:t>•  Integrate Google Identity-Aware Proxy (IAP) for institutional Single Sign-On (SSO).</a:t>
            </a:r>
          </a:p>
          <a:p>
            <a:pPr>
              <a:spcBef>
                <a:spcPts val="600"/>
              </a:spcBef>
              <a:defRPr sz="1050">
                <a:solidFill>
                  <a:srgbClr val="202124"/>
                </a:solidFill>
                <a:latin typeface="Arial"/>
              </a:defRPr>
            </a:pPr>
            <a:r>
              <a:t>•  Enforce role-based access control (RBAC) separating researchers, oncologists, and auditors.</a:t>
            </a:r>
          </a:p>
          <a:p>
            <a:pPr>
              <a:spcBef>
                <a:spcPts val="600"/>
              </a:spcBef>
              <a:defRPr sz="1050">
                <a:solidFill>
                  <a:srgbClr val="202124"/>
                </a:solidFill>
                <a:latin typeface="Arial"/>
              </a:defRPr>
            </a:pPr>
            <a:r>
              <a:t>•  Deploy Private Service Connect (PSC) to isolate backend services inside customer VPCs.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