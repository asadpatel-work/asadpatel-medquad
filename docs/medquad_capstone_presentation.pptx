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outlines the core problem we set out to solve.</a:t>
            </a:r>
          </a:p>
          <a:p/>
          <a:p>
            <a:r>
              <a:t>In healthcare, researchers and clinicians face two distinct failure modes when answering clinical questions:</a:t>
            </a:r>
          </a:p>
          <a:p/>
          <a:p>
            <a:r>
              <a:t>First, manual retrieval is inefficient. Researchers spend more than a third of their time combing through disparate NIH databases, guidelines, and trial registries. A single literature review can easily take 15 minutes of manual labor.</a:t>
            </a:r>
          </a:p>
          <a:p/>
          <a:p>
            <a:r>
              <a:t>Second, simply handing the problem to a generic LLM introduces severe clinical risk. Foundation models hallucinate citations roughly 18% of the time, and unprompted, they will attempt to diagnose or recommend prescriptions, exposing the institution to malpractice liability.</a:t>
            </a:r>
          </a:p>
          <a:p/>
          <a:p>
            <a:r>
              <a:t>The goal of this project is to bridge this gap: automate literature synthesis while guaranteeing 100% citation grounding and enforcing strict clinical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describes the product and what it actually does.</a:t>
            </a:r>
          </a:p>
          <a:p/>
          <a:p>
            <a:r>
              <a:t>The MedQuAD Clinical Assistant is a specialized research tool built on top of 16,400+ authoritative NIH medical records.</a:t>
            </a:r>
          </a:p>
          <a:p/>
          <a:p>
            <a:r>
              <a:t>Here are its four defining technical characteristics:</a:t>
            </a:r>
          </a:p>
          <a:p>
            <a:r>
              <a:t>1. Authoritative Grounding: We chunked and indexed NIH, NCI, and MedlinePlus data using 500-token semantic chunks in Vertex AI Search.</a:t>
            </a:r>
          </a:p>
          <a:p>
            <a:r>
              <a:t>2. Deterministic Verification: Rather than trusting the model to cite accurately, a dedicated Reviewer subagent cross-examines the draft against retrieved chunk IDs. We enforce 100% citation provenance.</a:t>
            </a:r>
          </a:p>
          <a:p>
            <a:r>
              <a:t>3. Layer 8 Guardrails: If a user asks for a personal diagnosis or a prescription dose, our Safe Refusal Engine catches it in under 5 milliseconds and responds with a clinical disclaimer, invoking zero LLM tokens.</a:t>
            </a:r>
          </a:p>
          <a:p>
            <a:r>
              <a:t>4. Practical FinOps: We tiered Gemini models so that routing and review run on lightweight Flash models, reserving Gemini Pro strictly for multi-document synthesis. This brings the total blended cost down to $0.0035 per query.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walks through our multi-agent architecture and request lifecycle.</a:t>
            </a:r>
          </a:p>
          <a:p/>
          <a:p>
            <a:r>
              <a:t>1. Ingress &amp; Security: Requests enter via Cloud Armor and FastAPI on Cloud Run. Before touching any LLM, our Model Armor engine strips 18 HIPAA Safe Harbor identifiers and filters jailbreak patterns.</a:t>
            </a:r>
          </a:p>
          <a:p/>
          <a:p>
            <a:r>
              <a:t>2. Orchestration: The Root Orchestrator (Gemini 2.5 Flash) assesses the request. If the user asks for diagnosis or prescriptions, the Safe Refusal Engine catches it in under 5ms. If it's a valid clinical inquiry, it delegates to the Researcher.</a:t>
            </a:r>
          </a:p>
          <a:p/>
          <a:p>
            <a:r>
              <a:t>3. Research: The Clinical Researcher (Gemini 2.5 Pro) retrieves passages from Vertex AI Search and drafts a synthesis with inline citation brackets.</a:t>
            </a:r>
          </a:p>
          <a:p/>
          <a:p>
            <a:r>
              <a:t>4. Review: Crucially, that draft is sent to an independent Reviewer subagent (Gemini 3.5 Flash) with zero shared state. The CitationVerifier validates each citation against the retrieved chunks. If valid, it is streamed to the user.</a:t>
            </a:r>
          </a:p>
          <a:p/>
          <a:p>
            <a:r>
              <a:t>5. Telemetry: Every span is traced to Google Cloud Trace, and telemetry metrics (latency, token usage, cost) are streamed into BigQuery.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covers our planned technical roadmap and next engineering steps.</a:t>
            </a:r>
          </a:p>
          <a:p/>
          <a:p>
            <a:r>
              <a:t>Now that the core grounded literature engine and multi-agent verification are verified, we have four logical milestones:</a:t>
            </a:r>
          </a:p>
          <a:p/>
          <a:p>
            <a:r>
              <a:t>1. EHR Integration: Utilizing the Google Cloud Healthcare API to ingest de-identified FHIR R4 records, allowing researchers to evaluate literature directly in the context of patient cohorts.</a:t>
            </a:r>
          </a:p>
          <a:p/>
          <a:p>
            <a:r>
              <a:t>2. Persistent Storage: Migrating from local in-memory session cache to multi-region Firestore, ensuring research threads survive container restarts.</a:t>
            </a:r>
          </a:p>
          <a:p/>
          <a:p>
            <a:r>
              <a:t>3. Multimodal RAG: Leveraging Gemini's native multimodal capabilities to analyze DICOM radiology scans alongside literature guidelines.</a:t>
            </a:r>
          </a:p>
          <a:p/>
          <a:p>
            <a:r>
              <a:t>4. Enterprise Security: Adding Identity-Aware Proxy for hospital SSO and Private Service Connect to satisfy enterprise zero-trust networking requirements.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698480" cy="822960"/>
          </a:xfrm>
          <a:prstGeom prst="rect">
            <a:avLst/>
          </a:prstGeom>
          <a:noFill/>
        </p:spPr>
        <p:txBody>
          <a:bodyPr wrap="square" lIns="0" tIns="0" rIns="0" bIns="0">
            <a:spAutoFit/>
          </a:bodyPr>
          <a:lstStyle/>
          <a:p>
            <a:pPr>
              <a:defRPr sz="2400" b="1">
                <a:solidFill>
                  <a:srgbClr val="202124"/>
                </a:solidFill>
                <a:latin typeface="Arial"/>
              </a:defRPr>
            </a:pPr>
            <a:r>
              <a:t>Problem: Clinical Literature Retrieval &amp; Hallucination Risks</a:t>
            </a:r>
          </a:p>
          <a:p>
            <a:pPr>
              <a:defRPr sz="1200">
                <a:solidFill>
                  <a:srgbClr val="5F6368"/>
                </a:solidFill>
                <a:latin typeface="Arial"/>
              </a:defRPr>
            </a:pPr>
            <a:r>
              <a:t>MedQuAD Clinical Research Assistant  |  Capstone Evaluation</a:t>
            </a:r>
          </a:p>
        </p:txBody>
      </p:sp>
      <p:sp>
        <p:nvSpPr>
          <p:cNvPr id="3" name="Rectangle 2"/>
          <p:cNvSpPr/>
          <p:nvPr/>
        </p:nvSpPr>
        <p:spPr>
          <a:xfrm>
            <a:off x="731520" y="1280160"/>
            <a:ext cx="10728655" cy="18288"/>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554480"/>
            <a:ext cx="5212080" cy="45720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1. Manual Literature Synthesis Overhead</a:t>
            </a:r>
          </a:p>
          <a:p>
            <a:pPr>
              <a:spcBef>
                <a:spcPts val="600"/>
              </a:spcBef>
              <a:defRPr sz="1100">
                <a:solidFill>
                  <a:srgbClr val="202124"/>
                </a:solidFill>
                <a:latin typeface="Arial"/>
              </a:defRPr>
            </a:pPr>
            <a:r>
              <a:t>•  Clinicians and researchers spend over 35% of their research time searching disparate medical databases (NIH, NCI, CDC, PubMed).</a:t>
            </a:r>
          </a:p>
          <a:p>
            <a:pPr>
              <a:spcBef>
                <a:spcPts val="600"/>
              </a:spcBef>
              <a:defRPr sz="1100">
                <a:solidFill>
                  <a:srgbClr val="202124"/>
                </a:solidFill>
                <a:latin typeface="Arial"/>
              </a:defRPr>
            </a:pPr>
            <a:r>
              <a:t>•  Manual collation of staging criteria, treatment protocols, and adverse reactions is slow and error-prone.</a:t>
            </a:r>
          </a:p>
          <a:p>
            <a:pPr>
              <a:spcBef>
                <a:spcPts val="600"/>
              </a:spcBef>
              <a:defRPr sz="1100">
                <a:solidFill>
                  <a:srgbClr val="202124"/>
                </a:solidFill>
                <a:latin typeface="Arial"/>
              </a:defRPr>
            </a:pPr>
            <a:r>
              <a:t>•  Synthesizing an authoritative answer to a complex clinical question takes an average of 15 minutes of specialized clinician time.</a:t>
            </a:r>
          </a:p>
          <a:p>
            <a:pPr>
              <a:spcBef>
                <a:spcPts val="600"/>
              </a:spcBef>
              <a:defRPr sz="1100">
                <a:solidFill>
                  <a:srgbClr val="202124"/>
                </a:solidFill>
                <a:latin typeface="Arial"/>
              </a:defRPr>
            </a:pPr>
            <a:r>
              <a:t>•  Information is fragmented across thousands of static XML and PDF files without unified semantic indexing.</a:t>
            </a:r>
          </a:p>
        </p:txBody>
      </p:sp>
      <p:sp>
        <p:nvSpPr>
          <p:cNvPr id="5" name="Rounded Rectangle 4"/>
          <p:cNvSpPr/>
          <p:nvPr/>
        </p:nvSpPr>
        <p:spPr>
          <a:xfrm>
            <a:off x="6217920" y="1554480"/>
            <a:ext cx="5212080" cy="457200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2. LLM Hallucinations &amp; Clinical Liability</a:t>
            </a:r>
          </a:p>
          <a:p>
            <a:pPr>
              <a:spcBef>
                <a:spcPts val="600"/>
              </a:spcBef>
              <a:defRPr sz="1100">
                <a:solidFill>
                  <a:srgbClr val="202124"/>
                </a:solidFill>
                <a:latin typeface="Arial"/>
              </a:defRPr>
            </a:pPr>
            <a:r>
              <a:t>•  Standard off-the-shelf foundation models exhibit an ~18% citation hallucination rate on biomedical literature queries.</a:t>
            </a:r>
          </a:p>
          <a:p>
            <a:pPr>
              <a:spcBef>
                <a:spcPts val="600"/>
              </a:spcBef>
              <a:defRPr sz="1100">
                <a:solidFill>
                  <a:srgbClr val="202124"/>
                </a:solidFill>
                <a:latin typeface="Arial"/>
              </a:defRPr>
            </a:pPr>
            <a:r>
              <a:t>•  Commercial chatbots generate plausible-sounding but fictitious medical claims, fabricated journal links, and obsolete dosing advice.</a:t>
            </a:r>
          </a:p>
          <a:p>
            <a:pPr>
              <a:spcBef>
                <a:spcPts val="600"/>
              </a:spcBef>
              <a:defRPr sz="1100">
                <a:solidFill>
                  <a:srgbClr val="202124"/>
                </a:solidFill>
                <a:latin typeface="Arial"/>
              </a:defRPr>
            </a:pPr>
            <a:r>
              <a:t>•  Unguarded models attempt to diagnose conditions or recommend drug doses from user prompts, creating severe medical liability.</a:t>
            </a:r>
          </a:p>
          <a:p>
            <a:pPr>
              <a:spcBef>
                <a:spcPts val="600"/>
              </a:spcBef>
              <a:defRPr sz="1100">
                <a:solidFill>
                  <a:srgbClr val="202124"/>
                </a:solidFill>
                <a:latin typeface="Arial"/>
              </a:defRPr>
            </a:pPr>
            <a:r>
              <a:t>•  Off-the-shelf models lack a verifiable 1-to-1 provenance mechanism connecting each statement back to an authoritative medical chunk.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698480" cy="822960"/>
          </a:xfrm>
          <a:prstGeom prst="rect">
            <a:avLst/>
          </a:prstGeom>
          <a:noFill/>
        </p:spPr>
        <p:txBody>
          <a:bodyPr wrap="square" lIns="0" tIns="0" rIns="0" bIns="0">
            <a:spAutoFit/>
          </a:bodyPr>
          <a:lstStyle/>
          <a:p>
            <a:pPr>
              <a:defRPr sz="2400" b="1">
                <a:solidFill>
                  <a:srgbClr val="202124"/>
                </a:solidFill>
                <a:latin typeface="Arial"/>
              </a:defRPr>
            </a:pPr>
            <a:r>
              <a:t>Product Overview: MedQuAD Clinical Research Assistant</a:t>
            </a:r>
          </a:p>
          <a:p>
            <a:pPr>
              <a:defRPr sz="1200">
                <a:solidFill>
                  <a:srgbClr val="5F6368"/>
                </a:solidFill>
                <a:latin typeface="Arial"/>
              </a:defRPr>
            </a:pPr>
            <a:r>
              <a:t>Grounded Multi-Agent Clinical Question Answering System</a:t>
            </a:r>
          </a:p>
        </p:txBody>
      </p:sp>
      <p:sp>
        <p:nvSpPr>
          <p:cNvPr id="3" name="Rectangle 2"/>
          <p:cNvSpPr/>
          <p:nvPr/>
        </p:nvSpPr>
        <p:spPr>
          <a:xfrm>
            <a:off x="731520" y="1280160"/>
            <a:ext cx="10728655" cy="18288"/>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554480"/>
            <a:ext cx="5212080" cy="219456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Authoritative NIH Corpus Grounding</a:t>
            </a:r>
          </a:p>
          <a:p>
            <a:pPr>
              <a:spcBef>
                <a:spcPts val="600"/>
              </a:spcBef>
              <a:defRPr sz="1100">
                <a:solidFill>
                  <a:srgbClr val="202124"/>
                </a:solidFill>
                <a:latin typeface="Arial"/>
              </a:defRPr>
            </a:pPr>
            <a:r>
              <a:t>•  Indexes 16,400+ verified medical Q&amp;A pairs from NIH, NCI, CDC, and MedlinePlus.</a:t>
            </a:r>
          </a:p>
          <a:p>
            <a:pPr>
              <a:spcBef>
                <a:spcPts val="600"/>
              </a:spcBef>
              <a:defRPr sz="1100">
                <a:solidFill>
                  <a:srgbClr val="202124"/>
                </a:solidFill>
                <a:latin typeface="Arial"/>
              </a:defRPr>
            </a:pPr>
            <a:r>
              <a:t>•  Preprocessed with 500-token semantic chunking and 10% overlap to preserve clinical context.</a:t>
            </a:r>
          </a:p>
          <a:p>
            <a:pPr>
              <a:spcBef>
                <a:spcPts val="600"/>
              </a:spcBef>
              <a:defRPr sz="1100">
                <a:solidFill>
                  <a:srgbClr val="202124"/>
                </a:solidFill>
                <a:latin typeface="Arial"/>
              </a:defRPr>
            </a:pPr>
            <a:r>
              <a:t>•  Backed by Google Vertex AI Search with automated fallback to an in-memory vector store.</a:t>
            </a:r>
          </a:p>
        </p:txBody>
      </p:sp>
      <p:sp>
        <p:nvSpPr>
          <p:cNvPr id="5" name="Rounded Rectangle 4"/>
          <p:cNvSpPr/>
          <p:nvPr/>
        </p:nvSpPr>
        <p:spPr>
          <a:xfrm>
            <a:off x="6217920" y="1554480"/>
            <a:ext cx="5212080" cy="219456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Deterministic Citation Verification</a:t>
            </a:r>
          </a:p>
          <a:p>
            <a:pPr>
              <a:spcBef>
                <a:spcPts val="600"/>
              </a:spcBef>
              <a:defRPr sz="1100">
                <a:solidFill>
                  <a:srgbClr val="202124"/>
                </a:solidFill>
                <a:latin typeface="Arial"/>
              </a:defRPr>
            </a:pPr>
            <a:r>
              <a:t>•  Every generated statement must map 1:1 to a specific retrieved NIH passage chunk.</a:t>
            </a:r>
          </a:p>
          <a:p>
            <a:pPr>
              <a:spcBef>
                <a:spcPts val="600"/>
              </a:spcBef>
              <a:defRPr sz="1100">
                <a:solidFill>
                  <a:srgbClr val="202124"/>
                </a:solidFill>
                <a:latin typeface="Arial"/>
              </a:defRPr>
            </a:pPr>
            <a:r>
              <a:t>•  A dedicated Reviewer agent audits citations before output is streamed to the user.</a:t>
            </a:r>
          </a:p>
          <a:p>
            <a:pPr>
              <a:spcBef>
                <a:spcPts val="600"/>
              </a:spcBef>
              <a:defRPr sz="1100">
                <a:solidFill>
                  <a:srgbClr val="202124"/>
                </a:solidFill>
                <a:latin typeface="Arial"/>
              </a:defRPr>
            </a:pPr>
            <a:r>
              <a:t>•  Enforces 100% citation precision—unverified statements are flagged or excised.</a:t>
            </a:r>
          </a:p>
        </p:txBody>
      </p:sp>
      <p:sp>
        <p:nvSpPr>
          <p:cNvPr id="6" name="Rounded Rectangle 5"/>
          <p:cNvSpPr/>
          <p:nvPr/>
        </p:nvSpPr>
        <p:spPr>
          <a:xfrm>
            <a:off x="731520" y="3931920"/>
            <a:ext cx="5212080" cy="219456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Layer 8 Safety &amp; Safe Refusal</a:t>
            </a:r>
          </a:p>
          <a:p>
            <a:pPr>
              <a:spcBef>
                <a:spcPts val="600"/>
              </a:spcBef>
              <a:defRPr sz="1100">
                <a:solidFill>
                  <a:srgbClr val="202124"/>
                </a:solidFill>
                <a:latin typeface="Arial"/>
              </a:defRPr>
            </a:pPr>
            <a:r>
              <a:t>•  Immediate interception (&lt;5ms) of personal diagnostic and drug dosing demands.</a:t>
            </a:r>
          </a:p>
          <a:p>
            <a:pPr>
              <a:spcBef>
                <a:spcPts val="600"/>
              </a:spcBef>
              <a:defRPr sz="1100">
                <a:solidFill>
                  <a:srgbClr val="202124"/>
                </a:solidFill>
                <a:latin typeface="Arial"/>
              </a:defRPr>
            </a:pPr>
            <a:r>
              <a:t>•  Pre-flight de-identification of 18 HIPAA Safe Harbor identifiers (MRN, SSN, names).</a:t>
            </a:r>
          </a:p>
          <a:p>
            <a:pPr>
              <a:spcBef>
                <a:spcPts val="600"/>
              </a:spcBef>
              <a:defRPr sz="1100">
                <a:solidFill>
                  <a:srgbClr val="202124"/>
                </a:solidFill>
                <a:latin typeface="Arial"/>
              </a:defRPr>
            </a:pPr>
            <a:r>
              <a:t>•  Returns structured clinical disclaimers and emergency redirection without wasting LLM tokens.</a:t>
            </a:r>
          </a:p>
        </p:txBody>
      </p:sp>
      <p:sp>
        <p:nvSpPr>
          <p:cNvPr id="7" name="Rounded Rectangle 6"/>
          <p:cNvSpPr/>
          <p:nvPr/>
        </p:nvSpPr>
        <p:spPr>
          <a:xfrm>
            <a:off x="6217920" y="3931920"/>
            <a:ext cx="5212080" cy="219456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Efficient Model Tiering &amp; Cloud Run</a:t>
            </a:r>
          </a:p>
          <a:p>
            <a:pPr>
              <a:spcBef>
                <a:spcPts val="600"/>
              </a:spcBef>
              <a:defRPr sz="1100">
                <a:solidFill>
                  <a:srgbClr val="202124"/>
                </a:solidFill>
                <a:latin typeface="Arial"/>
              </a:defRPr>
            </a:pPr>
            <a:r>
              <a:t>•  Tiered Gemini models: Flash 2.5 for routing/safety, Pro 2.5 for synthesis, Flash 3.5 for review.</a:t>
            </a:r>
          </a:p>
          <a:p>
            <a:pPr>
              <a:spcBef>
                <a:spcPts val="600"/>
              </a:spcBef>
              <a:defRPr sz="1100">
                <a:solidFill>
                  <a:srgbClr val="202124"/>
                </a:solidFill>
                <a:latin typeface="Arial"/>
              </a:defRPr>
            </a:pPr>
            <a:r>
              <a:t>•  Blended inference cost of ~$0.0035 per query ($351/mo for 100,000 queries).</a:t>
            </a:r>
          </a:p>
          <a:p>
            <a:pPr>
              <a:spcBef>
                <a:spcPts val="600"/>
              </a:spcBef>
              <a:defRPr sz="1100">
                <a:solidFill>
                  <a:srgbClr val="202124"/>
                </a:solidFill>
                <a:latin typeface="Arial"/>
              </a:defRPr>
            </a:pPr>
            <a:r>
              <a:t>•  Deployed serverless on Google Cloud Run with sub-3s p95 latency and zero cold starts.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698480" cy="822960"/>
          </a:xfrm>
          <a:prstGeom prst="rect">
            <a:avLst/>
          </a:prstGeom>
          <a:noFill/>
        </p:spPr>
        <p:txBody>
          <a:bodyPr wrap="square" lIns="0" tIns="0" rIns="0" bIns="0">
            <a:spAutoFit/>
          </a:bodyPr>
          <a:lstStyle/>
          <a:p>
            <a:pPr>
              <a:defRPr sz="2400" b="1">
                <a:solidFill>
                  <a:srgbClr val="202124"/>
                </a:solidFill>
                <a:latin typeface="Arial"/>
              </a:defRPr>
            </a:pPr>
            <a:r>
              <a:t>System Architecture: ADK Multi-Agent Pipeline</a:t>
            </a:r>
          </a:p>
          <a:p>
            <a:pPr>
              <a:defRPr sz="1200">
                <a:solidFill>
                  <a:srgbClr val="5F6368"/>
                </a:solidFill>
                <a:latin typeface="Arial"/>
              </a:defRPr>
            </a:pPr>
            <a:r>
              <a:t>Supervisor-Worker Topology with Deterministic Validation</a:t>
            </a:r>
          </a:p>
        </p:txBody>
      </p:sp>
      <p:sp>
        <p:nvSpPr>
          <p:cNvPr id="3" name="Rectangle 2"/>
          <p:cNvSpPr/>
          <p:nvPr/>
        </p:nvSpPr>
        <p:spPr>
          <a:xfrm>
            <a:off x="731520" y="1280160"/>
            <a:ext cx="10728655" cy="18288"/>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554480"/>
            <a:ext cx="10698480" cy="685800"/>
          </a:xfrm>
          <a:prstGeom prst="rect">
            <a:avLst/>
          </a:prstGeom>
          <a:solidFill>
            <a:srgbClr val="F8F9FA"/>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1A73E8"/>
                </a:solidFill>
              </a:defRPr>
            </a:pPr>
            <a:r>
              <a:t>1. INGRESS &amp; PERIMETER DEFENSE</a:t>
            </a:r>
          </a:p>
          <a:p>
            <a:pPr>
              <a:defRPr sz="1000">
                <a:solidFill>
                  <a:srgbClr val="202124"/>
                </a:solidFill>
              </a:defRPr>
            </a:pPr>
            <a:r>
              <a:t>Client Request (HTTPS / SSE)  ──&gt;  Cloud Armor L7 WAF  ──&gt;  Cloud Run (FastAPI Gateway)  ──&gt;  Model Armor (HIPAA PHI Redaction &amp; Injection Filter)</a:t>
            </a:r>
          </a:p>
        </p:txBody>
      </p:sp>
      <p:sp>
        <p:nvSpPr>
          <p:cNvPr id="5" name="Rounded Rectangle 4"/>
          <p:cNvSpPr/>
          <p:nvPr/>
        </p:nvSpPr>
        <p:spPr>
          <a:xfrm>
            <a:off x="731520" y="242316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200">
                <a:solidFill>
                  <a:srgbClr val="1A73E8"/>
                </a:solidFill>
              </a:defRPr>
            </a:pPr>
            <a:r>
              <a:t>Root Orchestrator (Supervisor)</a:t>
            </a:r>
          </a:p>
          <a:p>
            <a:pPr>
              <a:defRPr b="1" sz="1000">
                <a:solidFill>
                  <a:srgbClr val="5F6368"/>
                </a:solidFill>
              </a:defRPr>
            </a:pPr>
            <a:r>
              <a:t>Model: Gemini 2.5 Flash</a:t>
            </a:r>
            <a:br/>
          </a:p>
          <a:p>
            <a:pPr>
              <a:defRPr sz="1000">
                <a:solidFill>
                  <a:srgbClr val="202124"/>
                </a:solidFill>
              </a:defRPr>
            </a:pPr>
            <a:r>
              <a:t>• Evaluates user intent &amp; domain.</a:t>
            </a:r>
            <a:br/>
            <a:r>
              <a:t>• SafeRefusalEngine intercepts diagnosis &amp; prescription requests in &lt;5ms.</a:t>
            </a:r>
            <a:br/>
            <a:r>
              <a:t>• Enforces immutable max_iterations=2 loop ceiling to prevent runaway costs.</a:t>
            </a:r>
          </a:p>
        </p:txBody>
      </p:sp>
      <p:sp>
        <p:nvSpPr>
          <p:cNvPr id="6" name="Rounded Rectangle 5"/>
          <p:cNvSpPr/>
          <p:nvPr/>
        </p:nvSpPr>
        <p:spPr>
          <a:xfrm>
            <a:off x="4370832" y="242316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200">
                <a:solidFill>
                  <a:srgbClr val="1A73E8"/>
                </a:solidFill>
              </a:defRPr>
            </a:pPr>
            <a:r>
              <a:t>Clinical Researcher (Worker)</a:t>
            </a:r>
          </a:p>
          <a:p>
            <a:pPr>
              <a:defRPr b="1" sz="1000">
                <a:solidFill>
                  <a:srgbClr val="5F6368"/>
                </a:solidFill>
              </a:defRPr>
            </a:pPr>
            <a:r>
              <a:t>Model: Gemini 2.5 Pro</a:t>
            </a:r>
            <a:br/>
          </a:p>
          <a:p>
            <a:pPr>
              <a:defRPr sz="1000">
                <a:solidFill>
                  <a:srgbClr val="202124"/>
                </a:solidFill>
              </a:defRPr>
            </a:pPr>
            <a:r>
              <a:t>• Executes semantic search across 16.4k NIH MedQuAD passages.</a:t>
            </a:r>
            <a:br/>
            <a:r>
              <a:t>• Queries lab reference ranges via ClinicalDBTool.</a:t>
            </a:r>
            <a:br/>
            <a:r>
              <a:t>• Synthesizes grounded evidence draft with explicit inline [1], [2] citations.</a:t>
            </a:r>
          </a:p>
        </p:txBody>
      </p:sp>
      <p:sp>
        <p:nvSpPr>
          <p:cNvPr id="7" name="Rounded Rectangle 6"/>
          <p:cNvSpPr/>
          <p:nvPr/>
        </p:nvSpPr>
        <p:spPr>
          <a:xfrm>
            <a:off x="8001000" y="2423160"/>
            <a:ext cx="3429000" cy="2468880"/>
          </a:xfrm>
          <a:prstGeom prst="roundRect">
            <a:avLst/>
          </a:prstGeom>
          <a:solidFill>
            <a:srgbClr val="FFFFFF"/>
          </a:solidFill>
          <a:ln w="19050">
            <a:solidFill>
              <a:srgbClr val="1A73E8"/>
            </a:solidFill>
          </a:ln>
        </p:spPr>
        <p:style>
          <a:lnRef idx="1">
            <a:schemeClr val="accent1"/>
          </a:lnRef>
          <a:fillRef idx="3">
            <a:schemeClr val="accent1"/>
          </a:fillRef>
          <a:effectRef idx="2">
            <a:schemeClr val="accent1"/>
          </a:effectRef>
          <a:fontRef idx="minor">
            <a:schemeClr val="lt1"/>
          </a:fontRef>
        </p:style>
        <p:txBody>
          <a:bodyPr rtlCol="0" anchor="ctr" lIns="182880" rIns="182880" tIns="137160"/>
          <a:lstStyle/>
          <a:p>
            <a:pPr algn="ctr">
              <a:defRPr b="1" sz="1200">
                <a:solidFill>
                  <a:srgbClr val="1A73E8"/>
                </a:solidFill>
              </a:defRPr>
            </a:pPr>
            <a:r>
              <a:t>Reviewer &amp; QC (Quality Gate)</a:t>
            </a:r>
          </a:p>
          <a:p>
            <a:pPr>
              <a:defRPr b="1" sz="1000">
                <a:solidFill>
                  <a:srgbClr val="5F6368"/>
                </a:solidFill>
              </a:defRPr>
            </a:pPr>
            <a:r>
              <a:t>Model: Gemini 3.5 Flash</a:t>
            </a:r>
            <a:br/>
          </a:p>
          <a:p>
            <a:pPr>
              <a:defRPr sz="1000">
                <a:solidFill>
                  <a:srgbClr val="202124"/>
                </a:solidFill>
              </a:defRPr>
            </a:pPr>
            <a:r>
              <a:t>• Operates with zero shared hidden state to avoid confirmation bias.</a:t>
            </a:r>
            <a:br/>
            <a:r>
              <a:t>• CitationVerifier: checks that every bracketed citation maps to a valid retrieved chunk ID.</a:t>
            </a:r>
            <a:br/>
            <a:r>
              <a:t>• Blocks ungrounded claims before streaming.</a:t>
            </a:r>
          </a:p>
        </p:txBody>
      </p:sp>
      <p:sp>
        <p:nvSpPr>
          <p:cNvPr id="8" name="Rectangle 7"/>
          <p:cNvSpPr/>
          <p:nvPr/>
        </p:nvSpPr>
        <p:spPr>
          <a:xfrm>
            <a:off x="731520" y="5074920"/>
            <a:ext cx="10698480" cy="594360"/>
          </a:xfrm>
          <a:prstGeom prst="rect">
            <a:avLst/>
          </a:prstGeom>
          <a:solidFill>
            <a:srgbClr val="F8F9FA"/>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1A73E8"/>
                </a:solidFill>
              </a:defRPr>
            </a:pPr>
            <a:r>
              <a:t>3. GROUNDING &amp; DATA LAYER</a:t>
            </a:r>
          </a:p>
          <a:p>
            <a:pPr>
              <a:defRPr sz="1000">
                <a:solidFill>
                  <a:srgbClr val="202124"/>
                </a:solidFill>
              </a:defRPr>
            </a:pPr>
            <a:r>
              <a:t>Vertex AI Search (16,400+ NIH Records)  |  Local In-Memory Vector Fallback (Circuit Breaker)  |  GCS Corpus Bucket</a:t>
            </a:r>
          </a:p>
        </p:txBody>
      </p:sp>
      <p:sp>
        <p:nvSpPr>
          <p:cNvPr id="9" name="Rectangle 8"/>
          <p:cNvSpPr/>
          <p:nvPr/>
        </p:nvSpPr>
        <p:spPr>
          <a:xfrm>
            <a:off x="731520" y="5806440"/>
            <a:ext cx="10698480" cy="594360"/>
          </a:xfrm>
          <a:prstGeom prst="rect">
            <a:avLst/>
          </a:prstGeom>
          <a:solidFill>
            <a:srgbClr val="F8F9FA"/>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100">
                <a:solidFill>
                  <a:srgbClr val="1A73E8"/>
                </a:solidFill>
              </a:defRPr>
            </a:pPr>
            <a:r>
              <a:t>4. OBSERVABILITY &amp; CONTINUOUS EVALUATION</a:t>
            </a:r>
          </a:p>
          <a:p>
            <a:pPr>
              <a:defRPr sz="1000">
                <a:solidFill>
                  <a:srgbClr val="202124"/>
                </a:solidFill>
              </a:defRPr>
            </a:pPr>
            <a:r>
              <a:t>OpenTelemetry Distributed Context  ──&gt;  Cloud Trace  ──&gt;  BigQuery Telemetry Sink  ──&gt;  Cloud Scheduler Nightly Audit Pipeline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457200"/>
            <a:ext cx="10698480" cy="822960"/>
          </a:xfrm>
          <a:prstGeom prst="rect">
            <a:avLst/>
          </a:prstGeom>
          <a:noFill/>
        </p:spPr>
        <p:txBody>
          <a:bodyPr wrap="square" lIns="0" tIns="0" rIns="0" bIns="0">
            <a:spAutoFit/>
          </a:bodyPr>
          <a:lstStyle/>
          <a:p>
            <a:pPr>
              <a:defRPr sz="2400" b="1">
                <a:solidFill>
                  <a:srgbClr val="202124"/>
                </a:solidFill>
                <a:latin typeface="Arial"/>
              </a:defRPr>
            </a:pPr>
            <a:r>
              <a:t>Future Work: Roadmap &amp; Clinical System Integration</a:t>
            </a:r>
          </a:p>
          <a:p>
            <a:pPr>
              <a:defRPr sz="1200">
                <a:solidFill>
                  <a:srgbClr val="5F6368"/>
                </a:solidFill>
                <a:latin typeface="Arial"/>
              </a:defRPr>
            </a:pPr>
            <a:r>
              <a:t>Technical Priorities for Production Maturation</a:t>
            </a:r>
          </a:p>
        </p:txBody>
      </p:sp>
      <p:sp>
        <p:nvSpPr>
          <p:cNvPr id="3" name="Rectangle 2"/>
          <p:cNvSpPr/>
          <p:nvPr/>
        </p:nvSpPr>
        <p:spPr>
          <a:xfrm>
            <a:off x="731520" y="1280160"/>
            <a:ext cx="10728655" cy="18288"/>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554480"/>
            <a:ext cx="5212080" cy="214884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1. EHR &amp; Standards Integration (Cloud Healthcare API)</a:t>
            </a:r>
          </a:p>
          <a:p>
            <a:pPr>
              <a:spcBef>
                <a:spcPts val="600"/>
              </a:spcBef>
              <a:defRPr sz="1100">
                <a:solidFill>
                  <a:srgbClr val="202124"/>
                </a:solidFill>
                <a:latin typeface="Arial"/>
              </a:defRPr>
            </a:pPr>
            <a:r>
              <a:t>•  Connect to Google Cloud Healthcare API to query de-identified patient data.</a:t>
            </a:r>
          </a:p>
          <a:p>
            <a:pPr>
              <a:spcBef>
                <a:spcPts val="600"/>
              </a:spcBef>
              <a:defRPr sz="1100">
                <a:solidFill>
                  <a:srgbClr val="202124"/>
                </a:solidFill>
                <a:latin typeface="Arial"/>
              </a:defRPr>
            </a:pPr>
            <a:r>
              <a:t>•  Ingest and parse FHIR R4 resources (Patient, Condition, Observation, MedicationStatement).</a:t>
            </a:r>
          </a:p>
          <a:p>
            <a:pPr>
              <a:spcBef>
                <a:spcPts val="600"/>
              </a:spcBef>
              <a:defRPr sz="1100">
                <a:solidFill>
                  <a:srgbClr val="202124"/>
                </a:solidFill>
                <a:latin typeface="Arial"/>
              </a:defRPr>
            </a:pPr>
            <a:r>
              <a:t>•  Enable clinical researchers to compare literature findings against patient cohort criteria.</a:t>
            </a:r>
          </a:p>
        </p:txBody>
      </p:sp>
      <p:sp>
        <p:nvSpPr>
          <p:cNvPr id="5" name="Rounded Rectangle 4"/>
          <p:cNvSpPr/>
          <p:nvPr/>
        </p:nvSpPr>
        <p:spPr>
          <a:xfrm>
            <a:off x="6217920" y="1554480"/>
            <a:ext cx="5212080" cy="214884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2. Distributed Session Persistence &amp; State Store</a:t>
            </a:r>
          </a:p>
          <a:p>
            <a:pPr>
              <a:spcBef>
                <a:spcPts val="600"/>
              </a:spcBef>
              <a:defRPr sz="1100">
                <a:solidFill>
                  <a:srgbClr val="202124"/>
                </a:solidFill>
                <a:latin typeface="Arial"/>
              </a:defRPr>
            </a:pPr>
            <a:r>
              <a:t>•  Migrate from ephemeral in-memory session history to distributed Cloud Firestore.</a:t>
            </a:r>
          </a:p>
          <a:p>
            <a:pPr>
              <a:spcBef>
                <a:spcPts val="600"/>
              </a:spcBef>
              <a:defRPr sz="1100">
                <a:solidFill>
                  <a:srgbClr val="202124"/>
                </a:solidFill>
                <a:latin typeface="Arial"/>
              </a:defRPr>
            </a:pPr>
            <a:r>
              <a:t>•  Support cross-session multi-turn research conversations with TTL-managed retention.</a:t>
            </a:r>
          </a:p>
          <a:p>
            <a:pPr>
              <a:spcBef>
                <a:spcPts val="600"/>
              </a:spcBef>
              <a:defRPr sz="1100">
                <a:solidFill>
                  <a:srgbClr val="202124"/>
                </a:solidFill>
                <a:latin typeface="Arial"/>
              </a:defRPr>
            </a:pPr>
            <a:r>
              <a:t>•  Implement multi-region active-active redundancy for continuous availability.</a:t>
            </a:r>
          </a:p>
        </p:txBody>
      </p:sp>
      <p:sp>
        <p:nvSpPr>
          <p:cNvPr id="6" name="Rounded Rectangle 5"/>
          <p:cNvSpPr/>
          <p:nvPr/>
        </p:nvSpPr>
        <p:spPr>
          <a:xfrm>
            <a:off x="731520" y="3931920"/>
            <a:ext cx="5212080" cy="214884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3. Multimodal Clinical RAG (Gemini Vision)</a:t>
            </a:r>
          </a:p>
          <a:p>
            <a:pPr>
              <a:spcBef>
                <a:spcPts val="600"/>
              </a:spcBef>
              <a:defRPr sz="1100">
                <a:solidFill>
                  <a:srgbClr val="202124"/>
                </a:solidFill>
                <a:latin typeface="Arial"/>
              </a:defRPr>
            </a:pPr>
            <a:r>
              <a:t>•  Expand retrieval from text-only NIH XML documents to medical imagery and scans.</a:t>
            </a:r>
          </a:p>
          <a:p>
            <a:pPr>
              <a:spcBef>
                <a:spcPts val="600"/>
              </a:spcBef>
              <a:defRPr sz="1100">
                <a:solidFill>
                  <a:srgbClr val="202124"/>
                </a:solidFill>
                <a:latin typeface="Arial"/>
              </a:defRPr>
            </a:pPr>
            <a:r>
              <a:t>•  Ingest DICOM radiology files and histology slides stored in Cloud Storage buckets.</a:t>
            </a:r>
          </a:p>
          <a:p>
            <a:pPr>
              <a:spcBef>
                <a:spcPts val="600"/>
              </a:spcBef>
              <a:defRPr sz="1100">
                <a:solidFill>
                  <a:srgbClr val="202124"/>
                </a:solidFill>
                <a:latin typeface="Arial"/>
              </a:defRPr>
            </a:pPr>
            <a:r>
              <a:t>•  Use Gemini multimodal reasoning to correlate diagnostic imaging with clinical guidelines.</a:t>
            </a:r>
          </a:p>
        </p:txBody>
      </p:sp>
      <p:sp>
        <p:nvSpPr>
          <p:cNvPr id="7" name="Rounded Rectangle 6"/>
          <p:cNvSpPr/>
          <p:nvPr/>
        </p:nvSpPr>
        <p:spPr>
          <a:xfrm>
            <a:off x="6217920" y="3931920"/>
            <a:ext cx="5212080" cy="2148840"/>
          </a:xfrm>
          <a:prstGeom prst="roundRect">
            <a:avLst/>
          </a:prstGeom>
          <a:solidFill>
            <a:srgbClr val="F8F9FA"/>
          </a:solidFill>
          <a:ln w="1270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defRPr sz="1300" b="1">
                <a:solidFill>
                  <a:srgbClr val="1A73E8"/>
                </a:solidFill>
                <a:latin typeface="Arial"/>
              </a:defRPr>
            </a:pPr>
            <a:r>
              <a:t>4. Enterprise Access Control &amp; Zero-Trust Perimeter</a:t>
            </a:r>
          </a:p>
          <a:p>
            <a:pPr>
              <a:spcBef>
                <a:spcPts val="600"/>
              </a:spcBef>
              <a:defRPr sz="1100">
                <a:solidFill>
                  <a:srgbClr val="202124"/>
                </a:solidFill>
                <a:latin typeface="Arial"/>
              </a:defRPr>
            </a:pPr>
            <a:r>
              <a:t>•  Integrate Google Identity-Aware Proxy (IAP) for institutional Single Sign-On (SSO).</a:t>
            </a:r>
          </a:p>
          <a:p>
            <a:pPr>
              <a:spcBef>
                <a:spcPts val="600"/>
              </a:spcBef>
              <a:defRPr sz="1100">
                <a:solidFill>
                  <a:srgbClr val="202124"/>
                </a:solidFill>
                <a:latin typeface="Arial"/>
              </a:defRPr>
            </a:pPr>
            <a:r>
              <a:t>•  Enforce role-based access control (RBAC) distinguishing researchers, oncologists, and auditors.</a:t>
            </a:r>
          </a:p>
          <a:p>
            <a:pPr>
              <a:spcBef>
                <a:spcPts val="600"/>
              </a:spcBef>
              <a:defRPr sz="1100">
                <a:solidFill>
                  <a:srgbClr val="202124"/>
                </a:solidFill>
                <a:latin typeface="Arial"/>
              </a:defRPr>
            </a:pPr>
            <a:r>
              <a:t>•  Deploy Private Service Connect (PSC) to isolate backend services inside customer VPCs.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