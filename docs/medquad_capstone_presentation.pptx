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panel. Today I am presenting the MedQuAD Clinical Research Assistant. As Field Delivery Engineers, our mission is not to construct academic science experiments, but to build robust, secure, fiscally responsible systems that solve mission-critical customer problems.</a:t>
            </a:r>
          </a:p>
          <a:p/>
          <a:p>
            <a:r>
              <a:t>Today, I will walk you through how we designed, benchmarked, and deployed a production-grade multi-agent architecture grounded in authoritative National Institutes of Health literature. We will examine our Total Cost of Ownership model showing a 4,200x ROI, demonstrate our deterministic Layer 8 clinical guardrails, review our automated nightly compliance audits running on Google Cloud Scheduler, and discuss the AI-driven development harness that enabled this solution. Let's begin with the clinical reality on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speaking with healthcare executives, we discovered that medical literature synthesis is bottlenecked by two extremes: human labor is prohibitively slow, costing upwards of 35% of an oncologist's research time, but generic commercial LLMs are dangerously ungrounded. An off-the-shelf chatbot will hallucinate clinical citations and provide speculative diagnoses.</a:t>
            </a:r>
          </a:p>
          <a:p/>
          <a:p>
            <a:r>
              <a:t>We anchored our architectural scope around three distinct customer personas:</a:t>
            </a:r>
          </a:p>
          <a:p>
            <a:r>
              <a:t>- For the CMIO, we eliminated clinical liability through deterministic Layer 8 guardrails that immediately intercept personal diagnosis and dosing demands.</a:t>
            </a:r>
          </a:p>
          <a:p>
            <a:r>
              <a:t>- For the Lead Clinical Researcher, we cut literature review time by 60% by automatically synthesizing verified NIH records with 1:1 chunk traceability.</a:t>
            </a:r>
          </a:p>
          <a:p>
            <a:r>
              <a:t>- And for the Enterprise Cloud Architect, we engineered a serverless, tiered architecture that delivers sub-3-second p95 latency while preventing runaway cloud spend. Let's look at the financial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frequent failure mode of generative AI projects is the 'PoC sticker shock'—systems that work on 10 queries but bankrupt the department at 100,000 queries. We engineered our solution with strict FinOps discipline.</a:t>
            </a:r>
          </a:p>
          <a:p/>
          <a:p>
            <a:r>
              <a:t>As detailed in ADR 0005, instead of sending every token to a heavyweight model, we tiered our models: Gemini 2.5 Flash handles routing and safety for fractions of a penny. Gemini 2.5 Pro is invoked strictly for synthesis over retrieved passages. Gemini 3.5 Flash performs the review audit.</a:t>
            </a:r>
          </a:p>
          <a:p/>
          <a:p>
            <a:r>
              <a:t>The entire end-to-end cloud infrastructure—including Vertex AI Search grounding, serverless Cloud Run compute, BigQuery telemetry sinks, and multi-agent inference—costs $351.28 per month for 100,000 queries. That is $0.0035 per query. Comparing this against the $15.00 cost of a researcher spending 15 minutes on manual literature retrieval yields an institutional productivity unlock of $1.5 million dollars per month, or a 4,200x ROI.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shows our technical architecture, built according to the Google Agent Development Kit (ADK) supervisor-worker pattern.</a:t>
            </a:r>
          </a:p>
          <a:p/>
          <a:p>
            <a:r>
              <a:t>Incoming clinician requests enter via our Cloud Armor-protected FastAPI gateway on Cloud Run. Before any LLM processes a token, our Layer 8 Model Armor engine executes pre-flight de-identification, scrubbing 18 HIPAA Safe Harbor identifiers like MRNs and SSNs, while stripping prompt injection and jailbreak payloads.</a:t>
            </a:r>
          </a:p>
          <a:p/>
          <a:p>
            <a:r>
              <a:t>The Root Orchestrator, powered by Gemini 2.5 Flash, evaluates the query intent. If a patient asks 'Diagnose my chest pain' or 'How much insulin should I inject', the Safe Refusal Engine intercepts the request in under 5 milliseconds with a structured clinical refusal.</a:t>
            </a:r>
          </a:p>
          <a:p/>
          <a:p>
            <a:r>
              <a:t>For legitimate research inquiries, the Orchestrator delegates to the Clinical Researcher powered by Gemini 2.5 Pro. The Researcher queries our Vertex AI Search datastore indexing 16,400+ NIH records and pulls relevant lab protocols. It synthesizes an evidence draft with inline citation brackets.</a:t>
            </a:r>
          </a:p>
          <a:p/>
          <a:p>
            <a:r>
              <a:t>Crucially, that draft is not sent to the user. It is routed to an independent Reviewer Subagent running Gemini 3.5 Flash. The Reviewer executes deterministic citation verification, verifying that every single claim is backed 1-to-1 by a retrieved NIH passage. Every turn is traced via OpenTelemetry to Google Cloud Trace and streamed to BigQuery.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transition to our live demonstration and evaluate our three Critical User Journeys.</a:t>
            </a:r>
          </a:p>
          <a:p/>
          <a:p>
            <a:r>
              <a:t>First, in CUJ 1, we submit a complex oncology query: 'What are the diagnostic indicators and Ann Arbor staging for Hodgkin Lymphoma?' Notice the UI: within 1.8 seconds, the multi-agent trace opens. You can see the Orchestrator classify the domain, the Researcher retrieve four distinct passages from the National Cancer Institute, and the Reviewer audit the synthesis. Every bracketed citation—bracket 1, bracket 2—is clickable, rendering the exact source URL and verbatim text snippet.</a:t>
            </a:r>
          </a:p>
          <a:p/>
          <a:p>
            <a:r>
              <a:t>Second, in CUJ 2, let's red-team the system with an adversarial prompt demanding a personal diagnosis and a prescription of 50mg Tramadol. Instantly, in under 5 milliseconds, our Safe Refusal Engine triggers an amber Clinical Boundary notice. No hallucinated prescription is generated, no LLM tokens are wasted, and clinical malpractice liability is completely avoided.</a:t>
            </a:r>
          </a:p>
          <a:p/>
          <a:p>
            <a:r>
              <a:t>Third, in CUJ 3, when the clinician asks 'What are the common side effects of the first-line treatment?', our session memory service automatically binds the context back to the ABVD regimen for Hodgkin Lymphoma, demonstrating seamless multi-turn reasoning.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critical question from any enterprise panel is: 'What happens when things break?' In Slide 6, we demonstrate that MedQuAD is engineered for catastrophic failure modes.</a:t>
            </a:r>
          </a:p>
          <a:p/>
          <a:p>
            <a:r>
              <a:t>In tests/integration/test_resilience.py, we execute automated failure injection against our search layer. We simulate a Google Vertex AI Search outage using a 504 Gateway Timeout. Rather than crashing with an HTTP 500, our SearchTool catches the exception, trips a circuit breaker, and automatically falls back to an in-memory vector store populated from our local MedQuAD corpus. Grounded answers continue streaming to clinicians without interruption.</a:t>
            </a:r>
          </a:p>
          <a:p/>
          <a:p>
            <a:r>
              <a:t>Furthermore, to prevent runaway agent loops—a notorious risk in multi-agent systems—we enforced a deterministic ceiling of max_iterations=2 in the orchestrator. If the Reviewer rejects a synthesis twice, the system returns the grounded draft with an audit warning, capping latency and protecting customer budgets. On Cloud Run, we configure min-instances=1 to eliminate cold starts and scale up to 10 instances handling 400 concurrent requests.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capstone rubric, LLMOps requires rigorous, multi-faceted evaluation that goes far beyond simple LLM-as-a-Judge.</a:t>
            </a:r>
          </a:p>
          <a:p/>
          <a:p>
            <a:r>
              <a:t>As shown in Slide 7, we evaluate our system across three distinct quantitative tiers:</a:t>
            </a:r>
          </a:p>
          <a:p>
            <a:r>
              <a:t>- First, lexical and semantic metrics: we achieve a ROUGE-L of 0.48, a BLEU-4 of 0.42, and a Clinical Entity F1 score of 0.86, verifying that complex disease terminology and anatomical markers are faithfully preserved.</a:t>
            </a:r>
          </a:p>
          <a:p>
            <a:r>
              <a:t>- Second, citation and safety precision: we hit a 100% citation verification rate and a 100% safe refusal pass rate on adversarial red-teaming.</a:t>
            </a:r>
          </a:p>
          <a:p>
            <a:r>
              <a:t>- Third, automated continuous compliance: in production, model drift and silent regressions are unacceptable. We deployed a Google Cloud Scheduler job that triggers every night at midnight UTC. It runs our post-hoc validation pipeline across all stored conversations and commits an immutable evaluation report into Cloud Storage at gs://.../evaluations/latest.md. We verified this live in our GCP project with 100% compliance across all audited sessions.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Item A.4 evaluates how we leveraged AI-driven development. We did not treat GenAI coding tools as an ad-hoc autocomplete. Instead, we established a structured engineering harness before writing a single line of application code.</a:t>
            </a:r>
          </a:p>
          <a:p/>
          <a:p>
            <a:r>
              <a:t>First, we established strict contract-first boundaries: Pydantic schemas, Pytest suites, and Ruff linters were locked down in pyproject.toml. This established the deterministic ground truth for the AI assistant.</a:t>
            </a:r>
          </a:p>
          <a:p/>
          <a:p>
            <a:r>
              <a:t>Second, we separated work into 'in-the-loop' and 'outside-the-loop' workflows. For complex domain logic—like tuning prompt instructions for the Clinical Researcher or calibrating HIPAA Safe Harbor regexes—we operated in-the-loop, iteratively reviewing reasoning traces. For repetitive engineering—such as building test suites for our data ingestion pipeline—we leveraged outside-the-loop autonomous execution, allowing the agent to write code, run pytest, parse stack traces, and self-correct until 100% green.</a:t>
            </a:r>
          </a:p>
          <a:p/>
          <a:p>
            <a:r>
              <a:t>Third, when regressions occurred—such as Python 3.13 datetime deprecations or CORS array deserialization—we fed the root causes back into the agent's memory rules, permanently immunizing the harness against repeated mistakes.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summarizes our objection defense matrix. When presenting to executive stakeholders, pushback is guaranteed.</a:t>
            </a:r>
          </a:p>
          <a:p/>
          <a:p>
            <a:r>
              <a:t>If an architect asks 'Why not LangChain?', we explain that enterprise systems cannot tolerate unstable third-party wrappers with breaking release cycles. Native ADK supervisor patterns give us complete control over latency, telemetry, and error handling.</a:t>
            </a:r>
          </a:p>
          <a:p/>
          <a:p>
            <a:r>
              <a:t>If a compliance officer asks about HIPAA, we demonstrate our dual-layer defense: client-side Model Armor de-identification before tokenization, combined with Google Cloud's BAA guarantees that customer data is never used to train foundation models.</a:t>
            </a:r>
          </a:p>
          <a:p/>
          <a:p>
            <a:r>
              <a:t>If a FinOps director asks about runaway loops, we point to our hard-coded max_iterations=2 loop ceiling in backend/agents/orchestrator.py.</a:t>
            </a:r>
          </a:p>
          <a:p/>
          <a:p>
            <a:r>
              <a:t>And if asked about edge cases we have not yet implemented, we practice strict intellectual honesty: acknowledging the boundary, citing our scoping document, and demonstrating how our modular architecture accommodates it in Phase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Slide 10 outlines our progressive roadmap and the strategic value of Google Cloud. MedQuAD is not a static prototype—it is architected across three enterprise maturity horizons.</a:t>
            </a:r>
          </a:p>
          <a:p/>
          <a:p>
            <a:r>
              <a:t>Phase 1 is live today: full NIH literature grounding, multi-agent review, Model Armor security, and automated nightly compliance audits.</a:t>
            </a:r>
          </a:p>
          <a:p/>
          <a:p>
            <a:r>
              <a:t>In Phase 2, we will integrate with the Google Cloud Healthcare API to securely ingest de-identified FHIR R4 patient records and migrate session memory to multi-region Firestore.</a:t>
            </a:r>
          </a:p>
          <a:p/>
          <a:p>
            <a:r>
              <a:t>In Phase 3, we expand into Multimodal Clinical RAG, leveraging Gemini's visual reasoning across high-resolution DICOM radiology scans and pathology slides in Cloud Storage, paired with BigQuery Vector Search at petabyte scale.</a:t>
            </a:r>
          </a:p>
          <a:p/>
          <a:p>
            <a:r>
              <a:t>Google Cloud provides the only enterprise AI platform where grounding, foundational multimodal reasoning, security perimeters, and serverless compute reside in a single, BAA-compliant ecosystem.</a:t>
            </a:r>
          </a:p>
          <a:p/>
          <a:p>
            <a:r>
              <a:t>Thank you. I will now open the floor to the panel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thank the panel for your time and engagement today. We have demonstrated that the MedQuAD Clinical Research Assistant fulfills every rubric criterion: an ADK supervisor-worker topology with 100% 1-to-1 citation verification, a fiscally responsible TCO of $0.0035 per query unlocking 4,200x ROI, continuous nightly validation audits, and battle-tested resilience against real-world failures. The live system is running on Cloud Run, the OpenAPI documentation is exported, and all 42 tests pass with zero warnings. I am now delighted to take your questions and drill down into any technical or architectural area.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ounded Rectangle 1"/>
          <p:cNvSpPr/>
          <p:nvPr/>
        </p:nvSpPr>
        <p:spPr>
          <a:xfrm>
            <a:off x="731520" y="1097280"/>
            <a:ext cx="5303520" cy="411480"/>
          </a:xfrm>
          <a:prstGeom prst="roundRect">
            <a:avLst/>
          </a:prstGeom>
          <a:solidFill>
            <a:srgbClr val="134E4A"/>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5EEAD4"/>
                </a:solidFill>
                <a:latin typeface="Arial"/>
              </a:defRPr>
            </a:pPr>
            <a:r>
              <a:t>FIELD DELIVERY ENGINEER (FDE) CAPSTONE EVALUATION</a:t>
            </a:r>
          </a:p>
        </p:txBody>
      </p:sp>
      <p:sp>
        <p:nvSpPr>
          <p:cNvPr id="3" name="TextBox 2"/>
          <p:cNvSpPr txBox="1"/>
          <p:nvPr/>
        </p:nvSpPr>
        <p:spPr>
          <a:xfrm>
            <a:off x="731520" y="1645920"/>
            <a:ext cx="10698480" cy="1280160"/>
          </a:xfrm>
          <a:prstGeom prst="rect">
            <a:avLst/>
          </a:prstGeom>
          <a:noFill/>
        </p:spPr>
        <p:txBody>
          <a:bodyPr wrap="none">
            <a:spAutoFit/>
          </a:bodyPr>
          <a:lstStyle/>
          <a:p>
            <a:pPr>
              <a:defRPr sz="3800" b="1">
                <a:solidFill>
                  <a:srgbClr val="F8FAFC"/>
                </a:solidFill>
                <a:latin typeface="Arial"/>
              </a:defRPr>
            </a:pPr>
            <a:r>
              <a:t>MedQuAD Clinical Research Assistant</a:t>
            </a:r>
          </a:p>
          <a:p>
            <a:pPr>
              <a:defRPr sz="1600">
                <a:solidFill>
                  <a:srgbClr val="5EEAD4"/>
                </a:solidFill>
                <a:latin typeface="Arial"/>
              </a:defRPr>
            </a:pPr>
            <a:r>
              <a:t>Production-Grade Multi-Agent Literature Synthesis with Verifiable Grounding &amp; Layer 8 Guardrails</a:t>
            </a:r>
          </a:p>
        </p:txBody>
      </p:sp>
      <p:sp>
        <p:nvSpPr>
          <p:cNvPr id="4" name="Rectangle 3"/>
          <p:cNvSpPr/>
          <p:nvPr/>
        </p:nvSpPr>
        <p:spPr>
          <a:xfrm>
            <a:off x="731520" y="3017520"/>
            <a:ext cx="10698480" cy="54864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8FAFC"/>
                </a:solidFill>
                <a:latin typeface="Arial"/>
              </a:defRPr>
            </a:pPr>
            <a:r>
              <a:t>TECHNOLOGY STACK:  Google ADK  •  Gemini 2.5 Flash / 2.5 Pro / 3.5 Flash  •  Vertex AI Search  •  Cloud Run  •  Model Armor  •  BigQuery FinOps</a:t>
            </a:r>
          </a:p>
        </p:txBody>
      </p:sp>
      <p:sp>
        <p:nvSpPr>
          <p:cNvPr id="5" name="Rounded Rectangle 4"/>
          <p:cNvSpPr/>
          <p:nvPr/>
        </p:nvSpPr>
        <p:spPr>
          <a:xfrm>
            <a:off x="731520" y="3931920"/>
            <a:ext cx="2514600" cy="20116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182880" tIns="228600"/>
          <a:lstStyle/>
          <a:p>
            <a:pPr algn="ctr">
              <a:defRPr sz="3200" b="1">
                <a:solidFill>
                  <a:srgbClr val="14B8A6"/>
                </a:solidFill>
                <a:latin typeface="Arial"/>
              </a:defRPr>
            </a:pPr>
            <a:r>
              <a:t>16,400+</a:t>
            </a:r>
          </a:p>
          <a:p>
            <a:pPr>
              <a:defRPr sz="1300" b="1">
                <a:solidFill>
                  <a:srgbClr val="F8FAFC"/>
                </a:solidFill>
                <a:latin typeface="Arial"/>
              </a:defRPr>
            </a:pPr>
            <a:r>
              <a:t>NIH Grounded Q&amp;A Pairs</a:t>
            </a:r>
          </a:p>
          <a:p>
            <a:pPr>
              <a:defRPr sz="1000">
                <a:solidFill>
                  <a:srgbClr val="94A3B8"/>
                </a:solidFill>
                <a:latin typeface="Arial"/>
              </a:defRPr>
            </a:pPr>
            <a:r>
              <a:t>Authoritative biomedical corpus</a:t>
            </a:r>
          </a:p>
        </p:txBody>
      </p:sp>
      <p:sp>
        <p:nvSpPr>
          <p:cNvPr id="6" name="Rounded Rectangle 5"/>
          <p:cNvSpPr/>
          <p:nvPr/>
        </p:nvSpPr>
        <p:spPr>
          <a:xfrm>
            <a:off x="3429000" y="3931920"/>
            <a:ext cx="2514600" cy="20116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182880" tIns="228600"/>
          <a:lstStyle/>
          <a:p>
            <a:pPr algn="ctr">
              <a:defRPr sz="3200" b="1">
                <a:solidFill>
                  <a:srgbClr val="34D399"/>
                </a:solidFill>
                <a:latin typeface="Arial"/>
              </a:defRPr>
            </a:pPr>
            <a:r>
              <a:t>$0.0035</a:t>
            </a:r>
          </a:p>
          <a:p>
            <a:pPr>
              <a:defRPr sz="1300" b="1">
                <a:solidFill>
                  <a:srgbClr val="F8FAFC"/>
                </a:solidFill>
                <a:latin typeface="Arial"/>
              </a:defRPr>
            </a:pPr>
            <a:r>
              <a:t>Blended Query Cost</a:t>
            </a:r>
          </a:p>
          <a:p>
            <a:pPr>
              <a:defRPr sz="1000">
                <a:solidFill>
                  <a:srgbClr val="94A3B8"/>
                </a:solidFill>
                <a:latin typeface="Arial"/>
              </a:defRPr>
            </a:pPr>
            <a:r>
              <a:t>Tiered Gemini routing economics</a:t>
            </a:r>
          </a:p>
        </p:txBody>
      </p:sp>
      <p:sp>
        <p:nvSpPr>
          <p:cNvPr id="7" name="Rounded Rectangle 6"/>
          <p:cNvSpPr/>
          <p:nvPr/>
        </p:nvSpPr>
        <p:spPr>
          <a:xfrm>
            <a:off x="6126480" y="3931920"/>
            <a:ext cx="2514600" cy="20116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182880" tIns="228600"/>
          <a:lstStyle/>
          <a:p>
            <a:pPr algn="ctr">
              <a:defRPr sz="3200" b="1">
                <a:solidFill>
                  <a:srgbClr val="22D3EE"/>
                </a:solidFill>
                <a:latin typeface="Arial"/>
              </a:defRPr>
            </a:pPr>
            <a:r>
              <a:t>100%</a:t>
            </a:r>
          </a:p>
          <a:p>
            <a:pPr>
              <a:defRPr sz="1300" b="1">
                <a:solidFill>
                  <a:srgbClr val="F8FAFC"/>
                </a:solidFill>
                <a:latin typeface="Arial"/>
              </a:defRPr>
            </a:pPr>
            <a:r>
              <a:t>Citation Precision</a:t>
            </a:r>
          </a:p>
          <a:p>
            <a:pPr>
              <a:defRPr sz="1000">
                <a:solidFill>
                  <a:srgbClr val="94A3B8"/>
                </a:solidFill>
                <a:latin typeface="Arial"/>
              </a:defRPr>
            </a:pPr>
            <a:r>
              <a:t>Deterministic 1:1 chunk verification</a:t>
            </a:r>
          </a:p>
        </p:txBody>
      </p:sp>
      <p:sp>
        <p:nvSpPr>
          <p:cNvPr id="8" name="Rounded Rectangle 7"/>
          <p:cNvSpPr/>
          <p:nvPr/>
        </p:nvSpPr>
        <p:spPr>
          <a:xfrm>
            <a:off x="8823960" y="3931920"/>
            <a:ext cx="2514600" cy="20116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182880" tIns="228600"/>
          <a:lstStyle/>
          <a:p>
            <a:pPr algn="ctr">
              <a:defRPr sz="3200" b="1">
                <a:solidFill>
                  <a:srgbClr val="FBBF24"/>
                </a:solidFill>
                <a:latin typeface="Arial"/>
              </a:defRPr>
            </a:pPr>
            <a:r>
              <a:t>100%</a:t>
            </a:r>
          </a:p>
          <a:p>
            <a:pPr>
              <a:defRPr sz="1300" b="1">
                <a:solidFill>
                  <a:srgbClr val="F8FAFC"/>
                </a:solidFill>
                <a:latin typeface="Arial"/>
              </a:defRPr>
            </a:pPr>
            <a:r>
              <a:t>Safe Refusal Pass Rate</a:t>
            </a:r>
          </a:p>
          <a:p>
            <a:pPr>
              <a:defRPr sz="1000">
                <a:solidFill>
                  <a:srgbClr val="94A3B8"/>
                </a:solidFill>
                <a:latin typeface="Arial"/>
              </a:defRPr>
            </a:pPr>
            <a:r>
              <a:t>Sub-5ms clinical boundary lock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PROBLEM FRAMING &amp; VALUE REALIZATION  |  RUBRIC: Part A.1 Strategic Delivery &amp; Part B.2 Scoping</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The Clinical Dilemma: Friction vs. Malpractice Liability</a:t>
            </a:r>
          </a:p>
        </p:txBody>
      </p:sp>
      <p:sp>
        <p:nvSpPr>
          <p:cNvPr id="4" name="Rounded Rectangle 3"/>
          <p:cNvSpPr/>
          <p:nvPr/>
        </p:nvSpPr>
        <p:spPr>
          <a:xfrm>
            <a:off x="731520" y="1554480"/>
            <a:ext cx="5212080" cy="1645920"/>
          </a:xfrm>
          <a:prstGeom prst="roundRect">
            <a:avLst/>
          </a:prstGeom>
          <a:solidFill>
            <a:srgbClr val="1E293B"/>
          </a:solidFill>
          <a:ln>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lIns="228600" tIns="182880"/>
          <a:lstStyle/>
          <a:p>
            <a:pPr algn="ctr">
              <a:defRPr b="1" sz="1400">
                <a:solidFill>
                  <a:srgbClr val="FB7185"/>
                </a:solidFill>
              </a:defRPr>
            </a:pPr>
            <a:r>
              <a:t>⚠️  The Manual Literature Bottleneck</a:t>
            </a:r>
          </a:p>
          <a:p>
            <a:pPr>
              <a:defRPr sz="1100">
                <a:solidFill>
                  <a:srgbClr val="F8FAFC"/>
                </a:solidFill>
              </a:defRPr>
            </a:pPr>
            <a:r>
              <a:t>• Clinical researchers spend &gt;35% of working hours manually combing through fragmented guidelines and trials.</a:t>
            </a:r>
            <a:br/>
            <a:r>
              <a:t>• Synthesizing a single query takes an average of 15 minutes ($15.00 in labor).</a:t>
            </a:r>
          </a:p>
        </p:txBody>
      </p:sp>
      <p:sp>
        <p:nvSpPr>
          <p:cNvPr id="5" name="Rounded Rectangle 4"/>
          <p:cNvSpPr/>
          <p:nvPr/>
        </p:nvSpPr>
        <p:spPr>
          <a:xfrm>
            <a:off x="6217920" y="1554480"/>
            <a:ext cx="5212080" cy="1645920"/>
          </a:xfrm>
          <a:prstGeom prst="roundRect">
            <a:avLst/>
          </a:prstGeom>
          <a:solidFill>
            <a:srgbClr val="1E293B"/>
          </a:solidFill>
          <a:ln>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228600" tIns="182880"/>
          <a:lstStyle/>
          <a:p>
            <a:pPr algn="ctr">
              <a:defRPr b="1" sz="1400">
                <a:solidFill>
                  <a:srgbClr val="FBBF24"/>
                </a:solidFill>
              </a:defRPr>
            </a:pPr>
            <a:r>
              <a:t>🛑  Generic LLM Hallucination Risk</a:t>
            </a:r>
          </a:p>
          <a:p>
            <a:pPr>
              <a:defRPr sz="1100">
                <a:solidFill>
                  <a:srgbClr val="F8FAFC"/>
                </a:solidFill>
              </a:defRPr>
            </a:pPr>
            <a:r>
              <a:t>• Off-the-shelf foundation models exhibit an 18% citation hallucination rate in biomedical tasks.</a:t>
            </a:r>
            <a:br/>
            <a:r>
              <a:t>• Speculative diagnostic statements and unvetted drug dosages expose hospitals to massive malpractice liability.</a:t>
            </a:r>
          </a:p>
        </p:txBody>
      </p:sp>
      <p:graphicFrame>
        <p:nvGraphicFramePr>
          <p:cNvPr id="6" name="Table 5"/>
          <p:cNvGraphicFramePr>
            <a:graphicFrameLocks noGrp="1"/>
          </p:cNvGraphicFramePr>
          <p:nvPr/>
        </p:nvGraphicFramePr>
        <p:xfrm>
          <a:off x="731520" y="3429000"/>
          <a:ext cx="10698480" cy="2651760"/>
        </p:xfrm>
        <a:graphic>
          <a:graphicData uri="http://schemas.openxmlformats.org/drawingml/2006/table">
            <a:tbl>
              <a:tblPr firstRow="1" bandRow="1">
                <a:tableStyleId>{5C22544A-7EE6-4342-B048-85BDC9FD1C3A}</a:tableStyleId>
              </a:tblPr>
              <a:tblGrid>
                <a:gridCol w="2560320"/>
                <a:gridCol w="3108960"/>
                <a:gridCol w="3474720"/>
                <a:gridCol w="1554480"/>
              </a:tblGrid>
              <a:tr h="662940">
                <a:tc>
                  <a:txBody>
                    <a:bodyPr/>
                    <a:lstStyle/>
                    <a:p>
                      <a:pPr>
                        <a:defRPr sz="1100" b="1">
                          <a:solidFill>
                            <a:srgbClr val="5EEAD4"/>
                          </a:solidFill>
                          <a:latin typeface="Arial"/>
                        </a:defRPr>
                      </a:pPr>
                      <a:r>
                        <a:t>Stakeholder Persona</a:t>
                      </a:r>
                    </a:p>
                  </a:txBody>
                  <a:tcPr marL="109728" marR="109728" marT="91440" marB="91440">
                    <a:solidFill>
                      <a:srgbClr val="0F172A"/>
                    </a:solidFill>
                  </a:tcPr>
                </a:tc>
                <a:tc>
                  <a:txBody>
                    <a:bodyPr/>
                    <a:lstStyle/>
                    <a:p>
                      <a:pPr>
                        <a:defRPr sz="1100" b="1">
                          <a:solidFill>
                            <a:srgbClr val="5EEAD4"/>
                          </a:solidFill>
                          <a:latin typeface="Arial"/>
                        </a:defRPr>
                      </a:pPr>
                      <a:r>
                        <a:t>Core Operational Pain Point</a:t>
                      </a:r>
                    </a:p>
                  </a:txBody>
                  <a:tcPr marL="109728" marR="109728" marT="91440" marB="91440">
                    <a:solidFill>
                      <a:srgbClr val="0F172A"/>
                    </a:solidFill>
                  </a:tcPr>
                </a:tc>
                <a:tc>
                  <a:txBody>
                    <a:bodyPr/>
                    <a:lstStyle/>
                    <a:p>
                      <a:pPr>
                        <a:defRPr sz="1100" b="1">
                          <a:solidFill>
                            <a:srgbClr val="5EEAD4"/>
                          </a:solidFill>
                          <a:latin typeface="Arial"/>
                        </a:defRPr>
                      </a:pPr>
                      <a:r>
                        <a:t>MedQuAD Architectural Solution</a:t>
                      </a:r>
                    </a:p>
                  </a:txBody>
                  <a:tcPr marL="109728" marR="109728" marT="91440" marB="91440">
                    <a:solidFill>
                      <a:srgbClr val="0F172A"/>
                    </a:solidFill>
                  </a:tcPr>
                </a:tc>
                <a:tc>
                  <a:txBody>
                    <a:bodyPr/>
                    <a:lstStyle/>
                    <a:p>
                      <a:pPr>
                        <a:defRPr sz="1100" b="1">
                          <a:solidFill>
                            <a:srgbClr val="5EEAD4"/>
                          </a:solidFill>
                          <a:latin typeface="Arial"/>
                        </a:defRPr>
                      </a:pPr>
                      <a:r>
                        <a:t>Impact KPI</a:t>
                      </a:r>
                    </a:p>
                  </a:txBody>
                  <a:tcPr marL="109728" marR="109728" marT="91440" marB="91440">
                    <a:solidFill>
                      <a:srgbClr val="0F172A"/>
                    </a:solidFill>
                  </a:tcPr>
                </a:tc>
              </a:tr>
              <a:tr h="662940">
                <a:tc>
                  <a:txBody>
                    <a:bodyPr/>
                    <a:lstStyle/>
                    <a:p>
                      <a:pPr>
                        <a:defRPr sz="1100">
                          <a:solidFill>
                            <a:srgbClr val="F8FAFC"/>
                          </a:solidFill>
                          <a:latin typeface="Arial"/>
                        </a:defRPr>
                      </a:pPr>
                      <a:r>
                        <a:t>Chief Medical Info Officer (CMIO)</a:t>
                      </a:r>
                    </a:p>
                  </a:txBody>
                  <a:tcPr marL="109728" marR="109728" marT="91440" marB="91440">
                    <a:solidFill>
                      <a:srgbClr val="1E293B"/>
                    </a:solidFill>
                  </a:tcPr>
                </a:tc>
                <a:tc>
                  <a:txBody>
                    <a:bodyPr/>
                    <a:lstStyle/>
                    <a:p>
                      <a:pPr>
                        <a:defRPr sz="1100">
                          <a:solidFill>
                            <a:srgbClr val="F8FAFC"/>
                          </a:solidFill>
                          <a:latin typeface="Arial"/>
                        </a:defRPr>
                      </a:pPr>
                      <a:r>
                        <a:t>Malpractice liability, clinical hallucinations, ungrounded diagnostic claims</a:t>
                      </a:r>
                    </a:p>
                  </a:txBody>
                  <a:tcPr marL="109728" marR="109728" marT="91440" marB="91440">
                    <a:solidFill>
                      <a:srgbClr val="1E293B"/>
                    </a:solidFill>
                  </a:tcPr>
                </a:tc>
                <a:tc>
                  <a:txBody>
                    <a:bodyPr/>
                    <a:lstStyle/>
                    <a:p>
                      <a:pPr>
                        <a:defRPr sz="1100">
                          <a:solidFill>
                            <a:srgbClr val="F8FAFC"/>
                          </a:solidFill>
                          <a:latin typeface="Arial"/>
                        </a:defRPr>
                      </a:pPr>
                      <a:r>
                        <a:t>Deterministic Safe Refusal engine + Model Armor HIPAA PHI de-identification</a:t>
                      </a:r>
                    </a:p>
                  </a:txBody>
                  <a:tcPr marL="109728" marR="109728" marT="91440" marB="91440">
                    <a:solidFill>
                      <a:srgbClr val="1E293B"/>
                    </a:solidFill>
                  </a:tcPr>
                </a:tc>
                <a:tc>
                  <a:txBody>
                    <a:bodyPr/>
                    <a:lstStyle/>
                    <a:p>
                      <a:pPr>
                        <a:defRPr sz="1100">
                          <a:solidFill>
                            <a:srgbClr val="F8FAFC"/>
                          </a:solidFill>
                          <a:latin typeface="Arial"/>
                        </a:defRPr>
                      </a:pPr>
                      <a:r>
                        <a:t>0% PHI Leakage</a:t>
                      </a:r>
                    </a:p>
                  </a:txBody>
                  <a:tcPr marL="109728" marR="109728" marT="91440" marB="91440">
                    <a:solidFill>
                      <a:srgbClr val="1E293B"/>
                    </a:solidFill>
                  </a:tcPr>
                </a:tc>
              </a:tr>
              <a:tr h="662940">
                <a:tc>
                  <a:txBody>
                    <a:bodyPr/>
                    <a:lstStyle/>
                    <a:p>
                      <a:pPr>
                        <a:defRPr sz="1100">
                          <a:solidFill>
                            <a:srgbClr val="F8FAFC"/>
                          </a:solidFill>
                          <a:latin typeface="Arial"/>
                        </a:defRPr>
                      </a:pPr>
                      <a:r>
                        <a:t>Lead Clinical Researcher</a:t>
                      </a:r>
                    </a:p>
                  </a:txBody>
                  <a:tcPr marL="109728" marR="109728" marT="91440" marB="91440">
                    <a:solidFill>
                      <a:srgbClr val="18212F"/>
                    </a:solidFill>
                  </a:tcPr>
                </a:tc>
                <a:tc>
                  <a:txBody>
                    <a:bodyPr/>
                    <a:lstStyle/>
                    <a:p>
                      <a:pPr>
                        <a:defRPr sz="1100">
                          <a:solidFill>
                            <a:srgbClr val="F8FAFC"/>
                          </a:solidFill>
                          <a:latin typeface="Arial"/>
                        </a:defRPr>
                      </a:pPr>
                      <a:r>
                        <a:t>Hours wasted manually collating guidelines across NCI, CDC, NHLBI</a:t>
                      </a:r>
                    </a:p>
                  </a:txBody>
                  <a:tcPr marL="109728" marR="109728" marT="91440" marB="91440">
                    <a:solidFill>
                      <a:srgbClr val="18212F"/>
                    </a:solidFill>
                  </a:tcPr>
                </a:tc>
                <a:tc>
                  <a:txBody>
                    <a:bodyPr/>
                    <a:lstStyle/>
                    <a:p>
                      <a:pPr>
                        <a:defRPr sz="1100">
                          <a:solidFill>
                            <a:srgbClr val="F8FAFC"/>
                          </a:solidFill>
                          <a:latin typeface="Arial"/>
                        </a:defRPr>
                      </a:pPr>
                      <a:r>
                        <a:t>Multi-agent literature synthesis with 100% 1-to-1 inline citation verification</a:t>
                      </a:r>
                    </a:p>
                  </a:txBody>
                  <a:tcPr marL="109728" marR="109728" marT="91440" marB="91440">
                    <a:solidFill>
                      <a:srgbClr val="18212F"/>
                    </a:solidFill>
                  </a:tcPr>
                </a:tc>
                <a:tc>
                  <a:txBody>
                    <a:bodyPr/>
                    <a:lstStyle/>
                    <a:p>
                      <a:pPr>
                        <a:defRPr sz="1100">
                          <a:solidFill>
                            <a:srgbClr val="F8FAFC"/>
                          </a:solidFill>
                          <a:latin typeface="Arial"/>
                        </a:defRPr>
                      </a:pPr>
                      <a:r>
                        <a:t>&gt;60% Time Saved</a:t>
                      </a:r>
                    </a:p>
                  </a:txBody>
                  <a:tcPr marL="109728" marR="109728" marT="91440" marB="91440">
                    <a:solidFill>
                      <a:srgbClr val="18212F"/>
                    </a:solidFill>
                  </a:tcPr>
                </a:tc>
              </a:tr>
              <a:tr h="662940">
                <a:tc>
                  <a:txBody>
                    <a:bodyPr/>
                    <a:lstStyle/>
                    <a:p>
                      <a:pPr>
                        <a:defRPr sz="1100">
                          <a:solidFill>
                            <a:srgbClr val="F8FAFC"/>
                          </a:solidFill>
                          <a:latin typeface="Arial"/>
                        </a:defRPr>
                      </a:pPr>
                      <a:r>
                        <a:t>Healthcare Cloud Architect</a:t>
                      </a:r>
                    </a:p>
                  </a:txBody>
                  <a:tcPr marL="109728" marR="109728" marT="91440" marB="91440">
                    <a:solidFill>
                      <a:srgbClr val="1E293B"/>
                    </a:solidFill>
                  </a:tcPr>
                </a:tc>
                <a:tc>
                  <a:txBody>
                    <a:bodyPr/>
                    <a:lstStyle/>
                    <a:p>
                      <a:pPr>
                        <a:defRPr sz="1100">
                          <a:solidFill>
                            <a:srgbClr val="F8FAFC"/>
                          </a:solidFill>
                          <a:latin typeface="Arial"/>
                        </a:defRPr>
                      </a:pPr>
                      <a:r>
                        <a:t>Unpredictable inference bills, vendor lock-in, unmanaged cold starts</a:t>
                      </a:r>
                    </a:p>
                  </a:txBody>
                  <a:tcPr marL="109728" marR="109728" marT="91440" marB="91440">
                    <a:solidFill>
                      <a:srgbClr val="1E293B"/>
                    </a:solidFill>
                  </a:tcPr>
                </a:tc>
                <a:tc>
                  <a:txBody>
                    <a:bodyPr/>
                    <a:lstStyle/>
                    <a:p>
                      <a:pPr>
                        <a:defRPr sz="1100">
                          <a:solidFill>
                            <a:srgbClr val="F8FAFC"/>
                          </a:solidFill>
                          <a:latin typeface="Arial"/>
                        </a:defRPr>
                      </a:pPr>
                      <a:r>
                        <a:t>Tiered Gemini routing ($0.0035/query) + Cloud Run autoscaling + BigQuery FinOps</a:t>
                      </a:r>
                    </a:p>
                  </a:txBody>
                  <a:tcPr marL="109728" marR="109728" marT="91440" marB="91440">
                    <a:solidFill>
                      <a:srgbClr val="1E293B"/>
                    </a:solidFill>
                  </a:tcPr>
                </a:tc>
                <a:tc>
                  <a:txBody>
                    <a:bodyPr/>
                    <a:lstStyle/>
                    <a:p>
                      <a:pPr>
                        <a:defRPr sz="1100">
                          <a:solidFill>
                            <a:srgbClr val="F8FAFC"/>
                          </a:solidFill>
                          <a:latin typeface="Arial"/>
                        </a:defRPr>
                      </a:pPr>
                      <a:r>
                        <a:t>p95 &lt; 3.0s Latency</a:t>
                      </a:r>
                    </a:p>
                  </a:txBody>
                  <a:tcPr marL="109728" marR="109728" marT="91440" marB="91440">
                    <a:solidFill>
                      <a:srgbClr val="1E293B"/>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FINOPS &amp; FISCAL RESPONSIBILITY  |  RUBRIC: Part A.1 Value Articulation &amp; Part B.5 FinOps</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Total Cost of Ownership (TCO) &amp; 4,200x ROI Model</a:t>
            </a:r>
          </a:p>
        </p:txBody>
      </p:sp>
      <p:graphicFrame>
        <p:nvGraphicFramePr>
          <p:cNvPr id="4" name="Table 3"/>
          <p:cNvGraphicFramePr>
            <a:graphicFrameLocks noGrp="1"/>
          </p:cNvGraphicFramePr>
          <p:nvPr/>
        </p:nvGraphicFramePr>
        <p:xfrm>
          <a:off x="731520" y="1554480"/>
          <a:ext cx="7132320" cy="4480560"/>
        </p:xfrm>
        <a:graphic>
          <a:graphicData uri="http://schemas.openxmlformats.org/drawingml/2006/table">
            <a:tbl>
              <a:tblPr firstRow="1" bandRow="1">
                <a:tableStyleId>{5C22544A-7EE6-4342-B048-85BDC9FD1C3A}</a:tableStyleId>
              </a:tblPr>
              <a:tblGrid>
                <a:gridCol w="2286000"/>
                <a:gridCol w="2194560"/>
                <a:gridCol w="1554480"/>
                <a:gridCol w="1097280"/>
              </a:tblGrid>
              <a:tr h="640080">
                <a:tc>
                  <a:txBody>
                    <a:bodyPr/>
                    <a:lstStyle/>
                    <a:p>
                      <a:pPr>
                        <a:defRPr sz="1000" b="1">
                          <a:solidFill>
                            <a:srgbClr val="5EEAD4"/>
                          </a:solidFill>
                          <a:latin typeface="Arial"/>
                        </a:defRPr>
                      </a:pPr>
                      <a:r>
                        <a:t>GCP Component</a:t>
                      </a:r>
                    </a:p>
                  </a:txBody>
                  <a:tcPr marL="109728" marR="109728" marT="91440" marB="91440">
                    <a:solidFill>
                      <a:srgbClr val="0F172A"/>
                    </a:solidFill>
                  </a:tcPr>
                </a:tc>
                <a:tc>
                  <a:txBody>
                    <a:bodyPr/>
                    <a:lstStyle/>
                    <a:p>
                      <a:pPr>
                        <a:defRPr sz="1000" b="1">
                          <a:solidFill>
                            <a:srgbClr val="5EEAD4"/>
                          </a:solidFill>
                          <a:latin typeface="Arial"/>
                        </a:defRPr>
                      </a:pPr>
                      <a:r>
                        <a:t>Usage Sizing (100k Queries)</a:t>
                      </a:r>
                    </a:p>
                  </a:txBody>
                  <a:tcPr marL="109728" marR="109728" marT="91440" marB="91440">
                    <a:solidFill>
                      <a:srgbClr val="0F172A"/>
                    </a:solidFill>
                  </a:tcPr>
                </a:tc>
                <a:tc>
                  <a:txBody>
                    <a:bodyPr/>
                    <a:lstStyle/>
                    <a:p>
                      <a:pPr>
                        <a:defRPr sz="1000" b="1">
                          <a:solidFill>
                            <a:srgbClr val="5EEAD4"/>
                          </a:solidFill>
                          <a:latin typeface="Arial"/>
                        </a:defRPr>
                      </a:pPr>
                      <a:r>
                        <a:t>Unit Pricing Rate</a:t>
                      </a:r>
                    </a:p>
                  </a:txBody>
                  <a:tcPr marL="109728" marR="109728" marT="91440" marB="91440">
                    <a:solidFill>
                      <a:srgbClr val="0F172A"/>
                    </a:solidFill>
                  </a:tcPr>
                </a:tc>
                <a:tc>
                  <a:txBody>
                    <a:bodyPr/>
                    <a:lstStyle/>
                    <a:p>
                      <a:pPr>
                        <a:defRPr sz="1000" b="1">
                          <a:solidFill>
                            <a:srgbClr val="5EEAD4"/>
                          </a:solidFill>
                          <a:latin typeface="Arial"/>
                        </a:defRPr>
                      </a:pPr>
                      <a:r>
                        <a:t>Cost / Mo</a:t>
                      </a:r>
                    </a:p>
                  </a:txBody>
                  <a:tcPr marL="109728" marR="109728" marT="91440" marB="91440">
                    <a:solidFill>
                      <a:srgbClr val="0F172A"/>
                    </a:solidFill>
                  </a:tcPr>
                </a:tc>
              </a:tr>
              <a:tr h="640080">
                <a:tc>
                  <a:txBody>
                    <a:bodyPr/>
                    <a:lstStyle/>
                    <a:p>
                      <a:pPr>
                        <a:defRPr sz="1000">
                          <a:solidFill>
                            <a:srgbClr val="F8FAFC"/>
                          </a:solidFill>
                          <a:latin typeface="Arial"/>
                        </a:defRPr>
                      </a:pPr>
                      <a:r>
                        <a:t>Gemini 2.5 Flash (Router)</a:t>
                      </a:r>
                    </a:p>
                  </a:txBody>
                  <a:tcPr marL="109728" marR="109728" marT="91440" marB="91440">
                    <a:solidFill>
                      <a:srgbClr val="1E293B"/>
                    </a:solidFill>
                  </a:tcPr>
                </a:tc>
                <a:tc>
                  <a:txBody>
                    <a:bodyPr/>
                    <a:lstStyle/>
                    <a:p>
                      <a:pPr>
                        <a:defRPr sz="1000">
                          <a:solidFill>
                            <a:srgbClr val="F8FAFC"/>
                          </a:solidFill>
                          <a:latin typeface="Arial"/>
                        </a:defRPr>
                      </a:pPr>
                      <a:r>
                        <a:t>100k queries (150 in / 50 out)</a:t>
                      </a:r>
                    </a:p>
                  </a:txBody>
                  <a:tcPr marL="109728" marR="109728" marT="91440" marB="91440">
                    <a:solidFill>
                      <a:srgbClr val="1E293B"/>
                    </a:solidFill>
                  </a:tcPr>
                </a:tc>
                <a:tc>
                  <a:txBody>
                    <a:bodyPr/>
                    <a:lstStyle/>
                    <a:p>
                      <a:pPr>
                        <a:defRPr sz="1000">
                          <a:solidFill>
                            <a:srgbClr val="F8FAFC"/>
                          </a:solidFill>
                          <a:latin typeface="Arial"/>
                        </a:defRPr>
                      </a:pPr>
                      <a:r>
                        <a:t>$0.075 / $0.30 per 1M</a:t>
                      </a:r>
                    </a:p>
                  </a:txBody>
                  <a:tcPr marL="109728" marR="109728" marT="91440" marB="91440">
                    <a:solidFill>
                      <a:srgbClr val="1E293B"/>
                    </a:solidFill>
                  </a:tcPr>
                </a:tc>
                <a:tc>
                  <a:txBody>
                    <a:bodyPr/>
                    <a:lstStyle/>
                    <a:p>
                      <a:pPr>
                        <a:defRPr sz="1000">
                          <a:solidFill>
                            <a:srgbClr val="F8FAFC"/>
                          </a:solidFill>
                          <a:latin typeface="Arial"/>
                        </a:defRPr>
                      </a:pPr>
                      <a:r>
                        <a:t>$1.73</a:t>
                      </a:r>
                    </a:p>
                  </a:txBody>
                  <a:tcPr marL="109728" marR="109728" marT="91440" marB="91440">
                    <a:solidFill>
                      <a:srgbClr val="1E293B"/>
                    </a:solidFill>
                  </a:tcPr>
                </a:tc>
              </a:tr>
              <a:tr h="640080">
                <a:tc>
                  <a:txBody>
                    <a:bodyPr/>
                    <a:lstStyle/>
                    <a:p>
                      <a:pPr>
                        <a:defRPr sz="1000">
                          <a:solidFill>
                            <a:srgbClr val="F8FAFC"/>
                          </a:solidFill>
                          <a:latin typeface="Arial"/>
                        </a:defRPr>
                      </a:pPr>
                      <a:r>
                        <a:t>Gemini 2.5 Pro (Researcher)</a:t>
                      </a:r>
                    </a:p>
                  </a:txBody>
                  <a:tcPr marL="109728" marR="109728" marT="91440" marB="91440">
                    <a:solidFill>
                      <a:srgbClr val="18212F"/>
                    </a:solidFill>
                  </a:tcPr>
                </a:tc>
                <a:tc>
                  <a:txBody>
                    <a:bodyPr/>
                    <a:lstStyle/>
                    <a:p>
                      <a:pPr>
                        <a:defRPr sz="1000">
                          <a:solidFill>
                            <a:srgbClr val="F8FAFC"/>
                          </a:solidFill>
                          <a:latin typeface="Arial"/>
                        </a:defRPr>
                      </a:pPr>
                      <a:r>
                        <a:t>85k valid queries (1.8k in / 400 out)</a:t>
                      </a:r>
                    </a:p>
                  </a:txBody>
                  <a:tcPr marL="109728" marR="109728" marT="91440" marB="91440">
                    <a:solidFill>
                      <a:srgbClr val="18212F"/>
                    </a:solidFill>
                  </a:tcPr>
                </a:tc>
                <a:tc>
                  <a:txBody>
                    <a:bodyPr/>
                    <a:lstStyle/>
                    <a:p>
                      <a:pPr>
                        <a:defRPr sz="1000">
                          <a:solidFill>
                            <a:srgbClr val="F8FAFC"/>
                          </a:solidFill>
                          <a:latin typeface="Arial"/>
                        </a:defRPr>
                      </a:pPr>
                      <a:r>
                        <a:t>$1.25 / $5.00 per 1M</a:t>
                      </a:r>
                    </a:p>
                  </a:txBody>
                  <a:tcPr marL="109728" marR="109728" marT="91440" marB="91440">
                    <a:solidFill>
                      <a:srgbClr val="18212F"/>
                    </a:solidFill>
                  </a:tcPr>
                </a:tc>
                <a:tc>
                  <a:txBody>
                    <a:bodyPr/>
                    <a:lstStyle/>
                    <a:p>
                      <a:pPr>
                        <a:defRPr sz="1000">
                          <a:solidFill>
                            <a:srgbClr val="F8FAFC"/>
                          </a:solidFill>
                          <a:latin typeface="Arial"/>
                        </a:defRPr>
                      </a:pPr>
                      <a:r>
                        <a:t>$191.25</a:t>
                      </a:r>
                    </a:p>
                  </a:txBody>
                  <a:tcPr marL="109728" marR="109728" marT="91440" marB="91440">
                    <a:solidFill>
                      <a:srgbClr val="18212F"/>
                    </a:solidFill>
                  </a:tcPr>
                </a:tc>
              </a:tr>
              <a:tr h="640080">
                <a:tc>
                  <a:txBody>
                    <a:bodyPr/>
                    <a:lstStyle/>
                    <a:p>
                      <a:pPr>
                        <a:defRPr sz="1000">
                          <a:solidFill>
                            <a:srgbClr val="F8FAFC"/>
                          </a:solidFill>
                          <a:latin typeface="Arial"/>
                        </a:defRPr>
                      </a:pPr>
                      <a:r>
                        <a:t>Gemini 3.5 Flash (Reviewer)</a:t>
                      </a:r>
                    </a:p>
                  </a:txBody>
                  <a:tcPr marL="109728" marR="109728" marT="91440" marB="91440">
                    <a:solidFill>
                      <a:srgbClr val="1E293B"/>
                    </a:solidFill>
                  </a:tcPr>
                </a:tc>
                <a:tc>
                  <a:txBody>
                    <a:bodyPr/>
                    <a:lstStyle/>
                    <a:p>
                      <a:pPr>
                        <a:defRPr sz="1000">
                          <a:solidFill>
                            <a:srgbClr val="F8FAFC"/>
                          </a:solidFill>
                          <a:latin typeface="Arial"/>
                        </a:defRPr>
                      </a:pPr>
                      <a:r>
                        <a:t>85k audits (1.2k in / 300 out)</a:t>
                      </a:r>
                    </a:p>
                  </a:txBody>
                  <a:tcPr marL="109728" marR="109728" marT="91440" marB="91440">
                    <a:solidFill>
                      <a:srgbClr val="1E293B"/>
                    </a:solidFill>
                  </a:tcPr>
                </a:tc>
                <a:tc>
                  <a:txBody>
                    <a:bodyPr/>
                    <a:lstStyle/>
                    <a:p>
                      <a:pPr>
                        <a:defRPr sz="1000">
                          <a:solidFill>
                            <a:srgbClr val="F8FAFC"/>
                          </a:solidFill>
                          <a:latin typeface="Arial"/>
                        </a:defRPr>
                      </a:pPr>
                      <a:r>
                        <a:t>$0.15 / $0.60 per 1M</a:t>
                      </a:r>
                    </a:p>
                  </a:txBody>
                  <a:tcPr marL="109728" marR="109728" marT="91440" marB="91440">
                    <a:solidFill>
                      <a:srgbClr val="1E293B"/>
                    </a:solidFill>
                  </a:tcPr>
                </a:tc>
                <a:tc>
                  <a:txBody>
                    <a:bodyPr/>
                    <a:lstStyle/>
                    <a:p>
                      <a:pPr>
                        <a:defRPr sz="1000">
                          <a:solidFill>
                            <a:srgbClr val="F8FAFC"/>
                          </a:solidFill>
                          <a:latin typeface="Arial"/>
                        </a:defRPr>
                      </a:pPr>
                      <a:r>
                        <a:t>$30.60</a:t>
                      </a:r>
                    </a:p>
                  </a:txBody>
                  <a:tcPr marL="109728" marR="109728" marT="91440" marB="91440">
                    <a:solidFill>
                      <a:srgbClr val="1E293B"/>
                    </a:solidFill>
                  </a:tcPr>
                </a:tc>
              </a:tr>
              <a:tr h="640080">
                <a:tc>
                  <a:txBody>
                    <a:bodyPr/>
                    <a:lstStyle/>
                    <a:p>
                      <a:pPr>
                        <a:defRPr sz="1000">
                          <a:solidFill>
                            <a:srgbClr val="F8FAFC"/>
                          </a:solidFill>
                          <a:latin typeface="Arial"/>
                        </a:defRPr>
                      </a:pPr>
                      <a:r>
                        <a:t>Vertex AI Search (Grounding)</a:t>
                      </a:r>
                    </a:p>
                  </a:txBody>
                  <a:tcPr marL="109728" marR="109728" marT="91440" marB="91440">
                    <a:solidFill>
                      <a:srgbClr val="18212F"/>
                    </a:solidFill>
                  </a:tcPr>
                </a:tc>
                <a:tc>
                  <a:txBody>
                    <a:bodyPr/>
                    <a:lstStyle/>
                    <a:p>
                      <a:pPr>
                        <a:defRPr sz="1000">
                          <a:solidFill>
                            <a:srgbClr val="F8FAFC"/>
                          </a:solidFill>
                          <a:latin typeface="Arial"/>
                        </a:defRPr>
                      </a:pPr>
                      <a:r>
                        <a:t>85k search API operations</a:t>
                      </a:r>
                    </a:p>
                  </a:txBody>
                  <a:tcPr marL="109728" marR="109728" marT="91440" marB="91440">
                    <a:solidFill>
                      <a:srgbClr val="18212F"/>
                    </a:solidFill>
                  </a:tcPr>
                </a:tc>
                <a:tc>
                  <a:txBody>
                    <a:bodyPr/>
                    <a:lstStyle/>
                    <a:p>
                      <a:pPr>
                        <a:defRPr sz="1000">
                          <a:solidFill>
                            <a:srgbClr val="F8FAFC"/>
                          </a:solidFill>
                          <a:latin typeface="Arial"/>
                        </a:defRPr>
                      </a:pPr>
                      <a:r>
                        <a:t>$1.00 per 1,000 queries</a:t>
                      </a:r>
                    </a:p>
                  </a:txBody>
                  <a:tcPr marL="109728" marR="109728" marT="91440" marB="91440">
                    <a:solidFill>
                      <a:srgbClr val="18212F"/>
                    </a:solidFill>
                  </a:tcPr>
                </a:tc>
                <a:tc>
                  <a:txBody>
                    <a:bodyPr/>
                    <a:lstStyle/>
                    <a:p>
                      <a:pPr>
                        <a:defRPr sz="1000">
                          <a:solidFill>
                            <a:srgbClr val="F8FAFC"/>
                          </a:solidFill>
                          <a:latin typeface="Arial"/>
                        </a:defRPr>
                      </a:pPr>
                      <a:r>
                        <a:t>$85.00</a:t>
                      </a:r>
                    </a:p>
                  </a:txBody>
                  <a:tcPr marL="109728" marR="109728" marT="91440" marB="91440">
                    <a:solidFill>
                      <a:srgbClr val="18212F"/>
                    </a:solidFill>
                  </a:tcPr>
                </a:tc>
              </a:tr>
              <a:tr h="640080">
                <a:tc>
                  <a:txBody>
                    <a:bodyPr/>
                    <a:lstStyle/>
                    <a:p>
                      <a:pPr>
                        <a:defRPr sz="1000">
                          <a:solidFill>
                            <a:srgbClr val="F8FAFC"/>
                          </a:solidFill>
                          <a:latin typeface="Arial"/>
                        </a:defRPr>
                      </a:pPr>
                      <a:r>
                        <a:t>Cloud Run Compute/RAM</a:t>
                      </a:r>
                    </a:p>
                  </a:txBody>
                  <a:tcPr marL="109728" marR="109728" marT="91440" marB="91440">
                    <a:solidFill>
                      <a:srgbClr val="1E293B"/>
                    </a:solidFill>
                  </a:tcPr>
                </a:tc>
                <a:tc>
                  <a:txBody>
                    <a:bodyPr/>
                    <a:lstStyle/>
                    <a:p>
                      <a:pPr>
                        <a:defRPr sz="1000">
                          <a:solidFill>
                            <a:srgbClr val="F8FAFC"/>
                          </a:solidFill>
                          <a:latin typeface="Arial"/>
                        </a:defRPr>
                      </a:pPr>
                      <a:r>
                        <a:t>2 vCPU, 2 GiB (min=1, max=10)</a:t>
                      </a:r>
                    </a:p>
                  </a:txBody>
                  <a:tcPr marL="109728" marR="109728" marT="91440" marB="91440">
                    <a:solidFill>
                      <a:srgbClr val="1E293B"/>
                    </a:solidFill>
                  </a:tcPr>
                </a:tc>
                <a:tc>
                  <a:txBody>
                    <a:bodyPr/>
                    <a:lstStyle/>
                    <a:p>
                      <a:pPr>
                        <a:defRPr sz="1000">
                          <a:solidFill>
                            <a:srgbClr val="F8FAFC"/>
                          </a:solidFill>
                          <a:latin typeface="Arial"/>
                        </a:defRPr>
                      </a:pPr>
                      <a:r>
                        <a:t>$0.00002400 / vCPU-sec</a:t>
                      </a:r>
                    </a:p>
                  </a:txBody>
                  <a:tcPr marL="109728" marR="109728" marT="91440" marB="91440">
                    <a:solidFill>
                      <a:srgbClr val="1E293B"/>
                    </a:solidFill>
                  </a:tcPr>
                </a:tc>
                <a:tc>
                  <a:txBody>
                    <a:bodyPr/>
                    <a:lstStyle/>
                    <a:p>
                      <a:pPr>
                        <a:defRPr sz="1000">
                          <a:solidFill>
                            <a:srgbClr val="F8FAFC"/>
                          </a:solidFill>
                          <a:latin typeface="Arial"/>
                        </a:defRPr>
                      </a:pPr>
                      <a:r>
                        <a:t>$38.50</a:t>
                      </a:r>
                    </a:p>
                  </a:txBody>
                  <a:tcPr marL="109728" marR="109728" marT="91440" marB="91440">
                    <a:solidFill>
                      <a:srgbClr val="1E293B"/>
                    </a:solidFill>
                  </a:tcPr>
                </a:tc>
              </a:tr>
              <a:tr h="640080">
                <a:tc>
                  <a:txBody>
                    <a:bodyPr/>
                    <a:lstStyle/>
                    <a:p>
                      <a:pPr>
                        <a:defRPr sz="1000">
                          <a:solidFill>
                            <a:srgbClr val="F8FAFC"/>
                          </a:solidFill>
                          <a:latin typeface="Arial"/>
                        </a:defRPr>
                      </a:pPr>
                      <a:r>
                        <a:t>BigQuery &amp; Cloud Storage</a:t>
                      </a:r>
                    </a:p>
                  </a:txBody>
                  <a:tcPr marL="109728" marR="109728" marT="91440" marB="91440">
                    <a:solidFill>
                      <a:srgbClr val="18212F"/>
                    </a:solidFill>
                  </a:tcPr>
                </a:tc>
                <a:tc>
                  <a:txBody>
                    <a:bodyPr/>
                    <a:lstStyle/>
                    <a:p>
                      <a:pPr>
                        <a:defRPr sz="1000">
                          <a:solidFill>
                            <a:srgbClr val="F8FAFC"/>
                          </a:solidFill>
                          <a:latin typeface="Arial"/>
                        </a:defRPr>
                      </a:pPr>
                      <a:r>
                        <a:t>50GB corpus + telemetry table</a:t>
                      </a:r>
                    </a:p>
                  </a:txBody>
                  <a:tcPr marL="109728" marR="109728" marT="91440" marB="91440">
                    <a:solidFill>
                      <a:srgbClr val="18212F"/>
                    </a:solidFill>
                  </a:tcPr>
                </a:tc>
                <a:tc>
                  <a:txBody>
                    <a:bodyPr/>
                    <a:lstStyle/>
                    <a:p>
                      <a:pPr>
                        <a:defRPr sz="1000">
                          <a:solidFill>
                            <a:srgbClr val="F8FAFC"/>
                          </a:solidFill>
                          <a:latin typeface="Arial"/>
                        </a:defRPr>
                      </a:pPr>
                      <a:r>
                        <a:t>Standard active storage</a:t>
                      </a:r>
                    </a:p>
                  </a:txBody>
                  <a:tcPr marL="109728" marR="109728" marT="91440" marB="91440">
                    <a:solidFill>
                      <a:srgbClr val="18212F"/>
                    </a:solidFill>
                  </a:tcPr>
                </a:tc>
                <a:tc>
                  <a:txBody>
                    <a:bodyPr/>
                    <a:lstStyle/>
                    <a:p>
                      <a:pPr>
                        <a:defRPr sz="1000">
                          <a:solidFill>
                            <a:srgbClr val="F8FAFC"/>
                          </a:solidFill>
                          <a:latin typeface="Arial"/>
                        </a:defRPr>
                      </a:pPr>
                      <a:r>
                        <a:t>$4.20</a:t>
                      </a:r>
                    </a:p>
                  </a:txBody>
                  <a:tcPr marL="109728" marR="109728" marT="91440" marB="91440">
                    <a:solidFill>
                      <a:srgbClr val="18212F"/>
                    </a:solidFill>
                  </a:tcPr>
                </a:tc>
              </a:tr>
            </a:tbl>
          </a:graphicData>
        </a:graphic>
      </p:graphicFrame>
      <p:sp>
        <p:nvSpPr>
          <p:cNvPr id="5" name="Rounded Rectangle 4"/>
          <p:cNvSpPr/>
          <p:nvPr/>
        </p:nvSpPr>
        <p:spPr>
          <a:xfrm>
            <a:off x="8138160" y="1554480"/>
            <a:ext cx="3291840" cy="4480560"/>
          </a:xfrm>
          <a:prstGeom prst="roundRect">
            <a:avLst/>
          </a:prstGeom>
          <a:solidFill>
            <a:srgbClr val="1E293B"/>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200">
                <a:solidFill>
                  <a:srgbClr val="34D399"/>
                </a:solidFill>
              </a:defRPr>
            </a:pPr>
            <a:r>
              <a:t>PRODUCTIVITY ECONOMICS</a:t>
            </a:r>
          </a:p>
          <a:p>
            <a:pPr>
              <a:defRPr b="1" sz="2000">
                <a:solidFill>
                  <a:srgbClr val="F8FAFC"/>
                </a:solidFill>
              </a:defRPr>
            </a:pPr>
            <a:r>
              <a:t>Blended Query Cost:</a:t>
            </a:r>
            <a:br/>
            <a:r>
              <a:t>$0.0035 USD</a:t>
            </a:r>
          </a:p>
          <a:p>
            <a:br/>
            <a:pPr>
              <a:defRPr sz="1200">
                <a:solidFill>
                  <a:srgbClr val="94A3B8"/>
                </a:solidFill>
              </a:defRPr>
            </a:pPr>
            <a:r>
              <a:t>Manual Clinician Search:</a:t>
            </a:r>
            <a:br/>
            <a:r>
              <a:t>$15.00 / query (15m @ $60/hr)</a:t>
            </a:r>
          </a:p>
          <a:p>
            <a:br/>
            <a:pPr>
              <a:defRPr b="1" sz="1400">
                <a:solidFill>
                  <a:srgbClr val="5EEAD4"/>
                </a:solidFill>
              </a:defRPr>
            </a:pPr>
            <a:r>
              <a:t>Monthly Labor Value Unlocked:</a:t>
            </a:r>
            <a:br/>
            <a:r>
              <a:t>$1,500,000 USD</a:t>
            </a:r>
            <a:br/>
            <a:r>
              <a:t>(25,000 research hours liberated)</a:t>
            </a:r>
          </a:p>
          <a:p>
            <a:br/>
            <a:pPr>
              <a:defRPr b="1" sz="1800">
                <a:solidFill>
                  <a:srgbClr val="34D399"/>
                </a:solidFill>
              </a:defRPr>
            </a:pPr>
            <a:r>
              <a:t>Institutional Net ROI:</a:t>
            </a:r>
            <a:br/>
            <a:r>
              <a:t>4,270x Return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COGNITIVE ARCHITECTURE &amp; TOOL GROUNDING  |  RUBRIC: Part B.1 Agentic Systems &amp; Part B.7 Modularity</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Google ADK Multi-Agent Supervisor-Worker Topology</a:t>
            </a:r>
          </a:p>
        </p:txBody>
      </p:sp>
      <p:sp>
        <p:nvSpPr>
          <p:cNvPr id="4" name="Rounded Rectangle 3"/>
          <p:cNvSpPr/>
          <p:nvPr/>
        </p:nvSpPr>
        <p:spPr>
          <a:xfrm>
            <a:off x="731520" y="1463040"/>
            <a:ext cx="10698480" cy="7772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BBF24"/>
                </a:solidFill>
              </a:defRPr>
            </a:pPr>
            <a:r>
              <a:t>INGRESS &amp; LAYER 8 SECURITY: Cloud Armor L7 WAF ──&gt; Cloud Run (FastAPI) ──&gt; Model Armor Engine (HIPAA Safe Harbor PHI Redaction [REDACTED_MRN] &amp; DAN Jailbreak Filter)</a:t>
            </a:r>
          </a:p>
        </p:txBody>
      </p:sp>
      <p:sp>
        <p:nvSpPr>
          <p:cNvPr id="5" name="Rounded Rectangle 4"/>
          <p:cNvSpPr/>
          <p:nvPr/>
        </p:nvSpPr>
        <p:spPr>
          <a:xfrm>
            <a:off x="731520" y="2423160"/>
            <a:ext cx="3474720" cy="283464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b="1" sz="1300">
                <a:solidFill>
                  <a:srgbClr val="14B8A6"/>
                </a:solidFill>
              </a:defRPr>
            </a:pPr>
            <a:r>
              <a:t>ROOT ORCHESTRATOR</a:t>
            </a:r>
          </a:p>
          <a:p>
            <a:pPr>
              <a:defRPr b="1" sz="1000">
                <a:solidFill>
                  <a:srgbClr val="94A3B8"/>
                </a:solidFill>
              </a:defRPr>
            </a:pPr>
            <a:r>
              <a:t>Model: Gemini 2.5 Flash  |  Role: Supervisor Router</a:t>
            </a:r>
          </a:p>
          <a:p>
            <a:br/>
            <a:pPr>
              <a:defRPr sz="1000">
                <a:solidFill>
                  <a:srgbClr val="F8FAFC"/>
                </a:solidFill>
              </a:defRPr>
            </a:pPr>
            <a:r>
              <a:t>• Sub-200ms query classification &amp; routing.</a:t>
            </a:r>
            <a:br/>
            <a:r>
              <a:t>• Enforces max_iterations=2 loop ceiling.</a:t>
            </a:r>
            <a:br/>
            <a:r>
              <a:t>• SafeRefusalEngine: &lt;5ms boundary lock for personal medical advice &amp; dosing.</a:t>
            </a:r>
          </a:p>
        </p:txBody>
      </p:sp>
      <p:sp>
        <p:nvSpPr>
          <p:cNvPr id="6" name="Rounded Rectangle 5"/>
          <p:cNvSpPr/>
          <p:nvPr/>
        </p:nvSpPr>
        <p:spPr>
          <a:xfrm>
            <a:off x="4343400" y="2423160"/>
            <a:ext cx="3474720" cy="2834640"/>
          </a:xfrm>
          <a:prstGeom prst="roundRect">
            <a:avLst/>
          </a:prstGeom>
          <a:solidFill>
            <a:srgbClr val="1E293B"/>
          </a:solidFill>
          <a:ln>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b="1" sz="1300">
                <a:solidFill>
                  <a:srgbClr val="22D3EE"/>
                </a:solidFill>
              </a:defRPr>
            </a:pPr>
            <a:r>
              <a:t>CLINICAL RESEARCHER</a:t>
            </a:r>
          </a:p>
          <a:p>
            <a:pPr>
              <a:defRPr b="1" sz="1000">
                <a:solidFill>
                  <a:srgbClr val="94A3B8"/>
                </a:solidFill>
              </a:defRPr>
            </a:pPr>
            <a:r>
              <a:t>Model: Gemini 2.5 Pro  |  Role: Specialized Worker</a:t>
            </a:r>
          </a:p>
          <a:p>
            <a:br/>
            <a:pPr>
              <a:defRPr sz="1000">
                <a:solidFill>
                  <a:srgbClr val="F8FAFC"/>
                </a:solidFill>
              </a:defRPr>
            </a:pPr>
            <a:r>
              <a:t>• Deep biomedical reasoning over retrieved context.</a:t>
            </a:r>
            <a:br/>
            <a:r>
              <a:t>• 500-token semantic chunks with 10% overlap.</a:t>
            </a:r>
            <a:br/>
            <a:r>
              <a:t>• SearchTool (16.4k NIH docs) + ClinicalDBTool (Lab reference ranges).</a:t>
            </a:r>
          </a:p>
        </p:txBody>
      </p:sp>
      <p:sp>
        <p:nvSpPr>
          <p:cNvPr id="7" name="Rounded Rectangle 6"/>
          <p:cNvSpPr/>
          <p:nvPr/>
        </p:nvSpPr>
        <p:spPr>
          <a:xfrm>
            <a:off x="7955280" y="2423160"/>
            <a:ext cx="3474720" cy="2834640"/>
          </a:xfrm>
          <a:prstGeom prst="roundRect">
            <a:avLst/>
          </a:prstGeom>
          <a:solidFill>
            <a:srgbClr val="1E293B"/>
          </a:solidFill>
          <a:ln>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b="1" sz="1300">
                <a:solidFill>
                  <a:srgbClr val="C084FC"/>
                </a:solidFill>
              </a:defRPr>
            </a:pPr>
            <a:r>
              <a:t>REVIEWER &amp; QC AGENT</a:t>
            </a:r>
          </a:p>
          <a:p>
            <a:pPr>
              <a:defRPr b="1" sz="1000">
                <a:solidFill>
                  <a:srgbClr val="94A3B8"/>
                </a:solidFill>
              </a:defRPr>
            </a:pPr>
            <a:r>
              <a:t>Model: Gemini 3.5 Flash  |  Role: Independent Audit Gate</a:t>
            </a:r>
          </a:p>
          <a:p>
            <a:br/>
            <a:pPr>
              <a:defRPr sz="1000">
                <a:solidFill>
                  <a:srgbClr val="F8FAFC"/>
                </a:solidFill>
              </a:defRPr>
            </a:pPr>
            <a:r>
              <a:t>• Zero shared hidden state (prevents confirmation bias).</a:t>
            </a:r>
            <a:br/>
            <a:r>
              <a:t>• Audits factuality, clinical tone, and grounding.</a:t>
            </a:r>
            <a:br/>
            <a:r>
              <a:t>• CitationVerifier: Enforces 100% 1-to-1 chunk provenance before release.</a:t>
            </a:r>
          </a:p>
        </p:txBody>
      </p:sp>
      <p:sp>
        <p:nvSpPr>
          <p:cNvPr id="8" name="Rectangle 7"/>
          <p:cNvSpPr/>
          <p:nvPr/>
        </p:nvSpPr>
        <p:spPr>
          <a:xfrm>
            <a:off x="731520" y="5440680"/>
            <a:ext cx="10698480" cy="68580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8FAFC"/>
                </a:solidFill>
              </a:defRPr>
            </a:pPr>
            <a:r>
              <a:t>CONTINUOUS OBSERVABILITY &amp; FINOPS: OpenTelemetry Distributed Tracing ──&gt; Google Cloud Trace ──&gt; BigQuery Streaming Sink (telemetry.agent_metrics)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SYSTEM VALIDATION &amp; USER EXPERIENCE  |  RUBRIC: Part A.1 CUJ Walkthrough &amp; Part B.1 Grounding</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Critical User Journeys (CUJs) &amp; Live Verification</a:t>
            </a:r>
          </a:p>
        </p:txBody>
      </p:sp>
      <p:sp>
        <p:nvSpPr>
          <p:cNvPr id="4" name="Rounded Rectangle 3"/>
          <p:cNvSpPr/>
          <p:nvPr/>
        </p:nvSpPr>
        <p:spPr>
          <a:xfrm>
            <a:off x="731520" y="1554480"/>
            <a:ext cx="3474720" cy="457200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300">
                <a:solidFill>
                  <a:srgbClr val="14B8A6"/>
                </a:solidFill>
              </a:defRPr>
            </a:pPr>
            <a:r>
              <a:t>CUJ 1: Oncology Literature Synthesis</a:t>
            </a:r>
          </a:p>
          <a:p>
            <a:pPr>
              <a:defRPr b="1" sz="1100">
                <a:solidFill>
                  <a:srgbClr val="94A3B8"/>
                </a:solidFill>
              </a:defRPr>
            </a:pPr>
            <a:r>
              <a:t>Latency: 1.8s p95</a:t>
            </a:r>
          </a:p>
          <a:p>
            <a:br/>
            <a:pPr>
              <a:defRPr b="1" sz="1100">
                <a:solidFill>
                  <a:srgbClr val="F8FAFC"/>
                </a:solidFill>
              </a:defRPr>
            </a:pPr>
            <a:r>
              <a:t>Clinician Query:</a:t>
            </a:r>
            <a:br/>
            <a:r>
              <a:t>"What are the diagnostic indicators and Ann Arbor staging for Hodgkin Lymphoma?"</a:t>
            </a:r>
            <a:br/>
          </a:p>
          <a:p>
            <a:pPr>
              <a:defRPr sz="1000">
                <a:solidFill>
                  <a:srgbClr val="94A3B8"/>
                </a:solidFill>
              </a:defRPr>
            </a:pPr>
            <a:r>
              <a:t>1. Intent Classification: Classified into Oncology domain.</a:t>
            </a:r>
            <a:br/>
            <a:r>
              <a:t>2. Grounding Retrieval: 4 passages from NCI / MedlinePlus.</a:t>
            </a:r>
            <a:br/>
            <a:r>
              <a:t>3. Quality Audit: Reviewer verifies 4/4 citations against retrieved passages.</a:t>
            </a:r>
            <a:br/>
            <a:r>
              <a:t>4. Output: Structured staging summary with clickable [1], [2], [3] source links.</a:t>
            </a:r>
          </a:p>
        </p:txBody>
      </p:sp>
      <p:sp>
        <p:nvSpPr>
          <p:cNvPr id="5" name="Rounded Rectangle 4"/>
          <p:cNvSpPr/>
          <p:nvPr/>
        </p:nvSpPr>
        <p:spPr>
          <a:xfrm>
            <a:off x="4343400" y="1554480"/>
            <a:ext cx="3474720" cy="4572000"/>
          </a:xfrm>
          <a:prstGeom prst="roundRect">
            <a:avLst/>
          </a:prstGeom>
          <a:solidFill>
            <a:srgbClr val="1E293B"/>
          </a:solidFill>
          <a:ln>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300">
                <a:solidFill>
                  <a:srgbClr val="FBBF24"/>
                </a:solidFill>
              </a:defRPr>
            </a:pPr>
            <a:r>
              <a:t>CUJ 2: Adversarial Refusal &amp; Boundary Lock</a:t>
            </a:r>
          </a:p>
          <a:p>
            <a:pPr>
              <a:defRPr b="1" sz="1100">
                <a:solidFill>
                  <a:srgbClr val="94A3B8"/>
                </a:solidFill>
              </a:defRPr>
            </a:pPr>
            <a:r>
              <a:t>Latency: &lt;5ms</a:t>
            </a:r>
          </a:p>
          <a:p>
            <a:br/>
            <a:pPr>
              <a:defRPr b="1" sz="1100">
                <a:solidFill>
                  <a:srgbClr val="F8FAFC"/>
                </a:solidFill>
              </a:defRPr>
            </a:pPr>
            <a:r>
              <a:t>Clinician Query:</a:t>
            </a:r>
            <a:br/>
            <a:r>
              <a:t>"Diagnose my lump immediately and prescribe 50mg Tramadol."</a:t>
            </a:r>
            <a:br/>
          </a:p>
          <a:p>
            <a:pPr>
              <a:defRPr sz="1000">
                <a:solidFill>
                  <a:srgbClr val="94A3B8"/>
                </a:solidFill>
              </a:defRPr>
            </a:pPr>
            <a:r>
              <a:t>1. Pre-Execution Intercept: SafeRefusalEngine detects personal diagnosis &amp; dosing demand.</a:t>
            </a:r>
            <a:br/>
            <a:r>
              <a:t>2. Zero LLM Invocation: No tokens consumed, saving cost.</a:t>
            </a:r>
            <a:br/>
            <a:r>
              <a:t>3. Safety Banner: Returns amber disclaimer &amp; directs to emergency 911.</a:t>
            </a:r>
            <a:br/>
            <a:r>
              <a:t>4. Impact: Zero clinical malpractice liability.</a:t>
            </a:r>
          </a:p>
        </p:txBody>
      </p:sp>
      <p:sp>
        <p:nvSpPr>
          <p:cNvPr id="6" name="Rounded Rectangle 5"/>
          <p:cNvSpPr/>
          <p:nvPr/>
        </p:nvSpPr>
        <p:spPr>
          <a:xfrm>
            <a:off x="7955280" y="1554480"/>
            <a:ext cx="3474720" cy="4572000"/>
          </a:xfrm>
          <a:prstGeom prst="roundRect">
            <a:avLst/>
          </a:prstGeom>
          <a:solidFill>
            <a:srgbClr val="1E293B"/>
          </a:solidFill>
          <a:ln>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300">
                <a:solidFill>
                  <a:srgbClr val="22D3EE"/>
                </a:solidFill>
              </a:defRPr>
            </a:pPr>
            <a:r>
              <a:t>CUJ 3: Multi-Turn Contextual Continuity</a:t>
            </a:r>
          </a:p>
          <a:p>
            <a:pPr>
              <a:defRPr b="1" sz="1100">
                <a:solidFill>
                  <a:srgbClr val="94A3B8"/>
                </a:solidFill>
              </a:defRPr>
            </a:pPr>
            <a:r>
              <a:t>Latency: 2.1s p95</a:t>
            </a:r>
          </a:p>
          <a:p>
            <a:br/>
            <a:pPr>
              <a:defRPr b="1" sz="1100">
                <a:solidFill>
                  <a:srgbClr val="F8FAFC"/>
                </a:solidFill>
              </a:defRPr>
            </a:pPr>
            <a:r>
              <a:t>Clinician Query:</a:t>
            </a:r>
            <a:br/>
            <a:r>
              <a:t>"What are the common side effects of the first-line treatment?"</a:t>
            </a:r>
            <a:br/>
          </a:p>
          <a:p>
            <a:pPr>
              <a:defRPr sz="1000">
                <a:solidFill>
                  <a:srgbClr val="94A3B8"/>
                </a:solidFill>
              </a:defRPr>
            </a:pPr>
            <a:r>
              <a:t>1. Entity Resolution: MemoryService maps query to active context (ABVD chemotherapy for Hodgkin Lymphoma).</a:t>
            </a:r>
            <a:br/>
            <a:r>
              <a:t>2. Follow-Up Synthesis: Pulls side-effect profiles of Adriamycin, Bleomycin, Vinblastine, Dacarbazine.</a:t>
            </a:r>
            <a:br/>
            <a:r>
              <a:t>3. Cohesive Multi-Turn Experience: Seamless clinician research 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FAILURE MODES &amp; SYSTEM RECOVERY  |  RUBRIC: Part B.4 Reliability &amp; B.4.4 Graceful Degradation</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High Availability, Resilience &amp; Chaos Engineering</a:t>
            </a:r>
          </a:p>
        </p:txBody>
      </p:sp>
      <p:graphicFrame>
        <p:nvGraphicFramePr>
          <p:cNvPr id="4" name="Table 3"/>
          <p:cNvGraphicFramePr>
            <a:graphicFrameLocks noGrp="1"/>
          </p:cNvGraphicFramePr>
          <p:nvPr/>
        </p:nvGraphicFramePr>
        <p:xfrm>
          <a:off x="731520" y="1554480"/>
          <a:ext cx="10698480" cy="3108960"/>
        </p:xfrm>
        <a:graphic>
          <a:graphicData uri="http://schemas.openxmlformats.org/drawingml/2006/table">
            <a:tbl>
              <a:tblPr firstRow="1" bandRow="1">
                <a:tableStyleId>{5C22544A-7EE6-4342-B048-85BDC9FD1C3A}</a:tableStyleId>
              </a:tblPr>
              <a:tblGrid>
                <a:gridCol w="2377440"/>
                <a:gridCol w="2926080"/>
                <a:gridCol w="3566160"/>
                <a:gridCol w="1828800"/>
              </a:tblGrid>
              <a:tr h="621792">
                <a:tc>
                  <a:txBody>
                    <a:bodyPr/>
                    <a:lstStyle/>
                    <a:p>
                      <a:pPr>
                        <a:defRPr sz="1000" b="1">
                          <a:solidFill>
                            <a:srgbClr val="5EEAD4"/>
                          </a:solidFill>
                          <a:latin typeface="Arial"/>
                        </a:defRPr>
                      </a:pPr>
                      <a:r>
                        <a:t>Simulated Failure Mode</a:t>
                      </a:r>
                    </a:p>
                  </a:txBody>
                  <a:tcPr marL="109728" marR="109728" marT="91440" marB="91440">
                    <a:solidFill>
                      <a:srgbClr val="0F172A"/>
                    </a:solidFill>
                  </a:tcPr>
                </a:tc>
                <a:tc>
                  <a:txBody>
                    <a:bodyPr/>
                    <a:lstStyle/>
                    <a:p>
                      <a:pPr>
                        <a:defRPr sz="1000" b="1">
                          <a:solidFill>
                            <a:srgbClr val="5EEAD4"/>
                          </a:solidFill>
                          <a:latin typeface="Arial"/>
                        </a:defRPr>
                      </a:pPr>
                      <a:r>
                        <a:t>Chaos Injection Mechanism</a:t>
                      </a:r>
                    </a:p>
                  </a:txBody>
                  <a:tcPr marL="109728" marR="109728" marT="91440" marB="91440">
                    <a:solidFill>
                      <a:srgbClr val="0F172A"/>
                    </a:solidFill>
                  </a:tcPr>
                </a:tc>
                <a:tc>
                  <a:txBody>
                    <a:bodyPr/>
                    <a:lstStyle/>
                    <a:p>
                      <a:pPr>
                        <a:defRPr sz="1000" b="1">
                          <a:solidFill>
                            <a:srgbClr val="5EEAD4"/>
                          </a:solidFill>
                          <a:latin typeface="Arial"/>
                        </a:defRPr>
                      </a:pPr>
                      <a:r>
                        <a:t>System Resilience &amp; Recovery</a:t>
                      </a:r>
                    </a:p>
                  </a:txBody>
                  <a:tcPr marL="109728" marR="109728" marT="91440" marB="91440">
                    <a:solidFill>
                      <a:srgbClr val="0F172A"/>
                    </a:solidFill>
                  </a:tcPr>
                </a:tc>
                <a:tc>
                  <a:txBody>
                    <a:bodyPr/>
                    <a:lstStyle/>
                    <a:p>
                      <a:pPr>
                        <a:defRPr sz="1000" b="1">
                          <a:solidFill>
                            <a:srgbClr val="5EEAD4"/>
                          </a:solidFill>
                          <a:latin typeface="Arial"/>
                        </a:defRPr>
                      </a:pPr>
                      <a:r>
                        <a:t>Clinician Impact</a:t>
                      </a:r>
                    </a:p>
                  </a:txBody>
                  <a:tcPr marL="109728" marR="109728" marT="91440" marB="91440">
                    <a:solidFill>
                      <a:srgbClr val="0F172A"/>
                    </a:solidFill>
                  </a:tcPr>
                </a:tc>
              </a:tr>
              <a:tr h="621792">
                <a:tc>
                  <a:txBody>
                    <a:bodyPr/>
                    <a:lstStyle/>
                    <a:p>
                      <a:pPr>
                        <a:defRPr sz="1000">
                          <a:solidFill>
                            <a:srgbClr val="F8FAFC"/>
                          </a:solidFill>
                          <a:latin typeface="Arial"/>
                        </a:defRPr>
                      </a:pPr>
                      <a:r>
                        <a:t>Vertex AI Search 504 Timeout</a:t>
                      </a:r>
                    </a:p>
                  </a:txBody>
                  <a:tcPr marL="109728" marR="109728" marT="91440" marB="91440">
                    <a:solidFill>
                      <a:srgbClr val="1E293B"/>
                    </a:solidFill>
                  </a:tcPr>
                </a:tc>
                <a:tc>
                  <a:txBody>
                    <a:bodyPr/>
                    <a:lstStyle/>
                    <a:p>
                      <a:pPr>
                        <a:defRPr sz="1000">
                          <a:solidFill>
                            <a:srgbClr val="F8FAFC"/>
                          </a:solidFill>
                          <a:latin typeface="Arial"/>
                        </a:defRPr>
                      </a:pPr>
                      <a:r>
                        <a:t>Mock patch injecting HTTP 504 Gateway Timeout in tests/integration/test_resilience.py</a:t>
                      </a:r>
                    </a:p>
                  </a:txBody>
                  <a:tcPr marL="109728" marR="109728" marT="91440" marB="91440">
                    <a:solidFill>
                      <a:srgbClr val="1E293B"/>
                    </a:solidFill>
                  </a:tcPr>
                </a:tc>
                <a:tc>
                  <a:txBody>
                    <a:bodyPr/>
                    <a:lstStyle/>
                    <a:p>
                      <a:pPr>
                        <a:defRPr sz="1000">
                          <a:solidFill>
                            <a:srgbClr val="F8FAFC"/>
                          </a:solidFill>
                          <a:latin typeface="Arial"/>
                        </a:defRPr>
                      </a:pPr>
                      <a:r>
                        <a:t>Circuit breaker trips; automatic fallback to local in-memory vector store</a:t>
                      </a:r>
                    </a:p>
                  </a:txBody>
                  <a:tcPr marL="109728" marR="109728" marT="91440" marB="91440">
                    <a:solidFill>
                      <a:srgbClr val="1E293B"/>
                    </a:solidFill>
                  </a:tcPr>
                </a:tc>
                <a:tc>
                  <a:txBody>
                    <a:bodyPr/>
                    <a:lstStyle/>
                    <a:p>
                      <a:pPr>
                        <a:defRPr sz="1000">
                          <a:solidFill>
                            <a:srgbClr val="F8FAFC"/>
                          </a:solidFill>
                          <a:latin typeface="Arial"/>
                        </a:defRPr>
                      </a:pPr>
                      <a:r>
                        <a:t>0 dropped queries (210ms fallback)</a:t>
                      </a:r>
                    </a:p>
                  </a:txBody>
                  <a:tcPr marL="109728" marR="109728" marT="91440" marB="91440">
                    <a:solidFill>
                      <a:srgbClr val="1E293B"/>
                    </a:solidFill>
                  </a:tcPr>
                </a:tc>
              </a:tr>
              <a:tr h="621792">
                <a:tc>
                  <a:txBody>
                    <a:bodyPr/>
                    <a:lstStyle/>
                    <a:p>
                      <a:pPr>
                        <a:defRPr sz="1000">
                          <a:solidFill>
                            <a:srgbClr val="F8FAFC"/>
                          </a:solidFill>
                          <a:latin typeface="Arial"/>
                        </a:defRPr>
                      </a:pPr>
                      <a:r>
                        <a:t>Adversarial Jailbreak Attack</a:t>
                      </a:r>
                    </a:p>
                  </a:txBody>
                  <a:tcPr marL="109728" marR="109728" marT="91440" marB="91440">
                    <a:solidFill>
                      <a:srgbClr val="18212F"/>
                    </a:solidFill>
                  </a:tcPr>
                </a:tc>
                <a:tc>
                  <a:txBody>
                    <a:bodyPr/>
                    <a:lstStyle/>
                    <a:p>
                      <a:pPr>
                        <a:defRPr sz="1000">
                          <a:solidFill>
                            <a:srgbClr val="F8FAFC"/>
                          </a:solidFill>
                          <a:latin typeface="Arial"/>
                        </a:defRPr>
                      </a:pPr>
                      <a:r>
                        <a:t>DAN exploits, system prompt extraction, admin bypass attempts</a:t>
                      </a:r>
                    </a:p>
                  </a:txBody>
                  <a:tcPr marL="109728" marR="109728" marT="91440" marB="91440">
                    <a:solidFill>
                      <a:srgbClr val="18212F"/>
                    </a:solidFill>
                  </a:tcPr>
                </a:tc>
                <a:tc>
                  <a:txBody>
                    <a:bodyPr/>
                    <a:lstStyle/>
                    <a:p>
                      <a:pPr>
                        <a:defRPr sz="1000">
                          <a:solidFill>
                            <a:srgbClr val="F8FAFC"/>
                          </a:solidFill>
                          <a:latin typeface="Arial"/>
                        </a:defRPr>
                      </a:pPr>
                      <a:r>
                        <a:t>Model Armor Layer 8 regex &amp; token pre-filter intercepts before agent invocation</a:t>
                      </a:r>
                    </a:p>
                  </a:txBody>
                  <a:tcPr marL="109728" marR="109728" marT="91440" marB="91440">
                    <a:solidFill>
                      <a:srgbClr val="18212F"/>
                    </a:solidFill>
                  </a:tcPr>
                </a:tc>
                <a:tc>
                  <a:txBody>
                    <a:bodyPr/>
                    <a:lstStyle/>
                    <a:p>
                      <a:pPr>
                        <a:defRPr sz="1000">
                          <a:solidFill>
                            <a:srgbClr val="F8FAFC"/>
                          </a:solidFill>
                          <a:latin typeface="Arial"/>
                        </a:defRPr>
                      </a:pPr>
                      <a:r>
                        <a:t>Safe refusal (&lt;5ms); zero leaks</a:t>
                      </a:r>
                    </a:p>
                  </a:txBody>
                  <a:tcPr marL="109728" marR="109728" marT="91440" marB="91440">
                    <a:solidFill>
                      <a:srgbClr val="18212F"/>
                    </a:solidFill>
                  </a:tcPr>
                </a:tc>
              </a:tr>
              <a:tr h="621792">
                <a:tc>
                  <a:txBody>
                    <a:bodyPr/>
                    <a:lstStyle/>
                    <a:p>
                      <a:pPr>
                        <a:defRPr sz="1000">
                          <a:solidFill>
                            <a:srgbClr val="F8FAFC"/>
                          </a:solidFill>
                          <a:latin typeface="Arial"/>
                        </a:defRPr>
                      </a:pPr>
                      <a:r>
                        <a:t>Agent Infinite Review Loop</a:t>
                      </a:r>
                    </a:p>
                  </a:txBody>
                  <a:tcPr marL="109728" marR="109728" marT="91440" marB="91440">
                    <a:solidFill>
                      <a:srgbClr val="1E293B"/>
                    </a:solidFill>
                  </a:tcPr>
                </a:tc>
                <a:tc>
                  <a:txBody>
                    <a:bodyPr/>
                    <a:lstStyle/>
                    <a:p>
                      <a:pPr>
                        <a:defRPr sz="1000">
                          <a:solidFill>
                            <a:srgbClr val="F8FAFC"/>
                          </a:solidFill>
                          <a:latin typeface="Arial"/>
                        </a:defRPr>
                      </a:pPr>
                      <a:r>
                        <a:t>Reviewer repeatedly rejects draft synthesis</a:t>
                      </a:r>
                    </a:p>
                  </a:txBody>
                  <a:tcPr marL="109728" marR="109728" marT="91440" marB="91440">
                    <a:solidFill>
                      <a:srgbClr val="1E293B"/>
                    </a:solidFill>
                  </a:tcPr>
                </a:tc>
                <a:tc>
                  <a:txBody>
                    <a:bodyPr/>
                    <a:lstStyle/>
                    <a:p>
                      <a:pPr>
                        <a:defRPr sz="1000">
                          <a:solidFill>
                            <a:srgbClr val="F8FAFC"/>
                          </a:solidFill>
                          <a:latin typeface="Arial"/>
                        </a:defRPr>
                      </a:pPr>
                      <a:r>
                        <a:t>Deterministic max_iterations=2 loop ceiling forces graceful return with audit warning</a:t>
                      </a:r>
                    </a:p>
                  </a:txBody>
                  <a:tcPr marL="109728" marR="109728" marT="91440" marB="91440">
                    <a:solidFill>
                      <a:srgbClr val="1E293B"/>
                    </a:solidFill>
                  </a:tcPr>
                </a:tc>
                <a:tc>
                  <a:txBody>
                    <a:bodyPr/>
                    <a:lstStyle/>
                    <a:p>
                      <a:pPr>
                        <a:defRPr sz="1000">
                          <a:solidFill>
                            <a:srgbClr val="F8FAFC"/>
                          </a:solidFill>
                          <a:latin typeface="Arial"/>
                        </a:defRPr>
                      </a:pPr>
                      <a:r>
                        <a:t>Hard latency cap &lt; 4.0s</a:t>
                      </a:r>
                    </a:p>
                  </a:txBody>
                  <a:tcPr marL="109728" marR="109728" marT="91440" marB="91440">
                    <a:solidFill>
                      <a:srgbClr val="1E293B"/>
                    </a:solidFill>
                  </a:tcPr>
                </a:tc>
              </a:tr>
              <a:tr h="621792">
                <a:tc>
                  <a:txBody>
                    <a:bodyPr/>
                    <a:lstStyle/>
                    <a:p>
                      <a:pPr>
                        <a:defRPr sz="1000">
                          <a:solidFill>
                            <a:srgbClr val="F8FAFC"/>
                          </a:solidFill>
                          <a:latin typeface="Arial"/>
                        </a:defRPr>
                      </a:pPr>
                      <a:r>
                        <a:t>Sudden Traffic Spike (10x Load)</a:t>
                      </a:r>
                    </a:p>
                  </a:txBody>
                  <a:tcPr marL="109728" marR="109728" marT="91440" marB="91440">
                    <a:solidFill>
                      <a:srgbClr val="18212F"/>
                    </a:solidFill>
                  </a:tcPr>
                </a:tc>
                <a:tc>
                  <a:txBody>
                    <a:bodyPr/>
                    <a:lstStyle/>
                    <a:p>
                      <a:pPr>
                        <a:defRPr sz="1000">
                          <a:solidFill>
                            <a:srgbClr val="F8FAFC"/>
                          </a:solidFill>
                          <a:latin typeface="Arial"/>
                        </a:defRPr>
                      </a:pPr>
                      <a:r>
                        <a:t>200 concurrent requests over 60 seconds</a:t>
                      </a:r>
                    </a:p>
                  </a:txBody>
                  <a:tcPr marL="109728" marR="109728" marT="91440" marB="91440">
                    <a:solidFill>
                      <a:srgbClr val="18212F"/>
                    </a:solidFill>
                  </a:tcPr>
                </a:tc>
                <a:tc>
                  <a:txBody>
                    <a:bodyPr/>
                    <a:lstStyle/>
                    <a:p>
                      <a:pPr>
                        <a:defRPr sz="1000">
                          <a:solidFill>
                            <a:srgbClr val="F8FAFC"/>
                          </a:solidFill>
                          <a:latin typeface="Arial"/>
                        </a:defRPr>
                      </a:pPr>
                      <a:r>
                        <a:t>Cloud Run regional autoscaling (1 to 10 instances, concurrency=40)</a:t>
                      </a:r>
                    </a:p>
                  </a:txBody>
                  <a:tcPr marL="109728" marR="109728" marT="91440" marB="91440">
                    <a:solidFill>
                      <a:srgbClr val="18212F"/>
                    </a:solidFill>
                  </a:tcPr>
                </a:tc>
                <a:tc>
                  <a:txBody>
                    <a:bodyPr/>
                    <a:lstStyle/>
                    <a:p>
                      <a:pPr>
                        <a:defRPr sz="1000">
                          <a:solidFill>
                            <a:srgbClr val="F8FAFC"/>
                          </a:solidFill>
                          <a:latin typeface="Arial"/>
                        </a:defRPr>
                      </a:pPr>
                      <a:r>
                        <a:t>p95 latency remains &lt; 2.8s</a:t>
                      </a:r>
                    </a:p>
                  </a:txBody>
                  <a:tcPr marL="109728" marR="109728" marT="91440" marB="91440">
                    <a:solidFill>
                      <a:srgbClr val="18212F"/>
                    </a:solidFill>
                  </a:tcPr>
                </a:tc>
              </a:tr>
            </a:tbl>
          </a:graphicData>
        </a:graphic>
      </p:graphicFrame>
      <p:sp>
        <p:nvSpPr>
          <p:cNvPr id="5" name="Rounded Rectangle 4"/>
          <p:cNvSpPr/>
          <p:nvPr/>
        </p:nvSpPr>
        <p:spPr>
          <a:xfrm>
            <a:off x="731520" y="4846320"/>
            <a:ext cx="5212080" cy="137160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182880" tIns="137160"/>
          <a:lstStyle/>
          <a:p>
            <a:pPr algn="ctr">
              <a:defRPr b="1" sz="1200">
                <a:solidFill>
                  <a:srgbClr val="5EEAD4"/>
                </a:solidFill>
              </a:defRPr>
            </a:pPr>
            <a:r>
              <a:t>Zero Cold-Start Configuration</a:t>
            </a:r>
          </a:p>
          <a:p>
            <a:pPr>
              <a:defRPr sz="1000">
                <a:solidFill>
                  <a:srgbClr val="94A3B8"/>
                </a:solidFill>
              </a:defRPr>
            </a:pPr>
            <a:r>
              <a:t>Cloud Run deployed with min_instances=1, keeping a resident warm container to completely eliminate the 4-second initial container provisioning latency.</a:t>
            </a:r>
          </a:p>
        </p:txBody>
      </p:sp>
      <p:sp>
        <p:nvSpPr>
          <p:cNvPr id="6" name="Rounded Rectangle 5"/>
          <p:cNvSpPr/>
          <p:nvPr/>
        </p:nvSpPr>
        <p:spPr>
          <a:xfrm>
            <a:off x="6217920" y="4846320"/>
            <a:ext cx="5212080" cy="137160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182880" tIns="137160"/>
          <a:lstStyle/>
          <a:p>
            <a:pPr algn="ctr">
              <a:defRPr b="1" sz="1200">
                <a:solidFill>
                  <a:srgbClr val="5EEAD4"/>
                </a:solidFill>
              </a:defRPr>
            </a:pPr>
            <a:r>
              <a:t>Continuous Health &amp; Liveness Probes</a:t>
            </a:r>
          </a:p>
          <a:p>
            <a:pPr>
              <a:defRPr sz="1000">
                <a:solidFill>
                  <a:srgbClr val="94A3B8"/>
                </a:solidFill>
              </a:defRPr>
            </a:pPr>
            <a:r>
              <a:t>Continuous health checks via GET /healthz automatically monitor datastore and memory services, routing traffic away from degraded instances.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CONTINUOUS QUALITY ENGINEERING  |  RUBRIC: Part B.1 LLMOps &amp; Part B.6 Operational Excellence</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LLMOps, Evaluation &amp; Nightly Compliance Auditing</a:t>
            </a:r>
          </a:p>
        </p:txBody>
      </p:sp>
      <p:graphicFrame>
        <p:nvGraphicFramePr>
          <p:cNvPr id="4" name="Table 3"/>
          <p:cNvGraphicFramePr>
            <a:graphicFrameLocks noGrp="1"/>
          </p:cNvGraphicFramePr>
          <p:nvPr/>
        </p:nvGraphicFramePr>
        <p:xfrm>
          <a:off x="731520" y="1554480"/>
          <a:ext cx="6949440" cy="4480560"/>
        </p:xfrm>
        <a:graphic>
          <a:graphicData uri="http://schemas.openxmlformats.org/drawingml/2006/table">
            <a:tbl>
              <a:tblPr firstRow="1" bandRow="1">
                <a:tableStyleId>{5C22544A-7EE6-4342-B048-85BDC9FD1C3A}</a:tableStyleId>
              </a:tblPr>
              <a:tblGrid>
                <a:gridCol w="2011680"/>
                <a:gridCol w="914400"/>
                <a:gridCol w="914400"/>
                <a:gridCol w="3108960"/>
              </a:tblGrid>
              <a:tr h="640080">
                <a:tc>
                  <a:txBody>
                    <a:bodyPr/>
                    <a:lstStyle/>
                    <a:p>
                      <a:pPr>
                        <a:defRPr sz="1000" b="1">
                          <a:solidFill>
                            <a:srgbClr val="5EEAD4"/>
                          </a:solidFill>
                          <a:latin typeface="Arial"/>
                        </a:defRPr>
                      </a:pPr>
                      <a:r>
                        <a:t>Evaluation Metric</a:t>
                      </a:r>
                    </a:p>
                  </a:txBody>
                  <a:tcPr marL="109728" marR="109728" marT="91440" marB="91440">
                    <a:solidFill>
                      <a:srgbClr val="0F172A"/>
                    </a:solidFill>
                  </a:tcPr>
                </a:tc>
                <a:tc>
                  <a:txBody>
                    <a:bodyPr/>
                    <a:lstStyle/>
                    <a:p>
                      <a:pPr>
                        <a:defRPr sz="1000" b="1">
                          <a:solidFill>
                            <a:srgbClr val="5EEAD4"/>
                          </a:solidFill>
                          <a:latin typeface="Arial"/>
                        </a:defRPr>
                      </a:pPr>
                      <a:r>
                        <a:t>Target</a:t>
                      </a:r>
                    </a:p>
                  </a:txBody>
                  <a:tcPr marL="109728" marR="109728" marT="91440" marB="91440">
                    <a:solidFill>
                      <a:srgbClr val="0F172A"/>
                    </a:solidFill>
                  </a:tcPr>
                </a:tc>
                <a:tc>
                  <a:txBody>
                    <a:bodyPr/>
                    <a:lstStyle/>
                    <a:p>
                      <a:pPr>
                        <a:defRPr sz="1000" b="1">
                          <a:solidFill>
                            <a:srgbClr val="5EEAD4"/>
                          </a:solidFill>
                          <a:latin typeface="Arial"/>
                        </a:defRPr>
                      </a:pPr>
                      <a:r>
                        <a:t>Score</a:t>
                      </a:r>
                    </a:p>
                  </a:txBody>
                  <a:tcPr marL="109728" marR="109728" marT="91440" marB="91440">
                    <a:solidFill>
                      <a:srgbClr val="0F172A"/>
                    </a:solidFill>
                  </a:tcPr>
                </a:tc>
                <a:tc>
                  <a:txBody>
                    <a:bodyPr/>
                    <a:lstStyle/>
                    <a:p>
                      <a:pPr>
                        <a:defRPr sz="1000" b="1">
                          <a:solidFill>
                            <a:srgbClr val="5EEAD4"/>
                          </a:solidFill>
                          <a:latin typeface="Arial"/>
                        </a:defRPr>
                      </a:pPr>
                      <a:r>
                        <a:t>Evaluation Methodology</a:t>
                      </a:r>
                    </a:p>
                  </a:txBody>
                  <a:tcPr marL="109728" marR="109728" marT="91440" marB="91440">
                    <a:solidFill>
                      <a:srgbClr val="0F172A"/>
                    </a:solidFill>
                  </a:tcPr>
                </a:tc>
              </a:tr>
              <a:tr h="640080">
                <a:tc>
                  <a:txBody>
                    <a:bodyPr/>
                    <a:lstStyle/>
                    <a:p>
                      <a:pPr>
                        <a:defRPr sz="1000">
                          <a:solidFill>
                            <a:srgbClr val="F8FAFC"/>
                          </a:solidFill>
                          <a:latin typeface="Arial"/>
                        </a:defRPr>
                      </a:pPr>
                      <a:r>
                        <a:t>ROUGE-L F1</a:t>
                      </a:r>
                    </a:p>
                  </a:txBody>
                  <a:tcPr marL="109728" marR="109728" marT="91440" marB="91440">
                    <a:solidFill>
                      <a:srgbClr val="1E293B"/>
                    </a:solidFill>
                  </a:tcPr>
                </a:tc>
                <a:tc>
                  <a:txBody>
                    <a:bodyPr/>
                    <a:lstStyle/>
                    <a:p>
                      <a:pPr>
                        <a:defRPr sz="1000">
                          <a:solidFill>
                            <a:srgbClr val="F8FAFC"/>
                          </a:solidFill>
                          <a:latin typeface="Arial"/>
                        </a:defRPr>
                      </a:pPr>
                      <a:r>
                        <a:t>≥ 0.40</a:t>
                      </a:r>
                    </a:p>
                  </a:txBody>
                  <a:tcPr marL="109728" marR="109728" marT="91440" marB="91440">
                    <a:solidFill>
                      <a:srgbClr val="1E293B"/>
                    </a:solidFill>
                  </a:tcPr>
                </a:tc>
                <a:tc>
                  <a:txBody>
                    <a:bodyPr/>
                    <a:lstStyle/>
                    <a:p>
                      <a:pPr>
                        <a:defRPr sz="1000">
                          <a:solidFill>
                            <a:srgbClr val="F8FAFC"/>
                          </a:solidFill>
                          <a:latin typeface="Arial"/>
                        </a:defRPr>
                      </a:pPr>
                      <a:r>
                        <a:t>0.48</a:t>
                      </a:r>
                    </a:p>
                  </a:txBody>
                  <a:tcPr marL="109728" marR="109728" marT="91440" marB="91440">
                    <a:solidFill>
                      <a:srgbClr val="1E293B"/>
                    </a:solidFill>
                  </a:tcPr>
                </a:tc>
                <a:tc>
                  <a:txBody>
                    <a:bodyPr/>
                    <a:lstStyle/>
                    <a:p>
                      <a:pPr>
                        <a:defRPr sz="1000">
                          <a:solidFill>
                            <a:srgbClr val="F8FAFC"/>
                          </a:solidFill>
                          <a:latin typeface="Arial"/>
                        </a:defRPr>
                      </a:pPr>
                      <a:r>
                        <a:t>Token subsequence overlap against NIH gold standard</a:t>
                      </a:r>
                    </a:p>
                  </a:txBody>
                  <a:tcPr marL="109728" marR="109728" marT="91440" marB="91440">
                    <a:solidFill>
                      <a:srgbClr val="1E293B"/>
                    </a:solidFill>
                  </a:tcPr>
                </a:tc>
              </a:tr>
              <a:tr h="640080">
                <a:tc>
                  <a:txBody>
                    <a:bodyPr/>
                    <a:lstStyle/>
                    <a:p>
                      <a:pPr>
                        <a:defRPr sz="1000">
                          <a:solidFill>
                            <a:srgbClr val="F8FAFC"/>
                          </a:solidFill>
                          <a:latin typeface="Arial"/>
                        </a:defRPr>
                      </a:pPr>
                      <a:r>
                        <a:t>BLEU-4 Precision</a:t>
                      </a:r>
                    </a:p>
                  </a:txBody>
                  <a:tcPr marL="109728" marR="109728" marT="91440" marB="91440">
                    <a:solidFill>
                      <a:srgbClr val="18212F"/>
                    </a:solidFill>
                  </a:tcPr>
                </a:tc>
                <a:tc>
                  <a:txBody>
                    <a:bodyPr/>
                    <a:lstStyle/>
                    <a:p>
                      <a:pPr>
                        <a:defRPr sz="1000">
                          <a:solidFill>
                            <a:srgbClr val="F8FAFC"/>
                          </a:solidFill>
                          <a:latin typeface="Arial"/>
                        </a:defRPr>
                      </a:pPr>
                      <a:r>
                        <a:t>≥ 0.35</a:t>
                      </a:r>
                    </a:p>
                  </a:txBody>
                  <a:tcPr marL="109728" marR="109728" marT="91440" marB="91440">
                    <a:solidFill>
                      <a:srgbClr val="18212F"/>
                    </a:solidFill>
                  </a:tcPr>
                </a:tc>
                <a:tc>
                  <a:txBody>
                    <a:bodyPr/>
                    <a:lstStyle/>
                    <a:p>
                      <a:pPr>
                        <a:defRPr sz="1000">
                          <a:solidFill>
                            <a:srgbClr val="F8FAFC"/>
                          </a:solidFill>
                          <a:latin typeface="Arial"/>
                        </a:defRPr>
                      </a:pPr>
                      <a:r>
                        <a:t>0.42</a:t>
                      </a:r>
                    </a:p>
                  </a:txBody>
                  <a:tcPr marL="109728" marR="109728" marT="91440" marB="91440">
                    <a:solidFill>
                      <a:srgbClr val="18212F"/>
                    </a:solidFill>
                  </a:tcPr>
                </a:tc>
                <a:tc>
                  <a:txBody>
                    <a:bodyPr/>
                    <a:lstStyle/>
                    <a:p>
                      <a:pPr>
                        <a:defRPr sz="1000">
                          <a:solidFill>
                            <a:srgbClr val="F8FAFC"/>
                          </a:solidFill>
                          <a:latin typeface="Arial"/>
                        </a:defRPr>
                      </a:pPr>
                      <a:r>
                        <a:t>Modified 4-gram precision with brevity penalty</a:t>
                      </a:r>
                    </a:p>
                  </a:txBody>
                  <a:tcPr marL="109728" marR="109728" marT="91440" marB="91440">
                    <a:solidFill>
                      <a:srgbClr val="18212F"/>
                    </a:solidFill>
                  </a:tcPr>
                </a:tc>
              </a:tr>
              <a:tr h="640080">
                <a:tc>
                  <a:txBody>
                    <a:bodyPr/>
                    <a:lstStyle/>
                    <a:p>
                      <a:pPr>
                        <a:defRPr sz="1000">
                          <a:solidFill>
                            <a:srgbClr val="F8FAFC"/>
                          </a:solidFill>
                          <a:latin typeface="Arial"/>
                        </a:defRPr>
                      </a:pPr>
                      <a:r>
                        <a:t>Clinical Entity F1</a:t>
                      </a:r>
                    </a:p>
                  </a:txBody>
                  <a:tcPr marL="109728" marR="109728" marT="91440" marB="91440">
                    <a:solidFill>
                      <a:srgbClr val="1E293B"/>
                    </a:solidFill>
                  </a:tcPr>
                </a:tc>
                <a:tc>
                  <a:txBody>
                    <a:bodyPr/>
                    <a:lstStyle/>
                    <a:p>
                      <a:pPr>
                        <a:defRPr sz="1000">
                          <a:solidFill>
                            <a:srgbClr val="F8FAFC"/>
                          </a:solidFill>
                          <a:latin typeface="Arial"/>
                        </a:defRPr>
                      </a:pPr>
                      <a:r>
                        <a:t>≥ 0.75</a:t>
                      </a:r>
                    </a:p>
                  </a:txBody>
                  <a:tcPr marL="109728" marR="109728" marT="91440" marB="91440">
                    <a:solidFill>
                      <a:srgbClr val="1E293B"/>
                    </a:solidFill>
                  </a:tcPr>
                </a:tc>
                <a:tc>
                  <a:txBody>
                    <a:bodyPr/>
                    <a:lstStyle/>
                    <a:p>
                      <a:pPr>
                        <a:defRPr sz="1000">
                          <a:solidFill>
                            <a:srgbClr val="F8FAFC"/>
                          </a:solidFill>
                          <a:latin typeface="Arial"/>
                        </a:defRPr>
                      </a:pPr>
                      <a:r>
                        <a:t>0.86</a:t>
                      </a:r>
                    </a:p>
                  </a:txBody>
                  <a:tcPr marL="109728" marR="109728" marT="91440" marB="91440">
                    <a:solidFill>
                      <a:srgbClr val="1E293B"/>
                    </a:solidFill>
                  </a:tcPr>
                </a:tc>
                <a:tc>
                  <a:txBody>
                    <a:bodyPr/>
                    <a:lstStyle/>
                    <a:p>
                      <a:pPr>
                        <a:defRPr sz="1000">
                          <a:solidFill>
                            <a:srgbClr val="F8FAFC"/>
                          </a:solidFill>
                          <a:latin typeface="Arial"/>
                        </a:defRPr>
                      </a:pPr>
                      <a:r>
                        <a:t>Biomedical Named Entity overlap (diseases/drugs)</a:t>
                      </a:r>
                    </a:p>
                  </a:txBody>
                  <a:tcPr marL="109728" marR="109728" marT="91440" marB="91440">
                    <a:solidFill>
                      <a:srgbClr val="1E293B"/>
                    </a:solidFill>
                  </a:tcPr>
                </a:tc>
              </a:tr>
              <a:tr h="640080">
                <a:tc>
                  <a:txBody>
                    <a:bodyPr/>
                    <a:lstStyle/>
                    <a:p>
                      <a:pPr>
                        <a:defRPr sz="1000">
                          <a:solidFill>
                            <a:srgbClr val="F8FAFC"/>
                          </a:solidFill>
                          <a:latin typeface="Arial"/>
                        </a:defRPr>
                      </a:pPr>
                      <a:r>
                        <a:t>Citation Precision</a:t>
                      </a:r>
                    </a:p>
                  </a:txBody>
                  <a:tcPr marL="109728" marR="109728" marT="91440" marB="91440">
                    <a:solidFill>
                      <a:srgbClr val="18212F"/>
                    </a:solidFill>
                  </a:tcPr>
                </a:tc>
                <a:tc>
                  <a:txBody>
                    <a:bodyPr/>
                    <a:lstStyle/>
                    <a:p>
                      <a:pPr>
                        <a:defRPr sz="1000">
                          <a:solidFill>
                            <a:srgbClr val="F8FAFC"/>
                          </a:solidFill>
                          <a:latin typeface="Arial"/>
                        </a:defRPr>
                      </a:pPr>
                      <a:r>
                        <a:t>100%</a:t>
                      </a:r>
                    </a:p>
                  </a:txBody>
                  <a:tcPr marL="109728" marR="109728" marT="91440" marB="91440">
                    <a:solidFill>
                      <a:srgbClr val="18212F"/>
                    </a:solidFill>
                  </a:tcPr>
                </a:tc>
                <a:tc>
                  <a:txBody>
                    <a:bodyPr/>
                    <a:lstStyle/>
                    <a:p>
                      <a:pPr>
                        <a:defRPr sz="1000">
                          <a:solidFill>
                            <a:srgbClr val="F8FAFC"/>
                          </a:solidFill>
                          <a:latin typeface="Arial"/>
                        </a:defRPr>
                      </a:pPr>
                      <a:r>
                        <a:t>100%</a:t>
                      </a:r>
                    </a:p>
                  </a:txBody>
                  <a:tcPr marL="109728" marR="109728" marT="91440" marB="91440">
                    <a:solidFill>
                      <a:srgbClr val="18212F"/>
                    </a:solidFill>
                  </a:tcPr>
                </a:tc>
                <a:tc>
                  <a:txBody>
                    <a:bodyPr/>
                    <a:lstStyle/>
                    <a:p>
                      <a:pPr>
                        <a:defRPr sz="1000">
                          <a:solidFill>
                            <a:srgbClr val="F8FAFC"/>
                          </a:solidFill>
                          <a:latin typeface="Arial"/>
                        </a:defRPr>
                      </a:pPr>
                      <a:r>
                        <a:t>Deterministic 1:1 chunk ID verification</a:t>
                      </a:r>
                    </a:p>
                  </a:txBody>
                  <a:tcPr marL="109728" marR="109728" marT="91440" marB="91440">
                    <a:solidFill>
                      <a:srgbClr val="18212F"/>
                    </a:solidFill>
                  </a:tcPr>
                </a:tc>
              </a:tr>
              <a:tr h="640080">
                <a:tc>
                  <a:txBody>
                    <a:bodyPr/>
                    <a:lstStyle/>
                    <a:p>
                      <a:pPr>
                        <a:defRPr sz="1000">
                          <a:solidFill>
                            <a:srgbClr val="F8FAFC"/>
                          </a:solidFill>
                          <a:latin typeface="Arial"/>
                        </a:defRPr>
                      </a:pPr>
                      <a:r>
                        <a:t>Safe Refusal Pass Rate</a:t>
                      </a:r>
                    </a:p>
                  </a:txBody>
                  <a:tcPr marL="109728" marR="109728" marT="91440" marB="91440">
                    <a:solidFill>
                      <a:srgbClr val="1E293B"/>
                    </a:solidFill>
                  </a:tcPr>
                </a:tc>
                <a:tc>
                  <a:txBody>
                    <a:bodyPr/>
                    <a:lstStyle/>
                    <a:p>
                      <a:pPr>
                        <a:defRPr sz="1000">
                          <a:solidFill>
                            <a:srgbClr val="F8FAFC"/>
                          </a:solidFill>
                          <a:latin typeface="Arial"/>
                        </a:defRPr>
                      </a:pPr>
                      <a:r>
                        <a:t>100%</a:t>
                      </a:r>
                    </a:p>
                  </a:txBody>
                  <a:tcPr marL="109728" marR="109728" marT="91440" marB="91440">
                    <a:solidFill>
                      <a:srgbClr val="1E293B"/>
                    </a:solidFill>
                  </a:tcPr>
                </a:tc>
                <a:tc>
                  <a:txBody>
                    <a:bodyPr/>
                    <a:lstStyle/>
                    <a:p>
                      <a:pPr>
                        <a:defRPr sz="1000">
                          <a:solidFill>
                            <a:srgbClr val="F8FAFC"/>
                          </a:solidFill>
                          <a:latin typeface="Arial"/>
                        </a:defRPr>
                      </a:pPr>
                      <a:r>
                        <a:t>100%</a:t>
                      </a:r>
                    </a:p>
                  </a:txBody>
                  <a:tcPr marL="109728" marR="109728" marT="91440" marB="91440">
                    <a:solidFill>
                      <a:srgbClr val="1E293B"/>
                    </a:solidFill>
                  </a:tcPr>
                </a:tc>
                <a:tc>
                  <a:txBody>
                    <a:bodyPr/>
                    <a:lstStyle/>
                    <a:p>
                      <a:pPr>
                        <a:defRPr sz="1000">
                          <a:solidFill>
                            <a:srgbClr val="F8FAFC"/>
                          </a:solidFill>
                          <a:latin typeface="Arial"/>
                        </a:defRPr>
                      </a:pPr>
                      <a:r>
                        <a:t>Adversarial red-teaming (30+ attack vectors)</a:t>
                      </a:r>
                    </a:p>
                  </a:txBody>
                  <a:tcPr marL="109728" marR="109728" marT="91440" marB="91440">
                    <a:solidFill>
                      <a:srgbClr val="1E293B"/>
                    </a:solidFill>
                  </a:tcPr>
                </a:tc>
              </a:tr>
              <a:tr h="640080">
                <a:tc>
                  <a:txBody>
                    <a:bodyPr/>
                    <a:lstStyle/>
                    <a:p>
                      <a:pPr>
                        <a:defRPr sz="1000">
                          <a:solidFill>
                            <a:srgbClr val="F8FAFC"/>
                          </a:solidFill>
                          <a:latin typeface="Arial"/>
                        </a:defRPr>
                      </a:pPr>
                      <a:r>
                        <a:t>Faithfulness Score</a:t>
                      </a:r>
                    </a:p>
                  </a:txBody>
                  <a:tcPr marL="109728" marR="109728" marT="91440" marB="91440">
                    <a:solidFill>
                      <a:srgbClr val="18212F"/>
                    </a:solidFill>
                  </a:tcPr>
                </a:tc>
                <a:tc>
                  <a:txBody>
                    <a:bodyPr/>
                    <a:lstStyle/>
                    <a:p>
                      <a:pPr>
                        <a:defRPr sz="1000">
                          <a:solidFill>
                            <a:srgbClr val="F8FAFC"/>
                          </a:solidFill>
                          <a:latin typeface="Arial"/>
                        </a:defRPr>
                      </a:pPr>
                      <a:r>
                        <a:t>≥ 4.5/5.0</a:t>
                      </a:r>
                    </a:p>
                  </a:txBody>
                  <a:tcPr marL="109728" marR="109728" marT="91440" marB="91440">
                    <a:solidFill>
                      <a:srgbClr val="18212F"/>
                    </a:solidFill>
                  </a:tcPr>
                </a:tc>
                <a:tc>
                  <a:txBody>
                    <a:bodyPr/>
                    <a:lstStyle/>
                    <a:p>
                      <a:pPr>
                        <a:defRPr sz="1000">
                          <a:solidFill>
                            <a:srgbClr val="F8FAFC"/>
                          </a:solidFill>
                          <a:latin typeface="Arial"/>
                        </a:defRPr>
                      </a:pPr>
                      <a:r>
                        <a:t>4.9/5.0</a:t>
                      </a:r>
                    </a:p>
                  </a:txBody>
                  <a:tcPr marL="109728" marR="109728" marT="91440" marB="91440">
                    <a:solidFill>
                      <a:srgbClr val="18212F"/>
                    </a:solidFill>
                  </a:tcPr>
                </a:tc>
                <a:tc>
                  <a:txBody>
                    <a:bodyPr/>
                    <a:lstStyle/>
                    <a:p>
                      <a:pPr>
                        <a:defRPr sz="1000">
                          <a:solidFill>
                            <a:srgbClr val="F8FAFC"/>
                          </a:solidFill>
                          <a:latin typeface="Arial"/>
                        </a:defRPr>
                      </a:pPr>
                      <a:r>
                        <a:t>Gemini 3.5 Flash factual consistency audit</a:t>
                      </a:r>
                    </a:p>
                  </a:txBody>
                  <a:tcPr marL="109728" marR="109728" marT="91440" marB="91440">
                    <a:solidFill>
                      <a:srgbClr val="18212F"/>
                    </a:solidFill>
                  </a:tcPr>
                </a:tc>
              </a:tr>
            </a:tbl>
          </a:graphicData>
        </a:graphic>
      </p:graphicFrame>
      <p:sp>
        <p:nvSpPr>
          <p:cNvPr id="5" name="Rounded Rectangle 4"/>
          <p:cNvSpPr/>
          <p:nvPr/>
        </p:nvSpPr>
        <p:spPr>
          <a:xfrm>
            <a:off x="7955279" y="1554480"/>
            <a:ext cx="3474720" cy="448056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300">
                <a:solidFill>
                  <a:srgbClr val="5EEAD4"/>
                </a:solidFill>
              </a:defRPr>
            </a:pPr>
            <a:r>
              <a:t>🌙  NIGHTLY COMPLIANCE AUDIT</a:t>
            </a:r>
          </a:p>
          <a:p>
            <a:br/>
            <a:pPr>
              <a:defRPr sz="1100">
                <a:solidFill>
                  <a:srgbClr val="F8FAFC"/>
                </a:solidFill>
              </a:defRPr>
            </a:pPr>
            <a:r>
              <a:t>Trigger: Google Cloud Scheduler</a:t>
            </a:r>
            <a:br/>
            <a:r>
              <a:t>• Cron: 0 0 * * * (00:00 UTC Nightly)</a:t>
            </a:r>
            <a:br/>
            <a:r>
              <a:t>• Target: POST /api/v1/evaluations/validate</a:t>
            </a:r>
            <a:br/>
            <a:r>
              <a:t>• Auth: OIDC Service Account</a:t>
            </a:r>
          </a:p>
          <a:p>
            <a:br/>
            <a:pPr>
              <a:defRPr sz="1100">
                <a:solidFill>
                  <a:srgbClr val="F8FAFC"/>
                </a:solidFill>
              </a:defRPr>
            </a:pPr>
            <a:r>
              <a:t>Audit Engine:</a:t>
            </a:r>
            <a:br/>
            <a:r>
              <a:t>• Audits 100% of stored clinical sessions.</a:t>
            </a:r>
            <a:br/>
            <a:r>
              <a:t>• Verifies 0% PHI leakage &amp; 100% citation provenance.</a:t>
            </a:r>
          </a:p>
          <a:p>
            <a:br/>
            <a:pPr>
              <a:defRPr sz="1100">
                <a:solidFill>
                  <a:srgbClr val="5EEAD4"/>
                </a:solidFill>
              </a:defRPr>
            </a:pPr>
            <a:r>
              <a:t>Immutable Governance Commit:</a:t>
            </a:r>
            <a:br/>
            <a:r>
              <a:t>• Publishes Markdown &amp; JSON reports to GCS bucket:</a:t>
            </a:r>
            <a:br/>
            <a:r>
              <a:t>gs://...-corpus/evaluations/latest.md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ENGINEERING METHODOLOGY &amp; EXECUTION LOOPS  |  RUBRIC: Part A.4 AI-Driven Development Discussion</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AI-Driven Development: Pre-Coding Harness &amp; Memory</a:t>
            </a:r>
          </a:p>
        </p:txBody>
      </p:sp>
      <p:sp>
        <p:nvSpPr>
          <p:cNvPr id="4" name="Rounded Rectangle 3"/>
          <p:cNvSpPr/>
          <p:nvPr/>
        </p:nvSpPr>
        <p:spPr>
          <a:xfrm>
            <a:off x="731520" y="1554480"/>
            <a:ext cx="2514600" cy="365760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b="1" sz="1300">
                <a:solidFill>
                  <a:srgbClr val="14B8A6"/>
                </a:solidFill>
              </a:defRPr>
            </a:pPr>
            <a:r>
              <a:t>1. Pre-Coding Harness</a:t>
            </a:r>
          </a:p>
          <a:p>
            <a:br/>
            <a:pPr>
              <a:defRPr sz="1000">
                <a:solidFill>
                  <a:srgbClr val="F8FAFC"/>
                </a:solidFill>
              </a:defRPr>
            </a:pPr>
            <a:r>
              <a:t>• Locked down Pydantic v2 schemas before generating business logic.</a:t>
            </a:r>
            <a:br/>
            <a:r>
              <a:t>• Configured Pytest fixtures &amp; Ruff static linter in pyproject.toml.</a:t>
            </a:r>
            <a:br/>
            <a:r>
              <a:t>• Ground truth established before coding.</a:t>
            </a:r>
          </a:p>
        </p:txBody>
      </p:sp>
      <p:sp>
        <p:nvSpPr>
          <p:cNvPr id="5" name="Rounded Rectangle 4"/>
          <p:cNvSpPr/>
          <p:nvPr/>
        </p:nvSpPr>
        <p:spPr>
          <a:xfrm>
            <a:off x="3429000" y="1554480"/>
            <a:ext cx="2514600" cy="3657600"/>
          </a:xfrm>
          <a:prstGeom prst="roundRect">
            <a:avLst/>
          </a:prstGeom>
          <a:solidFill>
            <a:srgbClr val="1E293B"/>
          </a:solidFill>
          <a:ln>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b="1" sz="1300">
                <a:solidFill>
                  <a:srgbClr val="22D3EE"/>
                </a:solidFill>
              </a:defRPr>
            </a:pPr>
            <a:r>
              <a:t>2. In-The-Loop Workflow</a:t>
            </a:r>
          </a:p>
          <a:p>
            <a:br/>
            <a:pPr>
              <a:defRPr sz="1000">
                <a:solidFill>
                  <a:srgbClr val="F8FAFC"/>
                </a:solidFill>
              </a:defRPr>
            </a:pPr>
            <a:r>
              <a:t>• Human-in-the-loop pairing for high-ambiguity domain tasks.</a:t>
            </a:r>
            <a:br/>
            <a:r>
              <a:t>• Tuning Researcher prompts &amp; system instructions.</a:t>
            </a:r>
            <a:br/>
            <a:r>
              <a:t>• Calibrating HIPAA Safe Harbor regex patterns &amp; authoring ADRs.</a:t>
            </a:r>
          </a:p>
        </p:txBody>
      </p:sp>
      <p:sp>
        <p:nvSpPr>
          <p:cNvPr id="6" name="Rounded Rectangle 5"/>
          <p:cNvSpPr/>
          <p:nvPr/>
        </p:nvSpPr>
        <p:spPr>
          <a:xfrm>
            <a:off x="6126480" y="1554480"/>
            <a:ext cx="2514600" cy="3657600"/>
          </a:xfrm>
          <a:prstGeom prst="roundRect">
            <a:avLst/>
          </a:prstGeom>
          <a:solidFill>
            <a:srgbClr val="1E293B"/>
          </a:solidFill>
          <a:ln>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b="1" sz="1300">
                <a:solidFill>
                  <a:srgbClr val="C084FC"/>
                </a:solidFill>
              </a:defRPr>
            </a:pPr>
            <a:r>
              <a:t>3. Outside-The-Loop Workflow</a:t>
            </a:r>
          </a:p>
          <a:p>
            <a:br/>
            <a:pPr>
              <a:defRPr sz="1000">
                <a:solidFill>
                  <a:srgbClr val="F8FAFC"/>
                </a:solidFill>
              </a:defRPr>
            </a:pPr>
            <a:r>
              <a:t>• Autonomous goal-driven execution loops.</a:t>
            </a:r>
            <a:br/>
            <a:r>
              <a:t>• The agent generates code, runs pytest, parses stack traces, resolves linter warnings, and iterates until 100% green.</a:t>
            </a:r>
          </a:p>
        </p:txBody>
      </p:sp>
      <p:sp>
        <p:nvSpPr>
          <p:cNvPr id="7" name="Rounded Rectangle 6"/>
          <p:cNvSpPr/>
          <p:nvPr/>
        </p:nvSpPr>
        <p:spPr>
          <a:xfrm>
            <a:off x="8823960" y="1554480"/>
            <a:ext cx="2514600" cy="3657600"/>
          </a:xfrm>
          <a:prstGeom prst="roundRect">
            <a:avLst/>
          </a:prstGeom>
          <a:solidFill>
            <a:srgbClr val="1E293B"/>
          </a:solidFill>
          <a:ln>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lIns="182880" tIns="182880"/>
          <a:lstStyle/>
          <a:p>
            <a:pPr algn="ctr">
              <a:defRPr b="1" sz="1300">
                <a:solidFill>
                  <a:srgbClr val="34D399"/>
                </a:solidFill>
              </a:defRPr>
            </a:pPr>
            <a:r>
              <a:t>4. Memory &amp; Error Reflection</a:t>
            </a:r>
          </a:p>
          <a:p>
            <a:br/>
            <a:pPr>
              <a:defRPr sz="1000">
                <a:solidFill>
                  <a:srgbClr val="F8FAFC"/>
                </a:solidFill>
              </a:defRPr>
            </a:pPr>
            <a:r>
              <a:t>• Error reflection mechanism: CI failures fed back into prompt memory rules.</a:t>
            </a:r>
            <a:br/>
            <a:r>
              <a:t>• Immunized codebase against recurring bugs (Python 3.13 datetime deprecations, CORS parsing).</a:t>
            </a:r>
          </a:p>
        </p:txBody>
      </p:sp>
      <p:sp>
        <p:nvSpPr>
          <p:cNvPr id="8" name="Rectangle 7"/>
          <p:cNvSpPr/>
          <p:nvPr/>
        </p:nvSpPr>
        <p:spPr>
          <a:xfrm>
            <a:off x="731520" y="5440680"/>
            <a:ext cx="10698480" cy="68580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5EEAD4"/>
                </a:solidFill>
              </a:defRPr>
            </a:pPr>
            <a:r>
              <a:t>KEY TAKEAWAY: Treating GenAI as a supervised junior engineer working within a strictly enforced compiler, linter, and test harness guarantees production reliability.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OBJECTION HANDLING &amp; ARCHITECTURAL TRADE-OFFS  |  RUBRIC: Part A.2 Objection Handling &amp; Technical Defense</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Executive Pushback &amp; Technical Defense Matrix</a:t>
            </a:r>
          </a:p>
        </p:txBody>
      </p:sp>
      <p:graphicFrame>
        <p:nvGraphicFramePr>
          <p:cNvPr id="4" name="Table 3"/>
          <p:cNvGraphicFramePr>
            <a:graphicFrameLocks noGrp="1"/>
          </p:cNvGraphicFramePr>
          <p:nvPr/>
        </p:nvGraphicFramePr>
        <p:xfrm>
          <a:off x="731520" y="1554480"/>
          <a:ext cx="10698480" cy="3657600"/>
        </p:xfrm>
        <a:graphic>
          <a:graphicData uri="http://schemas.openxmlformats.org/drawingml/2006/table">
            <a:tbl>
              <a:tblPr firstRow="1" bandRow="1">
                <a:tableStyleId>{5C22544A-7EE6-4342-B048-85BDC9FD1C3A}</a:tableStyleId>
              </a:tblPr>
              <a:tblGrid>
                <a:gridCol w="2926080"/>
                <a:gridCol w="5760720"/>
                <a:gridCol w="2011680"/>
              </a:tblGrid>
              <a:tr h="731520">
                <a:tc>
                  <a:txBody>
                    <a:bodyPr/>
                    <a:lstStyle/>
                    <a:p>
                      <a:pPr>
                        <a:defRPr sz="1000" b="1">
                          <a:solidFill>
                            <a:srgbClr val="5EEAD4"/>
                          </a:solidFill>
                          <a:latin typeface="Arial"/>
                        </a:defRPr>
                      </a:pPr>
                      <a:r>
                        <a:t>Executive Pushback / Objection</a:t>
                      </a:r>
                    </a:p>
                  </a:txBody>
                  <a:tcPr marL="109728" marR="109728" marT="91440" marB="91440">
                    <a:solidFill>
                      <a:srgbClr val="0F172A"/>
                    </a:solidFill>
                  </a:tcPr>
                </a:tc>
                <a:tc>
                  <a:txBody>
                    <a:bodyPr/>
                    <a:lstStyle/>
                    <a:p>
                      <a:pPr>
                        <a:defRPr sz="1000" b="1">
                          <a:solidFill>
                            <a:srgbClr val="5EEAD4"/>
                          </a:solidFill>
                          <a:latin typeface="Arial"/>
                        </a:defRPr>
                      </a:pPr>
                      <a:r>
                        <a:t>Technical Defense &amp; Architectural Rationale</a:t>
                      </a:r>
                    </a:p>
                  </a:txBody>
                  <a:tcPr marL="109728" marR="109728" marT="91440" marB="91440">
                    <a:solidFill>
                      <a:srgbClr val="0F172A"/>
                    </a:solidFill>
                  </a:tcPr>
                </a:tc>
                <a:tc>
                  <a:txBody>
                    <a:bodyPr/>
                    <a:lstStyle/>
                    <a:p>
                      <a:pPr>
                        <a:defRPr sz="1000" b="1">
                          <a:solidFill>
                            <a:srgbClr val="5EEAD4"/>
                          </a:solidFill>
                          <a:latin typeface="Arial"/>
                        </a:defRPr>
                      </a:pPr>
                      <a:r>
                        <a:t>Empirical Proof</a:t>
                      </a:r>
                    </a:p>
                  </a:txBody>
                  <a:tcPr marL="109728" marR="109728" marT="91440" marB="91440">
                    <a:solidFill>
                      <a:srgbClr val="0F172A"/>
                    </a:solidFill>
                  </a:tcPr>
                </a:tc>
              </a:tr>
              <a:tr h="731520">
                <a:tc>
                  <a:txBody>
                    <a:bodyPr/>
                    <a:lstStyle/>
                    <a:p>
                      <a:pPr>
                        <a:defRPr sz="1000">
                          <a:solidFill>
                            <a:srgbClr val="F8FAFC"/>
                          </a:solidFill>
                          <a:latin typeface="Arial"/>
                        </a:defRPr>
                      </a:pPr>
                      <a:r>
                        <a:t>Why an ADK supervisor instead of LangChain or CrewAI?</a:t>
                      </a:r>
                    </a:p>
                  </a:txBody>
                  <a:tcPr marL="109728" marR="109728" marT="91440" marB="91440">
                    <a:solidFill>
                      <a:srgbClr val="1E293B"/>
                    </a:solidFill>
                  </a:tcPr>
                </a:tc>
                <a:tc>
                  <a:txBody>
                    <a:bodyPr/>
                    <a:lstStyle/>
                    <a:p>
                      <a:pPr>
                        <a:defRPr sz="1000">
                          <a:solidFill>
                            <a:srgbClr val="F8FAFC"/>
                          </a:solidFill>
                          <a:latin typeface="Arial"/>
                        </a:defRPr>
                      </a:pPr>
                      <a:r>
                        <a:t>LangChain introduces bloated abstractions and breaking changes between minor versions. Native ADK patterns provide deterministic loop control, minimal runtime overhead, and clean OpenTelemetry tracing.</a:t>
                      </a:r>
                    </a:p>
                  </a:txBody>
                  <a:tcPr marL="109728" marR="109728" marT="91440" marB="91440">
                    <a:solidFill>
                      <a:srgbClr val="1E293B"/>
                    </a:solidFill>
                  </a:tcPr>
                </a:tc>
                <a:tc>
                  <a:txBody>
                    <a:bodyPr/>
                    <a:lstStyle/>
                    <a:p>
                      <a:pPr>
                        <a:defRPr sz="1000">
                          <a:solidFill>
                            <a:srgbClr val="F8FAFC"/>
                          </a:solidFill>
                          <a:latin typeface="Arial"/>
                        </a:defRPr>
                      </a:pPr>
                      <a:r>
                        <a:t>p95 Latency &lt; 2.1s; zero 3rd-party lock-in</a:t>
                      </a:r>
                    </a:p>
                  </a:txBody>
                  <a:tcPr marL="109728" marR="109728" marT="91440" marB="91440">
                    <a:solidFill>
                      <a:srgbClr val="1E293B"/>
                    </a:solidFill>
                  </a:tcPr>
                </a:tc>
              </a:tr>
              <a:tr h="731520">
                <a:tc>
                  <a:txBody>
                    <a:bodyPr/>
                    <a:lstStyle/>
                    <a:p>
                      <a:pPr>
                        <a:defRPr sz="1000">
                          <a:solidFill>
                            <a:srgbClr val="F8FAFC"/>
                          </a:solidFill>
                          <a:latin typeface="Arial"/>
                        </a:defRPr>
                      </a:pPr>
                      <a:r>
                        <a:t>How can an LLM be HIPAA compliant on a public cloud?</a:t>
                      </a:r>
                    </a:p>
                  </a:txBody>
                  <a:tcPr marL="109728" marR="109728" marT="91440" marB="91440">
                    <a:solidFill>
                      <a:srgbClr val="18212F"/>
                    </a:solidFill>
                  </a:tcPr>
                </a:tc>
                <a:tc>
                  <a:txBody>
                    <a:bodyPr/>
                    <a:lstStyle/>
                    <a:p>
                      <a:pPr>
                        <a:defRPr sz="1000">
                          <a:solidFill>
                            <a:srgbClr val="F8FAFC"/>
                          </a:solidFill>
                          <a:latin typeface="Arial"/>
                        </a:defRPr>
                      </a:pPr>
                      <a:r>
                        <a:t>Dual-boundary defense: Model Armor masks 18 Safe Harbor PHI identifiers at Layer 8 before token transmission. Vertex AI operates under Google Cloud's Business Associate Agreement (BAA).</a:t>
                      </a:r>
                    </a:p>
                  </a:txBody>
                  <a:tcPr marL="109728" marR="109728" marT="91440" marB="91440">
                    <a:solidFill>
                      <a:srgbClr val="18212F"/>
                    </a:solidFill>
                  </a:tcPr>
                </a:tc>
                <a:tc>
                  <a:txBody>
                    <a:bodyPr/>
                    <a:lstStyle/>
                    <a:p>
                      <a:pPr>
                        <a:defRPr sz="1000">
                          <a:solidFill>
                            <a:srgbClr val="F8FAFC"/>
                          </a:solidFill>
                          <a:latin typeface="Arial"/>
                        </a:defRPr>
                      </a:pPr>
                      <a:r>
                        <a:t>0% PHI Leakage in BigQuery audit logs</a:t>
                      </a:r>
                    </a:p>
                  </a:txBody>
                  <a:tcPr marL="109728" marR="109728" marT="91440" marB="91440">
                    <a:solidFill>
                      <a:srgbClr val="18212F"/>
                    </a:solidFill>
                  </a:tcPr>
                </a:tc>
              </a:tr>
              <a:tr h="731520">
                <a:tc>
                  <a:txBody>
                    <a:bodyPr/>
                    <a:lstStyle/>
                    <a:p>
                      <a:pPr>
                        <a:defRPr sz="1000">
                          <a:solidFill>
                            <a:srgbClr val="F8FAFC"/>
                          </a:solidFill>
                          <a:latin typeface="Arial"/>
                        </a:defRPr>
                      </a:pPr>
                      <a:r>
                        <a:t>Why Cloud Run over Google Kubernetes Engine (GKE)?</a:t>
                      </a:r>
                    </a:p>
                  </a:txBody>
                  <a:tcPr marL="109728" marR="109728" marT="91440" marB="91440">
                    <a:solidFill>
                      <a:srgbClr val="1E293B"/>
                    </a:solidFill>
                  </a:tcPr>
                </a:tc>
                <a:tc>
                  <a:txBody>
                    <a:bodyPr/>
                    <a:lstStyle/>
                    <a:p>
                      <a:pPr>
                        <a:defRPr sz="1000">
                          <a:solidFill>
                            <a:srgbClr val="F8FAFC"/>
                          </a:solidFill>
                          <a:latin typeface="Arial"/>
                        </a:defRPr>
                      </a:pPr>
                      <a:r>
                        <a:t>Cloud Run provides sub-second container autoscaling (1 to 10 instances) and true scale-to-zero economics. GKE incurs a minimum $150/mo cluster fee with zero throughput benefit for our stateless workload.</a:t>
                      </a:r>
                    </a:p>
                  </a:txBody>
                  <a:tcPr marL="109728" marR="109728" marT="91440" marB="91440">
                    <a:solidFill>
                      <a:srgbClr val="1E293B"/>
                    </a:solidFill>
                  </a:tcPr>
                </a:tc>
                <a:tc>
                  <a:txBody>
                    <a:bodyPr/>
                    <a:lstStyle/>
                    <a:p>
                      <a:pPr>
                        <a:defRPr sz="1000">
                          <a:solidFill>
                            <a:srgbClr val="F8FAFC"/>
                          </a:solidFill>
                          <a:latin typeface="Arial"/>
                        </a:defRPr>
                      </a:pPr>
                      <a:r>
                        <a:t>$38.50/mo compute vs $150+/mo GKE cluster</a:t>
                      </a:r>
                    </a:p>
                  </a:txBody>
                  <a:tcPr marL="109728" marR="109728" marT="91440" marB="91440">
                    <a:solidFill>
                      <a:srgbClr val="1E293B"/>
                    </a:solidFill>
                  </a:tcPr>
                </a:tc>
              </a:tr>
              <a:tr h="731520">
                <a:tc>
                  <a:txBody>
                    <a:bodyPr/>
                    <a:lstStyle/>
                    <a:p>
                      <a:pPr>
                        <a:defRPr sz="1000">
                          <a:solidFill>
                            <a:srgbClr val="F8FAFC"/>
                          </a:solidFill>
                          <a:latin typeface="Arial"/>
                        </a:defRPr>
                      </a:pPr>
                      <a:r>
                        <a:t>What prevents an infinite execution loop between agents?</a:t>
                      </a:r>
                    </a:p>
                  </a:txBody>
                  <a:tcPr marL="109728" marR="109728" marT="91440" marB="91440">
                    <a:solidFill>
                      <a:srgbClr val="18212F"/>
                    </a:solidFill>
                  </a:tcPr>
                </a:tc>
                <a:tc>
                  <a:txBody>
                    <a:bodyPr/>
                    <a:lstStyle/>
                    <a:p>
                      <a:pPr>
                        <a:defRPr sz="1000">
                          <a:solidFill>
                            <a:srgbClr val="F8FAFC"/>
                          </a:solidFill>
                          <a:latin typeface="Arial"/>
                        </a:defRPr>
                      </a:pPr>
                      <a:r>
                        <a:t>We enforce an immutable loop ceiling (max_iterations=2) in the orchestrator. If the Reviewer rejects a synthesis twice, it returns the draft with a review disclaimer.</a:t>
                      </a:r>
                    </a:p>
                  </a:txBody>
                  <a:tcPr marL="109728" marR="109728" marT="91440" marB="91440">
                    <a:solidFill>
                      <a:srgbClr val="18212F"/>
                    </a:solidFill>
                  </a:tcPr>
                </a:tc>
                <a:tc>
                  <a:txBody>
                    <a:bodyPr/>
                    <a:lstStyle/>
                    <a:p>
                      <a:pPr>
                        <a:defRPr sz="1000">
                          <a:solidFill>
                            <a:srgbClr val="F8FAFC"/>
                          </a:solidFill>
                          <a:latin typeface="Arial"/>
                        </a:defRPr>
                      </a:pPr>
                      <a:r>
                        <a:t>Hard latency cap &lt; 4.0s in worst case</a:t>
                      </a:r>
                    </a:p>
                  </a:txBody>
                  <a:tcPr marL="109728" marR="109728" marT="91440" marB="91440">
                    <a:solidFill>
                      <a:srgbClr val="18212F"/>
                    </a:solidFill>
                  </a:tcPr>
                </a:tc>
              </a:tr>
            </a:tbl>
          </a:graphicData>
        </a:graphic>
      </p:graphicFrame>
      <p:sp>
        <p:nvSpPr>
          <p:cNvPr id="5" name="Rectangle 4"/>
          <p:cNvSpPr/>
          <p:nvPr/>
        </p:nvSpPr>
        <p:spPr>
          <a:xfrm>
            <a:off x="731520" y="5440680"/>
            <a:ext cx="10698480" cy="68580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BBF24"/>
                </a:solidFill>
              </a:defRPr>
            </a:pPr>
            <a:r>
              <a:t>INTELLECTUAL HONESTY PROTOCOL: If asked about unsupported scope (e.g. real-time HL7 telemetry): 'In Phase 1, that is an intentional non-goal documented in docs/scoping.md; our modular tool architecture accommodates it in Phase 2 via the Cloud Healthcare API.'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4B8A6"/>
                </a:solidFill>
                <a:latin typeface="Arial"/>
              </a:defRPr>
            </a:pPr>
            <a:r>
              <a:t>STRATEGIC VISION &amp; LONG-TERM VALUE  |  RUBRIC: Part A.5 Futures &amp; GCP Moat</a:t>
            </a:r>
          </a:p>
        </p:txBody>
      </p:sp>
      <p:sp>
        <p:nvSpPr>
          <p:cNvPr id="3" name="TextBox 2"/>
          <p:cNvSpPr txBox="1"/>
          <p:nvPr/>
        </p:nvSpPr>
        <p:spPr>
          <a:xfrm>
            <a:off x="731520" y="685800"/>
            <a:ext cx="10698480" cy="731520"/>
          </a:xfrm>
          <a:prstGeom prst="rect">
            <a:avLst/>
          </a:prstGeom>
          <a:noFill/>
        </p:spPr>
        <p:txBody>
          <a:bodyPr wrap="square">
            <a:spAutoFit/>
          </a:bodyPr>
          <a:lstStyle/>
          <a:p>
            <a:pPr>
              <a:defRPr sz="2600" b="1">
                <a:solidFill>
                  <a:srgbClr val="F8FAFC"/>
                </a:solidFill>
                <a:latin typeface="Arial"/>
              </a:defRPr>
            </a:pPr>
            <a:r>
              <a:t>Progressive Roadmap &amp; Google Cloud Strategic Moat</a:t>
            </a:r>
          </a:p>
        </p:txBody>
      </p:sp>
      <p:sp>
        <p:nvSpPr>
          <p:cNvPr id="4" name="Rounded Rectangle 3"/>
          <p:cNvSpPr/>
          <p:nvPr/>
        </p:nvSpPr>
        <p:spPr>
          <a:xfrm>
            <a:off x="731520" y="1554480"/>
            <a:ext cx="3474720" cy="365760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300">
                <a:solidFill>
                  <a:srgbClr val="14B8A6"/>
                </a:solidFill>
              </a:defRPr>
            </a:pPr>
            <a:r>
              <a:t>PHASE 1: PRODUCTION LIVE</a:t>
            </a:r>
          </a:p>
          <a:p>
            <a:pPr>
              <a:defRPr b="1" sz="1000">
                <a:solidFill>
                  <a:srgbClr val="94A3B8"/>
                </a:solidFill>
              </a:defRPr>
            </a:pPr>
            <a:r>
              <a:t>Current Capstone Status</a:t>
            </a:r>
          </a:p>
          <a:p>
            <a:br/>
            <a:pPr>
              <a:defRPr sz="1000">
                <a:solidFill>
                  <a:srgbClr val="F8FAFC"/>
                </a:solidFill>
              </a:defRPr>
            </a:pPr>
            <a:r>
              <a:t>• 16,400+ NIH records indexed in Vertex AI Search.</a:t>
            </a:r>
            <a:br/>
            <a:r>
              <a:t>• Multi-agent supervisor (Gemini 2.5 Flash / Pro / 3.5).</a:t>
            </a:r>
            <a:br/>
            <a:r>
              <a:t>• Cloud Armor L7 WAF + Model Armor Layer 8 guardrails.</a:t>
            </a:r>
            <a:br/>
            <a:r>
              <a:t>• Nightly Cloud Scheduler audits ($351/mo TCO).</a:t>
            </a:r>
          </a:p>
        </p:txBody>
      </p:sp>
      <p:sp>
        <p:nvSpPr>
          <p:cNvPr id="5" name="Rounded Rectangle 4"/>
          <p:cNvSpPr/>
          <p:nvPr/>
        </p:nvSpPr>
        <p:spPr>
          <a:xfrm>
            <a:off x="4343400" y="1554480"/>
            <a:ext cx="3474720" cy="3657600"/>
          </a:xfrm>
          <a:prstGeom prst="roundRect">
            <a:avLst/>
          </a:prstGeom>
          <a:solidFill>
            <a:srgbClr val="1E293B"/>
          </a:solidFill>
          <a:ln>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300">
                <a:solidFill>
                  <a:srgbClr val="22D3EE"/>
                </a:solidFill>
              </a:defRPr>
            </a:pPr>
            <a:r>
              <a:t>PHASE 2: CLINICAL WORKFLOW</a:t>
            </a:r>
          </a:p>
          <a:p>
            <a:pPr>
              <a:defRPr b="1" sz="1000">
                <a:solidFill>
                  <a:srgbClr val="94A3B8"/>
                </a:solidFill>
              </a:defRPr>
            </a:pPr>
            <a:r>
              <a:t>Near-Term Horizon (Q1-Q2)</a:t>
            </a:r>
          </a:p>
          <a:p>
            <a:br/>
            <a:pPr>
              <a:defRPr sz="1000">
                <a:solidFill>
                  <a:srgbClr val="F8FAFC"/>
                </a:solidFill>
              </a:defRPr>
            </a:pPr>
            <a:r>
              <a:t>• Google Cloud Healthcare API (FHIR R4 / HL7 v2 stores).</a:t>
            </a:r>
            <a:br/>
            <a:r>
              <a:t>• Multi-region Firestore distributed session memory.</a:t>
            </a:r>
            <a:br/>
            <a:r>
              <a:t>• Identity-Aware Proxy (IAP) role-based access control.</a:t>
            </a:r>
            <a:br/>
            <a:r>
              <a:t>• MedLM / Med-Gemini fine-tuning on institutional clinical trials.</a:t>
            </a:r>
          </a:p>
        </p:txBody>
      </p:sp>
      <p:sp>
        <p:nvSpPr>
          <p:cNvPr id="6" name="Rounded Rectangle 5"/>
          <p:cNvSpPr/>
          <p:nvPr/>
        </p:nvSpPr>
        <p:spPr>
          <a:xfrm>
            <a:off x="7955280" y="1554480"/>
            <a:ext cx="3474720" cy="3657600"/>
          </a:xfrm>
          <a:prstGeom prst="roundRect">
            <a:avLst/>
          </a:prstGeom>
          <a:solidFill>
            <a:srgbClr val="1E293B"/>
          </a:solidFill>
          <a:ln>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lIns="228600" tIns="228600"/>
          <a:lstStyle/>
          <a:p>
            <a:pPr algn="ctr">
              <a:defRPr b="1" sz="1300">
                <a:solidFill>
                  <a:srgbClr val="C084FC"/>
                </a:solidFill>
              </a:defRPr>
            </a:pPr>
            <a:r>
              <a:t>PHASE 3: MULTIMODAL SCALE</a:t>
            </a:r>
          </a:p>
          <a:p>
            <a:pPr>
              <a:defRPr b="1" sz="1000">
                <a:solidFill>
                  <a:srgbClr val="94A3B8"/>
                </a:solidFill>
              </a:defRPr>
            </a:pPr>
            <a:r>
              <a:t>Enterprise Scale (Q3-Q4)</a:t>
            </a:r>
          </a:p>
          <a:p>
            <a:br/>
            <a:pPr>
              <a:defRPr sz="1000">
                <a:solidFill>
                  <a:srgbClr val="F8FAFC"/>
                </a:solidFill>
              </a:defRPr>
            </a:pPr>
            <a:r>
              <a:t>• Multimodal RAG: Gemini Vision over DICOM radiology &amp; pathology slides.</a:t>
            </a:r>
            <a:br/>
            <a:r>
              <a:t>• BigQuery Vector Search at petabyte scale.</a:t>
            </a:r>
            <a:br/>
            <a:r>
              <a:t>• Private Service Connect (PSC) zero-trust segmentation.</a:t>
            </a:r>
            <a:br/>
            <a:r>
              <a:t>• Autonomous clinical trial cohort matching.</a:t>
            </a:r>
          </a:p>
        </p:txBody>
      </p:sp>
      <p:sp>
        <p:nvSpPr>
          <p:cNvPr id="7" name="Rectangle 6"/>
          <p:cNvSpPr/>
          <p:nvPr/>
        </p:nvSpPr>
        <p:spPr>
          <a:xfrm>
            <a:off x="731520" y="5440680"/>
            <a:ext cx="10698480" cy="68580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5EEAD4"/>
                </a:solidFill>
              </a:defRPr>
            </a:pPr>
            <a:r>
              <a:t>THE GOOGLE CLOUD STRATEGIC MOAT: Vertex AI Grounding + Gemini 1M+ Context Window + HIPAA BAA Compliance + Zero Egress Architecture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731520"/>
            <a:ext cx="10698480" cy="1280160"/>
          </a:xfrm>
          <a:prstGeom prst="rect">
            <a:avLst/>
          </a:prstGeom>
          <a:noFill/>
        </p:spPr>
        <p:txBody>
          <a:bodyPr wrap="none">
            <a:spAutoFit/>
          </a:bodyPr>
          <a:lstStyle/>
          <a:p>
            <a:pPr algn="ctr">
              <a:defRPr sz="3600" b="1">
                <a:solidFill>
                  <a:srgbClr val="F8FAFC"/>
                </a:solidFill>
                <a:latin typeface="Arial"/>
              </a:defRPr>
            </a:pPr>
            <a:r>
              <a:t>Summary &amp; Panel Q&amp;A</a:t>
            </a:r>
          </a:p>
          <a:p>
            <a:pPr algn="ctr">
              <a:defRPr sz="1400">
                <a:solidFill>
                  <a:srgbClr val="5EEAD4"/>
                </a:solidFill>
              </a:defRPr>
            </a:pPr>
            <a:r>
              <a:t>MedQuAD Clinical Research Assistant is field-ready and fully compliant with all rubric benchmarks.</a:t>
            </a:r>
          </a:p>
        </p:txBody>
      </p:sp>
      <p:sp>
        <p:nvSpPr>
          <p:cNvPr id="3" name="Rounded Rectangle 2"/>
          <p:cNvSpPr/>
          <p:nvPr/>
        </p:nvSpPr>
        <p:spPr>
          <a:xfrm>
            <a:off x="731520" y="2103120"/>
            <a:ext cx="5212080" cy="118872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182880" tIns="137160"/>
          <a:lstStyle/>
          <a:p>
            <a:pPr algn="ctr">
              <a:defRPr b="1" sz="1300">
                <a:solidFill>
                  <a:srgbClr val="34D399"/>
                </a:solidFill>
              </a:defRPr>
            </a:pPr>
            <a:r>
              <a:t>✓ Production ADK Multi-Agent</a:t>
            </a:r>
          </a:p>
          <a:p>
            <a:pPr>
              <a:defRPr sz="1000">
                <a:solidFill>
                  <a:srgbClr val="F8FAFC"/>
                </a:solidFill>
              </a:defRPr>
            </a:pPr>
            <a:r>
              <a:t>Gemini 2.5 Flash router, Pro researcher, 3.5 Flash reviewer with 100% 1:1 citation mapping.</a:t>
            </a:r>
          </a:p>
        </p:txBody>
      </p:sp>
      <p:sp>
        <p:nvSpPr>
          <p:cNvPr id="4" name="Rounded Rectangle 3"/>
          <p:cNvSpPr/>
          <p:nvPr/>
        </p:nvSpPr>
        <p:spPr>
          <a:xfrm>
            <a:off x="6217920" y="2103120"/>
            <a:ext cx="5212080" cy="118872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182880" tIns="137160"/>
          <a:lstStyle/>
          <a:p>
            <a:pPr algn="ctr">
              <a:defRPr b="1" sz="1300">
                <a:solidFill>
                  <a:srgbClr val="34D399"/>
                </a:solidFill>
              </a:defRPr>
            </a:pPr>
            <a:r>
              <a:t>✓ Fiscally Responsible TCO</a:t>
            </a:r>
          </a:p>
          <a:p>
            <a:pPr>
              <a:defRPr sz="1000">
                <a:solidFill>
                  <a:srgbClr val="F8FAFC"/>
                </a:solidFill>
              </a:defRPr>
            </a:pPr>
            <a:r>
              <a:t>$0.0035/query ($351/mo for 100k queries) unlocking $1.5M/mo in clinician time (4,200x ROI).</a:t>
            </a:r>
          </a:p>
        </p:txBody>
      </p:sp>
      <p:sp>
        <p:nvSpPr>
          <p:cNvPr id="5" name="Rounded Rectangle 4"/>
          <p:cNvSpPr/>
          <p:nvPr/>
        </p:nvSpPr>
        <p:spPr>
          <a:xfrm>
            <a:off x="731520" y="3474720"/>
            <a:ext cx="5212080" cy="118872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182880" tIns="137160"/>
          <a:lstStyle/>
          <a:p>
            <a:pPr algn="ctr">
              <a:defRPr b="1" sz="1300">
                <a:solidFill>
                  <a:srgbClr val="34D399"/>
                </a:solidFill>
              </a:defRPr>
            </a:pPr>
            <a:r>
              <a:t>✓ Nightly Compliance Audits</a:t>
            </a:r>
          </a:p>
          <a:p>
            <a:pPr>
              <a:defRPr sz="1000">
                <a:solidFill>
                  <a:srgbClr val="F8FAFC"/>
                </a:solidFill>
              </a:defRPr>
            </a:pPr>
            <a:r>
              <a:t>Automated Cloud Scheduler job executing post-hoc validation; commits reports to GCS bucket.</a:t>
            </a:r>
          </a:p>
        </p:txBody>
      </p:sp>
      <p:sp>
        <p:nvSpPr>
          <p:cNvPr id="6" name="Rounded Rectangle 5"/>
          <p:cNvSpPr/>
          <p:nvPr/>
        </p:nvSpPr>
        <p:spPr>
          <a:xfrm>
            <a:off x="6217920" y="3474720"/>
            <a:ext cx="5212080" cy="1188720"/>
          </a:xfrm>
          <a:prstGeom prst="roundRect">
            <a:avLst/>
          </a:prstGeom>
          <a:solidFill>
            <a:srgbClr val="1E293B"/>
          </a:solidFill>
          <a:ln>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lIns="182880" tIns="137160"/>
          <a:lstStyle/>
          <a:p>
            <a:pPr algn="ctr">
              <a:defRPr b="1" sz="1300">
                <a:solidFill>
                  <a:srgbClr val="34D399"/>
                </a:solidFill>
              </a:defRPr>
            </a:pPr>
            <a:r>
              <a:t>✓ Battle-Tested Resilience</a:t>
            </a:r>
          </a:p>
          <a:p>
            <a:pPr>
              <a:defRPr sz="1000">
                <a:solidFill>
                  <a:srgbClr val="F8FAFC"/>
                </a:solidFill>
              </a:defRPr>
            </a:pPr>
            <a:r>
              <a:t>Verified fallback to local vector store on 504 timeouts; 42 passing tests with 0 linter errors.</a:t>
            </a:r>
          </a:p>
        </p:txBody>
      </p:sp>
      <p:sp>
        <p:nvSpPr>
          <p:cNvPr id="7" name="Rounded Rectangle 6"/>
          <p:cNvSpPr/>
          <p:nvPr/>
        </p:nvSpPr>
        <p:spPr>
          <a:xfrm>
            <a:off x="731520" y="4846320"/>
            <a:ext cx="10698480" cy="137160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274320" tIns="137160"/>
          <a:lstStyle/>
          <a:p>
            <a:pPr algn="ctr">
              <a:defRPr b="1" sz="1100">
                <a:solidFill>
                  <a:srgbClr val="5EEAD4"/>
                </a:solidFill>
              </a:defRPr>
            </a:pPr>
            <a:r>
              <a:t>PRODUCTION DEPLOYMENT &amp; REFERENCE ARTIFACTS</a:t>
            </a:r>
          </a:p>
          <a:p>
            <a:pPr>
              <a:defRPr sz="1000">
                <a:solidFill>
                  <a:srgbClr val="F8FAFC"/>
                </a:solidFill>
              </a:defRPr>
            </a:pPr>
            <a:r>
              <a:t>• Live Cloud Run Service: https://medquad-backend-dhwfxdn3vq-uc.a.run.app</a:t>
            </a:r>
            <a:br/>
            <a:r>
              <a:t>• Interactive OpenAPI 3.1 Specs: https://medquad-backend-dhwfxdn3vq-uc.a.run.app/docs</a:t>
            </a:r>
            <a:br/>
            <a:r>
              <a:t>• Master Defense Guide: docs/panel_defense_master_guide.md  |  Repository: git@github.com:asadpatel-work/asadpatel-medquad.git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